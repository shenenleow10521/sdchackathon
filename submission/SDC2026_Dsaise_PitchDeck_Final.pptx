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2-2.jpg" ContentType="image/jpg"/>
  <Override PartName="/ppt/media/image-2-3.jpg" ContentType="image/jpg"/>
  <Override PartName="/ppt/media/image-2-4.jpg" ContentType="image/jpg"/>
  <Override PartName="/ppt/media/image-2-5.jpg" ContentType="image/jpg"/>
  <Override PartName="/ppt/media/image-2-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3edb954-c0fa-8612-6bf3-ed0e2719642f}">
          <p14:sldIdLst>
            <p14:sldId id="256"/>
            <p14:sldId id="257"/>
          </p14:sldIdLst>
        </p14:section>
        <p14:section name="Problem and product" id="{69d3424c-ccf8-832f-1e71-26c34c7981da}">
          <p14:sldIdLst>
            <p14:sldId id="258"/>
            <p14:sldId id="259"/>
            <p14:sldId id="260"/>
          </p14:sldIdLst>
        </p14:section>
        <p14:section name="How it works" id="{5230fee8-88a3-a32e-3255-a9bab5873c06}">
          <p14:sldIdLst>
            <p14:sldId id="261"/>
            <p14:sldId id="262"/>
            <p14:sldId id="263"/>
            <p14:sldId id="264"/>
          </p14:sldIdLst>
        </p14:section>
        <p14:section name="Business" id="{f8fb9342-974f-7a9c-7465-e276f73418b0}">
          <p14:sldIdLst>
            <p14:sldId id="265"/>
            <p14:sldId id="266"/>
            <p14:sldId id="267"/>
            <p14:sldId id="268"/>
          </p14:sldIdLst>
        </p14:section>
        <p14:section name="Close" id="{14e30ec8-019a-d186-a71a-63ac01f4e2e1}">
          <p14:sldIdLst>
            <p14:sldId id="269"/>
          </p14:sldIdLst>
        </p14:section>
        <p14:section name="Appendix" id="{412b3a61-ae5a-79d2-4907-23ffcd5764ab}">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Agreement</c:v>
                </c:pt>
              </c:strCache>
            </c:strRef>
          </c:tx>
          <c:spPr>
            <a:solidFill>
              <a:srgbClr val="FF7A3D"/>
            </a:solidFill>
            <a:effectLst/>
          </c:spPr>
          <c:invertIfNegative val="0"/>
          <c:dLbls>
            <c:numFmt formatCode="0.000" sourceLinked="0"/>
            <c:txPr>
              <a:bodyPr/>
              <a:lstStyle/>
              <a:p>
                <a:pPr>
                  <a:defRPr b="0" i="0" strike="noStrike" sz="1200" u="none">
                    <a:solidFill>
                      <a:srgbClr val="EEF2F8"/>
                    </a:solidFill>
                    <a:latin typeface="+mn-lt"/>
                  </a:defRPr>
                </a:pPr>
              </a:p>
            </c:txPr>
            <c:showLegendKey val="0"/>
            <c:showVal val="1"/>
            <c:showCatName val="0"/>
            <c:showSerName val="0"/>
            <c:showPercent val="0"/>
            <c:showBubbleSize val="0"/>
            <c:showLeaderLines val="0"/>
          </c:dLbls>
          <c:dPt>
            <c:idx val="0"/>
            <c:invertIfNegative val="0"/>
            <c:bubble3D val="0"/>
            <c:spPr>
              <a:solidFill>
                <a:srgbClr val="FF7A3D"/>
              </a:solidFill>
              <a:effectLst/>
            </c:spPr>
          </c:dPt>
          <c:dPt>
            <c:idx val="1"/>
            <c:invertIfNegative val="0"/>
            <c:bubble3D val="0"/>
            <c:spPr>
              <a:solidFill>
                <a:srgbClr val="5D6B85"/>
              </a:solidFill>
              <a:effectLst/>
            </c:spPr>
          </c:dPt>
          <c:dPt>
            <c:idx val="2"/>
            <c:invertIfNegative val="0"/>
            <c:bubble3D val="0"/>
            <c:spPr>
              <a:solidFill>
                <a:srgbClr val="5D6B85"/>
              </a:solidFill>
              <a:effectLst/>
            </c:spPr>
          </c:dPt>
          <c:cat>
            <c:multiLvlStrRef>
              <c:f>Sheet1!$A$2:$A$4</c:f>
              <c:multiLvlStrCache>
                <c:ptCount val="3"/>
                <c:lvl>
                  <c:pt idx="0">
                    <c:v>HalaTuju model</c:v>
                  </c:pt>
                  <c:pt idx="1">
                    <c:v>Simple shortcut</c:v>
                  </c:pt>
                  <c:pt idx="2">
                    <c:v>GPT-4’s own ratings</c:v>
                  </c:pt>
                </c:lvl>
              </c:multiLvlStrCache>
            </c:multiLvlStrRef>
          </c:cat>
          <c:val>
            <c:numRef>
              <c:f>Sheet1!$B$2:$B$4</c:f>
              <c:numCache>
                <c:formatCode>General</c:formatCode>
                <c:ptCount val="3"/>
                <c:pt idx="0">
                  <c:v>0.919</c:v>
                </c:pt>
                <c:pt idx="1">
                  <c:v>0.88</c:v>
                </c:pt>
                <c:pt idx="2">
                  <c:v>0.853</c:v>
                </c:pt>
              </c:numCache>
            </c:numRef>
          </c:val>
        </c:ser>
        <c:dLbls>
          <c:numFmt formatCode="0.000" sourceLinked="0"/>
          <c:txPr>
            <a:bodyPr/>
            <a:lstStyle/>
            <a:p>
              <a:pPr>
                <a:defRPr b="0" i="0" strike="noStrike" sz="1200" u="none">
                  <a:solidFill>
                    <a:srgbClr val="EEF2F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D6DDED"/>
                </a:solidFill>
                <a:latin typeface="+mn-lt"/>
              </a:defRPr>
            </a:pPr>
            <a:endParaRPr lang="en-US"/>
          </a:p>
        </c:txPr>
        <c:crossAx val="2094734552"/>
        <c:crosses val="autoZero"/>
        <c:auto val="1"/>
        <c:lblAlgn val="ctr"/>
        <c:noMultiLvlLbl val="1"/>
      </c:catAx>
      <c:valAx>
        <c:axId val="2094734552"/>
        <c:scaling>
          <c:orientation val="minMax"/>
          <c:max val="0.95"/>
          <c:min val="0.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1 in 10 low</c:v>
                </c:pt>
              </c:strCache>
            </c:strRef>
          </c:tx>
          <c:spPr>
            <a:solidFill>
              <a:srgbClr val="5AA0F0"/>
            </a:solidFill>
            <a:ln w="12700" cap="flat">
              <a:solidFill>
                <a:srgbClr val="5AA0F0"/>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A0F0"/>
              </a:solidFill>
              <a:ln w="9525" cap="flat">
                <a:solidFill>
                  <a:srgbClr val="5AA0F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Sheet1!$B$2:$B$37</c:f>
              <c:numCache>
                <c:formatCode>General</c:formatCode>
                <c:ptCount val="36"/>
                <c:pt idx="0">
                  <c:v>-30624</c:v>
                </c:pt>
                <c:pt idx="1">
                  <c:v>-28338</c:v>
                </c:pt>
                <c:pt idx="2">
                  <c:v>-26444</c:v>
                </c:pt>
                <c:pt idx="3">
                  <c:v>-24836</c:v>
                </c:pt>
                <c:pt idx="4">
                  <c:v>-24253</c:v>
                </c:pt>
                <c:pt idx="5">
                  <c:v>-23985</c:v>
                </c:pt>
                <c:pt idx="6">
                  <c:v>-22425</c:v>
                </c:pt>
                <c:pt idx="7">
                  <c:v>-20533</c:v>
                </c:pt>
                <c:pt idx="8">
                  <c:v>-18327</c:v>
                </c:pt>
                <c:pt idx="9">
                  <c:v>-16103</c:v>
                </c:pt>
                <c:pt idx="10">
                  <c:v>-13583</c:v>
                </c:pt>
                <c:pt idx="11">
                  <c:v>-10911</c:v>
                </c:pt>
                <c:pt idx="12">
                  <c:v>302</c:v>
                </c:pt>
                <c:pt idx="13">
                  <c:v>3343</c:v>
                </c:pt>
                <c:pt idx="14">
                  <c:v>5580</c:v>
                </c:pt>
                <c:pt idx="15">
                  <c:v>8017</c:v>
                </c:pt>
                <c:pt idx="16">
                  <c:v>10385</c:v>
                </c:pt>
                <c:pt idx="17">
                  <c:v>13412</c:v>
                </c:pt>
                <c:pt idx="18">
                  <c:v>15805</c:v>
                </c:pt>
                <c:pt idx="19">
                  <c:v>18088</c:v>
                </c:pt>
                <c:pt idx="20">
                  <c:v>20714</c:v>
                </c:pt>
                <c:pt idx="21">
                  <c:v>23173</c:v>
                </c:pt>
                <c:pt idx="22">
                  <c:v>25684</c:v>
                </c:pt>
                <c:pt idx="23">
                  <c:v>27676</c:v>
                </c:pt>
                <c:pt idx="24">
                  <c:v>30256</c:v>
                </c:pt>
                <c:pt idx="25">
                  <c:v>32102</c:v>
                </c:pt>
                <c:pt idx="26">
                  <c:v>34888</c:v>
                </c:pt>
                <c:pt idx="27">
                  <c:v>37518</c:v>
                </c:pt>
                <c:pt idx="28">
                  <c:v>39447</c:v>
                </c:pt>
                <c:pt idx="29">
                  <c:v>41044</c:v>
                </c:pt>
                <c:pt idx="30">
                  <c:v>43282</c:v>
                </c:pt>
                <c:pt idx="31">
                  <c:v>45429</c:v>
                </c:pt>
                <c:pt idx="32">
                  <c:v>47310</c:v>
                </c:pt>
                <c:pt idx="33">
                  <c:v>49109</c:v>
                </c:pt>
                <c:pt idx="34">
                  <c:v>50860</c:v>
                </c:pt>
                <c:pt idx="35">
                  <c:v>52466</c:v>
                </c:pt>
              </c:numCache>
            </c:numRef>
          </c:val>
          <c:smooth val="0"/>
        </c:ser>
        <c:ser>
          <c:idx val="1"/>
          <c:order val="1"/>
          <c:tx>
            <c:strRef>
              <c:f>Sheet1!$C$1</c:f>
              <c:strCache>
                <c:ptCount val="1"/>
                <c:pt idx="0">
                  <c:v>1 in 10 high</c:v>
                </c:pt>
              </c:strCache>
            </c:strRef>
          </c:tx>
          <c:spPr>
            <a:solidFill>
              <a:srgbClr val="5AA0F0"/>
            </a:solidFill>
            <a:ln w="12700" cap="flat">
              <a:solidFill>
                <a:srgbClr val="5AA0F0"/>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A0F0"/>
              </a:solidFill>
              <a:ln w="9525" cap="flat">
                <a:solidFill>
                  <a:srgbClr val="5AA0F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Sheet1!$C$2:$C$37</c:f>
              <c:numCache>
                <c:formatCode>General</c:formatCode>
                <c:ptCount val="36"/>
                <c:pt idx="0">
                  <c:v>-23172</c:v>
                </c:pt>
                <c:pt idx="1">
                  <c:v>-19687</c:v>
                </c:pt>
                <c:pt idx="2">
                  <c:v>-16063</c:v>
                </c:pt>
                <c:pt idx="3">
                  <c:v>-12417</c:v>
                </c:pt>
                <c:pt idx="4">
                  <c:v>-10228</c:v>
                </c:pt>
                <c:pt idx="5">
                  <c:v>-7651</c:v>
                </c:pt>
                <c:pt idx="6">
                  <c:v>5037</c:v>
                </c:pt>
                <c:pt idx="7">
                  <c:v>16139</c:v>
                </c:pt>
                <c:pt idx="8">
                  <c:v>25919</c:v>
                </c:pt>
                <c:pt idx="9">
                  <c:v>35183</c:v>
                </c:pt>
                <c:pt idx="10">
                  <c:v>43186</c:v>
                </c:pt>
                <c:pt idx="11">
                  <c:v>49587</c:v>
                </c:pt>
                <c:pt idx="12">
                  <c:v>68913</c:v>
                </c:pt>
                <c:pt idx="13">
                  <c:v>74145</c:v>
                </c:pt>
                <c:pt idx="14">
                  <c:v>78814</c:v>
                </c:pt>
                <c:pt idx="15">
                  <c:v>84078</c:v>
                </c:pt>
                <c:pt idx="16">
                  <c:v>90694</c:v>
                </c:pt>
                <c:pt idx="17">
                  <c:v>97831</c:v>
                </c:pt>
                <c:pt idx="18">
                  <c:v>105998</c:v>
                </c:pt>
                <c:pt idx="19">
                  <c:v>114024</c:v>
                </c:pt>
                <c:pt idx="20">
                  <c:v>120369</c:v>
                </c:pt>
                <c:pt idx="21">
                  <c:v>127155</c:v>
                </c:pt>
                <c:pt idx="22">
                  <c:v>134034</c:v>
                </c:pt>
                <c:pt idx="23">
                  <c:v>140495</c:v>
                </c:pt>
                <c:pt idx="24">
                  <c:v>147702</c:v>
                </c:pt>
                <c:pt idx="25">
                  <c:v>154198</c:v>
                </c:pt>
                <c:pt idx="26">
                  <c:v>160575</c:v>
                </c:pt>
                <c:pt idx="27">
                  <c:v>167789</c:v>
                </c:pt>
                <c:pt idx="28">
                  <c:v>172151</c:v>
                </c:pt>
                <c:pt idx="29">
                  <c:v>177034</c:v>
                </c:pt>
                <c:pt idx="30">
                  <c:v>184489</c:v>
                </c:pt>
                <c:pt idx="31">
                  <c:v>189837</c:v>
                </c:pt>
                <c:pt idx="32">
                  <c:v>195770</c:v>
                </c:pt>
                <c:pt idx="33">
                  <c:v>200638</c:v>
                </c:pt>
                <c:pt idx="34">
                  <c:v>206553</c:v>
                </c:pt>
                <c:pt idx="35">
                  <c:v>210997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1 in 4 low</c:v>
                </c:pt>
              </c:strCache>
            </c:strRef>
          </c:tx>
          <c:spPr>
            <a:solidFill>
              <a:srgbClr val="2FD4A0"/>
            </a:solidFill>
            <a:ln w="19050" cap="flat">
              <a:solidFill>
                <a:srgbClr val="2FD4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D4A0"/>
              </a:solidFill>
              <a:ln w="9525" cap="flat">
                <a:solidFill>
                  <a:srgbClr val="2FD4A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Sheet1!$D$2:$D$37</c:f>
              <c:numCache>
                <c:formatCode>General</c:formatCode>
                <c:ptCount val="36"/>
                <c:pt idx="0">
                  <c:v>-28552</c:v>
                </c:pt>
                <c:pt idx="1">
                  <c:v>-26039</c:v>
                </c:pt>
                <c:pt idx="2">
                  <c:v>-23936</c:v>
                </c:pt>
                <c:pt idx="3">
                  <c:v>-22054</c:v>
                </c:pt>
                <c:pt idx="4">
                  <c:v>-21308</c:v>
                </c:pt>
                <c:pt idx="5">
                  <c:v>-20748</c:v>
                </c:pt>
                <c:pt idx="6">
                  <c:v>-18384</c:v>
                </c:pt>
                <c:pt idx="7">
                  <c:v>-15253</c:v>
                </c:pt>
                <c:pt idx="8">
                  <c:v>-11825</c:v>
                </c:pt>
                <c:pt idx="9">
                  <c:v>-8119</c:v>
                </c:pt>
                <c:pt idx="10">
                  <c:v>-4506</c:v>
                </c:pt>
                <c:pt idx="11">
                  <c:v>-762</c:v>
                </c:pt>
                <c:pt idx="12">
                  <c:v>12554</c:v>
                </c:pt>
                <c:pt idx="13">
                  <c:v>15831</c:v>
                </c:pt>
                <c:pt idx="14">
                  <c:v>19191</c:v>
                </c:pt>
                <c:pt idx="15">
                  <c:v>22792</c:v>
                </c:pt>
                <c:pt idx="16">
                  <c:v>26035</c:v>
                </c:pt>
                <c:pt idx="17">
                  <c:v>29708</c:v>
                </c:pt>
                <c:pt idx="18">
                  <c:v>33245</c:v>
                </c:pt>
                <c:pt idx="19">
                  <c:v>36431</c:v>
                </c:pt>
                <c:pt idx="20">
                  <c:v>39809</c:v>
                </c:pt>
                <c:pt idx="21">
                  <c:v>43036</c:v>
                </c:pt>
                <c:pt idx="22">
                  <c:v>45773</c:v>
                </c:pt>
                <c:pt idx="23">
                  <c:v>48522</c:v>
                </c:pt>
                <c:pt idx="24">
                  <c:v>51294</c:v>
                </c:pt>
                <c:pt idx="25">
                  <c:v>53894</c:v>
                </c:pt>
                <c:pt idx="26">
                  <c:v>55937</c:v>
                </c:pt>
                <c:pt idx="27">
                  <c:v>58051</c:v>
                </c:pt>
                <c:pt idx="28">
                  <c:v>59868</c:v>
                </c:pt>
                <c:pt idx="29">
                  <c:v>62037</c:v>
                </c:pt>
                <c:pt idx="30">
                  <c:v>63055</c:v>
                </c:pt>
                <c:pt idx="31">
                  <c:v>64691</c:v>
                </c:pt>
                <c:pt idx="32">
                  <c:v>66230</c:v>
                </c:pt>
                <c:pt idx="33">
                  <c:v>68054</c:v>
                </c:pt>
                <c:pt idx="34">
                  <c:v>69543</c:v>
                </c:pt>
                <c:pt idx="35">
                  <c:v>70833</c:v>
                </c:pt>
              </c:numCache>
            </c:numRef>
          </c:val>
          <c:smooth val="0"/>
        </c:ser>
        <c:ser>
          <c:idx val="3"/>
          <c:order val="3"/>
          <c:tx>
            <c:strRef>
              <c:f>Sheet1!$E$1</c:f>
              <c:strCache>
                <c:ptCount val="1"/>
                <c:pt idx="0">
                  <c:v>1 in 4 high</c:v>
                </c:pt>
              </c:strCache>
            </c:strRef>
          </c:tx>
          <c:spPr>
            <a:solidFill>
              <a:srgbClr val="2FD4A0"/>
            </a:solidFill>
            <a:ln w="19050" cap="flat">
              <a:solidFill>
                <a:srgbClr val="2FD4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D4A0"/>
              </a:solidFill>
              <a:ln w="9525" cap="flat">
                <a:solidFill>
                  <a:srgbClr val="2FD4A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Sheet1!$E$2:$E$37</c:f>
              <c:numCache>
                <c:formatCode>General</c:formatCode>
                <c:ptCount val="36"/>
                <c:pt idx="0">
                  <c:v>-24417</c:v>
                </c:pt>
                <c:pt idx="1">
                  <c:v>-21493</c:v>
                </c:pt>
                <c:pt idx="2">
                  <c:v>-18596</c:v>
                </c:pt>
                <c:pt idx="3">
                  <c:v>-15591</c:v>
                </c:pt>
                <c:pt idx="4">
                  <c:v>-13997</c:v>
                </c:pt>
                <c:pt idx="5">
                  <c:v>-12280</c:v>
                </c:pt>
                <c:pt idx="6">
                  <c:v>-4246</c:v>
                </c:pt>
                <c:pt idx="7">
                  <c:v>3688</c:v>
                </c:pt>
                <c:pt idx="8">
                  <c:v>11153</c:v>
                </c:pt>
                <c:pt idx="9">
                  <c:v>18980</c:v>
                </c:pt>
                <c:pt idx="10">
                  <c:v>25934</c:v>
                </c:pt>
                <c:pt idx="11">
                  <c:v>32870</c:v>
                </c:pt>
                <c:pt idx="12">
                  <c:v>51771</c:v>
                </c:pt>
                <c:pt idx="13">
                  <c:v>56978</c:v>
                </c:pt>
                <c:pt idx="14">
                  <c:v>61938</c:v>
                </c:pt>
                <c:pt idx="15">
                  <c:v>65831</c:v>
                </c:pt>
                <c:pt idx="16">
                  <c:v>69412</c:v>
                </c:pt>
                <c:pt idx="17">
                  <c:v>72931</c:v>
                </c:pt>
                <c:pt idx="18">
                  <c:v>76313</c:v>
                </c:pt>
                <c:pt idx="19">
                  <c:v>80687</c:v>
                </c:pt>
                <c:pt idx="20">
                  <c:v>84415</c:v>
                </c:pt>
                <c:pt idx="21">
                  <c:v>89616</c:v>
                </c:pt>
                <c:pt idx="22">
                  <c:v>95878</c:v>
                </c:pt>
                <c:pt idx="23">
                  <c:v>101511</c:v>
                </c:pt>
                <c:pt idx="24">
                  <c:v>106938</c:v>
                </c:pt>
                <c:pt idx="25">
                  <c:v>112414</c:v>
                </c:pt>
                <c:pt idx="26">
                  <c:v>116664</c:v>
                </c:pt>
                <c:pt idx="27">
                  <c:v>121828</c:v>
                </c:pt>
                <c:pt idx="28">
                  <c:v>127115</c:v>
                </c:pt>
                <c:pt idx="29">
                  <c:v>132601</c:v>
                </c:pt>
                <c:pt idx="30">
                  <c:v>136970</c:v>
                </c:pt>
                <c:pt idx="31">
                  <c:v>141575</c:v>
                </c:pt>
                <c:pt idx="32">
                  <c:v>145564</c:v>
                </c:pt>
                <c:pt idx="33">
                  <c:v>150507</c:v>
                </c:pt>
                <c:pt idx="34">
                  <c:v>154822</c:v>
                </c:pt>
                <c:pt idx="35">
                  <c:v>159431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4"/>
          <c:order val="4"/>
          <c:tx>
            <c:strRef>
              <c:f>Sheet1!$F$1</c:f>
              <c:strCache>
                <c:ptCount val="1"/>
                <c:pt idx="0">
                  <c:v>Median</c:v>
                </c:pt>
              </c:strCache>
            </c:strRef>
          </c:tx>
          <c:spPr>
            <a:solidFill>
              <a:srgbClr val="FF7A3D"/>
            </a:solidFill>
            <a:ln w="44450" cap="flat">
              <a:solidFill>
                <a:srgbClr val="FF7A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7A3D"/>
              </a:solidFill>
              <a:ln w="9525" cap="flat">
                <a:solidFill>
                  <a:srgbClr val="FF7A3D"/>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Sheet1!$F$2:$F$37</c:f>
              <c:numCache>
                <c:formatCode>General</c:formatCode>
                <c:ptCount val="36"/>
                <c:pt idx="0">
                  <c:v>-26241</c:v>
                </c:pt>
                <c:pt idx="1">
                  <c:v>-23632</c:v>
                </c:pt>
                <c:pt idx="2">
                  <c:v>-21250</c:v>
                </c:pt>
                <c:pt idx="3">
                  <c:v>-18888</c:v>
                </c:pt>
                <c:pt idx="4">
                  <c:v>-17789</c:v>
                </c:pt>
                <c:pt idx="5">
                  <c:v>-16894</c:v>
                </c:pt>
                <c:pt idx="6">
                  <c:v>-12404</c:v>
                </c:pt>
                <c:pt idx="7">
                  <c:v>-7214</c:v>
                </c:pt>
                <c:pt idx="8">
                  <c:v>-1485</c:v>
                </c:pt>
                <c:pt idx="9">
                  <c:v>3463</c:v>
                </c:pt>
                <c:pt idx="10">
                  <c:v>8742</c:v>
                </c:pt>
                <c:pt idx="11">
                  <c:v>13902</c:v>
                </c:pt>
                <c:pt idx="12">
                  <c:v>30119</c:v>
                </c:pt>
                <c:pt idx="13">
                  <c:v>34748</c:v>
                </c:pt>
                <c:pt idx="14">
                  <c:v>39437</c:v>
                </c:pt>
                <c:pt idx="15">
                  <c:v>44625</c:v>
                </c:pt>
                <c:pt idx="16">
                  <c:v>48576</c:v>
                </c:pt>
                <c:pt idx="17">
                  <c:v>52528</c:v>
                </c:pt>
                <c:pt idx="18">
                  <c:v>55915</c:v>
                </c:pt>
                <c:pt idx="19">
                  <c:v>59122</c:v>
                </c:pt>
                <c:pt idx="20">
                  <c:v>62213</c:v>
                </c:pt>
                <c:pt idx="21">
                  <c:v>64928</c:v>
                </c:pt>
                <c:pt idx="22">
                  <c:v>67359</c:v>
                </c:pt>
                <c:pt idx="23">
                  <c:v>69824</c:v>
                </c:pt>
                <c:pt idx="24">
                  <c:v>71819</c:v>
                </c:pt>
                <c:pt idx="25">
                  <c:v>74415</c:v>
                </c:pt>
                <c:pt idx="26">
                  <c:v>77368</c:v>
                </c:pt>
                <c:pt idx="27">
                  <c:v>80003</c:v>
                </c:pt>
                <c:pt idx="28">
                  <c:v>83264</c:v>
                </c:pt>
                <c:pt idx="29">
                  <c:v>86875</c:v>
                </c:pt>
                <c:pt idx="30">
                  <c:v>90202</c:v>
                </c:pt>
                <c:pt idx="31">
                  <c:v>93807</c:v>
                </c:pt>
                <c:pt idx="32">
                  <c:v>97602</c:v>
                </c:pt>
                <c:pt idx="33">
                  <c:v>101246</c:v>
                </c:pt>
                <c:pt idx="34">
                  <c:v>104450</c:v>
                </c:pt>
                <c:pt idx="35">
                  <c:v>107790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AB5C9"/>
                </a:solidFill>
                <a:latin typeface="+mn-lt"/>
              </a:defRPr>
            </a:pPr>
            <a:endParaRPr lang="en-US"/>
          </a:p>
        </c:txPr>
        <c:crossAx val="2094734552"/>
        <c:crosses val="autoZero"/>
        <c:auto val="1"/>
        <c:lblAlgn val="ctr"/>
        <c:noMultiLvlLbl val="1"/>
      </c:catAx>
      <c:valAx>
        <c:axId val="2094734552"/>
        <c:scaling>
          <c:orientation val="minMax"/>
          <c:max val="250000"/>
          <c:min val="-50000"/>
        </c:scaling>
        <c:delete val="0"/>
        <c:axPos val="l"/>
        <c:majorGridlines>
          <c:spPr>
            <a:ln w="6350" cap="flat">
              <a:solidFill>
                <a:srgbClr val="1F2738"/>
              </a:solidFill>
              <a:prstDash val="solid"/>
              <a:round/>
            </a:ln>
          </c:spPr>
        </c:majorGridlines>
        <c:numFmt formatCode="&quot;RM &quot;#,##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AB5C9"/>
                </a:solidFill>
                <a:latin typeface="+mn-lt"/>
              </a:defRPr>
            </a:pPr>
            <a:endParaRPr lang="en-US"/>
          </a:p>
        </c:txPr>
        <c:crossAx val="2094734554"/>
        <c:crosses val="autoZero"/>
        <c:crossBetween val="between"/>
        <c:majorUnit val="50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eam-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2743200" y="566928"/>
            <a:ext cx="8897112" cy="109728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am">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halatuju.replit.app/app"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halatuju.replit.app/app" TargetMode="External"/><Relationship Id="rId2" Type="http://schemas.openxmlformats.org/officeDocument/2006/relationships/hyperlink" Target="https://halatuju.replit.app/app" TargetMode="External"/><Relationship Id="rId3" Type="http://schemas.openxmlformats.org/officeDocument/2006/relationships/hyperlink" Target="https://youtu.be/shITdy-TYSg" TargetMode="External"/><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3.png"/><Relationship Id="rId12" Type="http://schemas.openxmlformats.org/officeDocument/2006/relationships/image" Target="../media/image-9-1.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halatuju.replit.app/app" TargetMode="External"/><Relationship Id="rId2" Type="http://schemas.openxmlformats.org/officeDocument/2006/relationships/hyperlink" Target="https://github.com/shenenleow10521/SdcHackathon" TargetMode="External"/><Relationship Id="rId3" Type="http://schemas.openxmlformats.org/officeDocument/2006/relationships/image" Target="../media/image-14-1.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badge"/>
          <p:cNvSpPr/>
          <p:nvPr/>
        </p:nvSpPr>
        <p:spPr>
          <a:xfrm>
            <a:off x="3584448" y="731520"/>
            <a:ext cx="5029200" cy="347472"/>
          </a:xfrm>
          <a:prstGeom prst="roundRect">
            <a:avLst>
              <a:gd name="adj" fmla="val 47368"/>
            </a:avLst>
          </a:prstGeom>
          <a:solidFill>
            <a:srgbClr val="0E1626">
              <a:alpha val="80000"/>
            </a:srgbClr>
          </a:solidFill>
          <a:ln w="9525">
            <a:solidFill>
              <a:srgbClr val="2A3346"/>
            </a:solidFill>
          </a:ln>
        </p:spPr>
        <p:txBody>
          <a:bodyPr wrap="square" lIns="0" tIns="0" rIns="0" bIns="0" rtlCol="0" anchor="ctr"/>
          <a:lstStyle/>
          <a:p>
            <a:pPr algn="ctr" indent="0" marL="0">
              <a:buNone/>
            </a:pPr>
            <a:r>
              <a:rPr lang="en-US" sz="1100" dirty="0">
                <a:solidFill>
                  <a:schemeClr val="accent4"/>
                </a:solidFill>
              </a:rPr>
              <a:t>●  </a:t>
            </a:r>
            <a:pPr algn="ctr" indent="0" marL="0">
              <a:buNone/>
            </a:pPr>
            <a:r>
              <a:rPr lang="en-US" sz="1100" dirty="0">
                <a:solidFill>
                  <a:schemeClr val="tx1"/>
                </a:solidFill>
              </a:rPr>
              <a:t>SDC Hackathon 2026 Grand Final, Domain 1: Future-Ready Workforce</a:t>
            </a:r>
            <a:endParaRPr lang="en-US" sz="1100" dirty="0"/>
          </a:p>
        </p:txBody>
      </p:sp>
      <p:sp>
        <p:nvSpPr>
          <p:cNvPr id="3" name="Title line 1"/>
          <p:cNvSpPr txBox="1"/>
          <p:nvPr/>
        </p:nvSpPr>
        <p:spPr>
          <a:xfrm>
            <a:off x="1371600" y="1188720"/>
            <a:ext cx="9445752" cy="914400"/>
          </a:xfrm>
          <a:prstGeom prst="rect">
            <a:avLst/>
          </a:prstGeom>
          <a:noFill/>
          <a:ln/>
        </p:spPr>
        <p:txBody>
          <a:bodyPr wrap="square" lIns="0" tIns="0" rIns="0" bIns="0" rtlCol="0" anchor="t"/>
          <a:lstStyle/>
          <a:p>
            <a:pPr algn="ctr" indent="0" marL="0">
              <a:buNone/>
            </a:pPr>
            <a:r>
              <a:rPr lang="en-US" sz="6000" b="1" dirty="0">
                <a:solidFill>
                  <a:schemeClr val="tx1"/>
                </a:solidFill>
              </a:rPr>
              <a:t>A career GPS</a:t>
            </a:r>
            <a:endParaRPr lang="en-US" sz="6000" dirty="0"/>
          </a:p>
        </p:txBody>
      </p:sp>
      <p:sp>
        <p:nvSpPr>
          <p:cNvPr id="4" name="Title line 2"/>
          <p:cNvSpPr txBox="1"/>
          <p:nvPr/>
        </p:nvSpPr>
        <p:spPr>
          <a:xfrm>
            <a:off x="1371600" y="2057400"/>
            <a:ext cx="9445752" cy="914400"/>
          </a:xfrm>
          <a:prstGeom prst="rect">
            <a:avLst/>
          </a:prstGeom>
          <a:noFill/>
          <a:ln/>
        </p:spPr>
        <p:txBody>
          <a:bodyPr wrap="square" lIns="0" tIns="0" rIns="0" bIns="0" rtlCol="0" anchor="t"/>
          <a:lstStyle/>
          <a:p>
            <a:pPr algn="ctr" indent="0" marL="0">
              <a:buNone/>
            </a:pPr>
            <a:r>
              <a:rPr lang="en-US" sz="6000" b="1" dirty="0">
                <a:solidFill>
                  <a:schemeClr val="accent1"/>
                </a:solidFill>
              </a:rPr>
              <a:t>for the AI era.</a:t>
            </a:r>
            <a:endParaRPr lang="en-US" sz="6000" dirty="0"/>
          </a:p>
        </p:txBody>
      </p:sp>
      <p:sp>
        <p:nvSpPr>
          <p:cNvPr id="5" name="Lead"/>
          <p:cNvSpPr txBox="1"/>
          <p:nvPr/>
        </p:nvSpPr>
        <p:spPr>
          <a:xfrm>
            <a:off x="2898648" y="3063240"/>
            <a:ext cx="6400800" cy="914400"/>
          </a:xfrm>
          <a:prstGeom prst="rect">
            <a:avLst/>
          </a:prstGeom>
          <a:noFill/>
          <a:ln/>
        </p:spPr>
        <p:txBody>
          <a:bodyPr wrap="square" lIns="0" tIns="0" rIns="0" bIns="0" rtlCol="0" anchor="t"/>
          <a:lstStyle/>
          <a:p>
            <a:pPr algn="ctr" indent="0" marL="0">
              <a:buNone/>
            </a:pPr>
            <a:r>
              <a:rPr lang="en-US" sz="1500" dirty="0">
                <a:solidFill>
                  <a:schemeClr val="tx2"/>
                </a:solidFill>
              </a:rPr>
              <a:t>HalaTuju shows you which of your skills AI is taking over, what to learn next, and a realistic route to your next job, step by step. When the job market changes, your plan changes with it.</a:t>
            </a:r>
            <a:endParaRPr lang="en-US" sz="1500" dirty="0"/>
          </a:p>
        </p:txBody>
      </p:sp>
      <p:sp>
        <p:nvSpPr>
          <p:cNvPr id="6" name="Button: Open the app  →">
            <a:hlinkClick r:id="rId1" tooltip=""/>
          </p:cNvPr>
          <p:cNvSpPr/>
          <p:nvPr/>
        </p:nvSpPr>
        <p:spPr>
          <a:xfrm>
            <a:off x="4434840" y="4114800"/>
            <a:ext cx="1737360" cy="457200"/>
          </a:xfrm>
          <a:prstGeom prst="roundRect">
            <a:avLst>
              <a:gd name="adj" fmla="val 50000"/>
            </a:avLst>
          </a:prstGeom>
          <a:solidFill>
            <a:srgbClr val="FF7A3D"/>
          </a:solidFill>
          <a:ln w="9525">
            <a:solidFill>
              <a:srgbClr val="FF7A3D"/>
            </a:solidFill>
          </a:ln>
        </p:spPr>
        <p:txBody>
          <a:bodyPr wrap="square" lIns="0" tIns="0" rIns="0" bIns="0" rtlCol="0" anchor="ctr"/>
          <a:lstStyle/>
          <a:p>
            <a:pPr algn="ctr" indent="0" marL="0">
              <a:buNone/>
            </a:pPr>
            <a:r>
              <a:rPr lang="en-US" sz="1300" b="1" dirty="0">
                <a:solidFill>
                  <a:srgbClr val="FFFFFF"/>
                </a:solidFill>
              </a:rPr>
              <a:t>Open the app  →</a:t>
            </a:r>
            <a:endParaRPr lang="en-US" sz="1300" dirty="0"/>
          </a:p>
        </p:txBody>
      </p:sp>
      <p:sp>
        <p:nvSpPr>
          <p:cNvPr id="7" name="Button: Meet the team"/>
          <p:cNvSpPr/>
          <p:nvPr/>
        </p:nvSpPr>
        <p:spPr>
          <a:xfrm>
            <a:off x="6355080" y="4114800"/>
            <a:ext cx="1554480" cy="457200"/>
          </a:xfrm>
          <a:prstGeom prst="roundRect">
            <a:avLst>
              <a:gd name="adj" fmla="val 50000"/>
            </a:avLst>
          </a:prstGeom>
          <a:solidFill>
            <a:srgbClr val="0C1220">
              <a:alpha val="70000"/>
            </a:srgbClr>
          </a:solidFill>
          <a:ln w="9525">
            <a:solidFill>
              <a:srgbClr val="2A3346"/>
            </a:solidFill>
          </a:ln>
        </p:spPr>
        <p:txBody>
          <a:bodyPr wrap="square" lIns="0" tIns="0" rIns="0" bIns="0" rtlCol="0" anchor="ctr"/>
          <a:lstStyle/>
          <a:p>
            <a:pPr algn="ctr" indent="0" marL="0">
              <a:buNone/>
            </a:pPr>
            <a:r>
              <a:rPr lang="en-US" sz="1300" b="1" dirty="0">
                <a:solidFill>
                  <a:schemeClr val="tx1"/>
                </a:solidFill>
              </a:rPr>
              <a:t>Meet the team</a:t>
            </a:r>
            <a:endParaRPr lang="en-US" sz="1300" dirty="0"/>
          </a:p>
        </p:txBody>
      </p:sp>
      <p:sp>
        <p:nvSpPr>
          <p:cNvPr id="8" name="Footnote"/>
          <p:cNvSpPr txBox="1"/>
          <p:nvPr/>
        </p:nvSpPr>
        <p:spPr>
          <a:xfrm>
            <a:off x="2286000" y="4754880"/>
            <a:ext cx="7616952" cy="320040"/>
          </a:xfrm>
          <a:prstGeom prst="rect">
            <a:avLst/>
          </a:prstGeom>
          <a:noFill/>
          <a:ln/>
        </p:spPr>
        <p:txBody>
          <a:bodyPr wrap="square" lIns="0" tIns="0" rIns="0" bIns="0" rtlCol="0" anchor="t"/>
          <a:lstStyle/>
          <a:p>
            <a:pPr algn="ctr" indent="0" marL="0">
              <a:buNone/>
            </a:pPr>
            <a:r>
              <a:rPr lang="en-US" sz="1100" dirty="0">
                <a:solidFill>
                  <a:schemeClr val="bg2"/>
                </a:solidFill>
              </a:rPr>
              <a:t>Team Dsaise, Universiti Malaya. HalaTuju means “direction” in Malay. Our demo follows Priya, an example worker.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UM crest" descr="Universiti Malaya crest">    </p:cNvPr>
          <p:cNvPicPr>
            <a:picLocks noChangeAspect="1"/>
          </p:cNvPicPr>
          <p:nvPr/>
        </p:nvPicPr>
        <p:blipFill>
          <a:blip r:embed="rId1"/>
          <a:stretch>
            <a:fillRect/>
          </a:stretch>
        </p:blipFill>
        <p:spPr>
          <a:xfrm>
            <a:off x="5870448" y="320040"/>
            <a:ext cx="448056" cy="548640"/>
          </a:xfrm>
          <a:prstGeom prst="rect">
            <a:avLst/>
          </a:prstGeom>
        </p:spPr>
      </p:pic>
      <p:sp>
        <p:nvSpPr>
          <p:cNvPr id="3" name="Kicker"/>
          <p:cNvSpPr txBox="1"/>
          <p:nvPr/>
        </p:nvSpPr>
        <p:spPr>
          <a:xfrm>
            <a:off x="2441448" y="987552"/>
            <a:ext cx="7315200" cy="274320"/>
          </a:xfrm>
          <a:prstGeom prst="rect">
            <a:avLst/>
          </a:prstGeom>
          <a:noFill/>
          <a:ln/>
        </p:spPr>
        <p:txBody>
          <a:bodyPr wrap="square" lIns="0" tIns="0" rIns="0" bIns="0" rtlCol="0" anchor="t"/>
          <a:lstStyle/>
          <a:p>
            <a:pPr algn="ctr" indent="0" marL="0">
              <a:buNone/>
            </a:pPr>
            <a:r>
              <a:rPr lang="en-US" sz="1200" b="1" dirty="0">
                <a:solidFill>
                  <a:schemeClr val="accent5"/>
                </a:solidFill>
              </a:rPr>
              <a:t>Universiti Malaya, SDC Hackathon 2026 finalists</a:t>
            </a:r>
            <a:endParaRPr lang="en-US" sz="1200" dirty="0"/>
          </a:p>
        </p:txBody>
      </p:sp>
      <p:sp>
        <p:nvSpPr>
          <p:cNvPr id="4" name="Team"/>
          <p:cNvSpPr txBox="1"/>
          <p:nvPr/>
        </p:nvSpPr>
        <p:spPr>
          <a:xfrm>
            <a:off x="2441448" y="1261872"/>
            <a:ext cx="7315200" cy="457200"/>
          </a:xfrm>
          <a:prstGeom prst="rect">
            <a:avLst/>
          </a:prstGeom>
          <a:noFill/>
          <a:ln/>
        </p:spPr>
        <p:txBody>
          <a:bodyPr wrap="square" lIns="0" tIns="0" rIns="0" bIns="0" rtlCol="0" anchor="t"/>
          <a:lstStyle/>
          <a:p>
            <a:pPr algn="ctr" indent="0" marL="0">
              <a:buNone/>
            </a:pPr>
            <a:r>
              <a:rPr lang="en-US" sz="2800" b="1" dirty="0">
                <a:solidFill>
                  <a:schemeClr val="tx1"/>
                </a:solidFill>
              </a:rPr>
              <a:t>Team</a:t>
            </a:r>
            <a:endParaRPr lang="en-US" sz="2800" dirty="0"/>
          </a:p>
        </p:txBody>
      </p:sp>
      <p:sp>
        <p:nvSpPr>
          <p:cNvPr id="5" name="Team name"/>
          <p:cNvSpPr txBox="1"/>
          <p:nvPr/>
        </p:nvSpPr>
        <p:spPr>
          <a:xfrm>
            <a:off x="2441448" y="1664208"/>
            <a:ext cx="7315200" cy="777240"/>
          </a:xfrm>
          <a:prstGeom prst="rect">
            <a:avLst/>
          </a:prstGeom>
          <a:noFill/>
          <a:ln/>
        </p:spPr>
        <p:txBody>
          <a:bodyPr wrap="square" lIns="0" tIns="0" rIns="0" bIns="0" rtlCol="0" anchor="t"/>
          <a:lstStyle/>
          <a:p>
            <a:pPr algn="ctr" indent="0" marL="0">
              <a:buNone/>
            </a:pPr>
            <a:r>
              <a:rPr lang="en-US" sz="5400" b="1" spc="400" kern="0" dirty="0">
                <a:solidFill>
                  <a:schemeClr val="accent2"/>
                </a:solidFill>
              </a:rPr>
              <a:t>DSAISE</a:t>
            </a:r>
            <a:endParaRPr lang="en-US" sz="5400" dirty="0"/>
          </a:p>
        </p:txBody>
      </p:sp>
      <p:sp>
        <p:nvSpPr>
          <p:cNvPr id="6" name="Team line"/>
          <p:cNvSpPr txBox="1"/>
          <p:nvPr/>
        </p:nvSpPr>
        <p:spPr>
          <a:xfrm>
            <a:off x="2441448" y="2487168"/>
            <a:ext cx="7315200" cy="320040"/>
          </a:xfrm>
          <a:prstGeom prst="rect">
            <a:avLst/>
          </a:prstGeom>
          <a:noFill/>
          <a:ln/>
        </p:spPr>
        <p:txBody>
          <a:bodyPr wrap="square" lIns="0" tIns="0" rIns="0" bIns="0" rtlCol="0" anchor="t"/>
          <a:lstStyle/>
          <a:p>
            <a:pPr algn="ctr" indent="0" marL="0">
              <a:buNone/>
            </a:pPr>
            <a:r>
              <a:rPr lang="en-US" sz="1300" dirty="0">
                <a:solidFill>
                  <a:schemeClr val="tx2"/>
                </a:solidFill>
              </a:rPr>
              <a:t>Five students from Universiti Malaya, Faculty of Computer Science and Information Technology.</a:t>
            </a:r>
            <a:endParaRPr lang="en-US" sz="1300" dirty="0"/>
          </a:p>
        </p:txBody>
      </p:sp>
      <p:sp>
        <p:nvSpPr>
          <p:cNvPr id="7" name="Card: Leow Shen En"/>
          <p:cNvSpPr/>
          <p:nvPr/>
        </p:nvSpPr>
        <p:spPr>
          <a:xfrm>
            <a:off x="896112" y="3017520"/>
            <a:ext cx="1920240" cy="3200400"/>
          </a:xfrm>
          <a:prstGeom prst="roundRect">
            <a:avLst>
              <a:gd name="adj" fmla="val 5714"/>
            </a:avLst>
          </a:prstGeom>
          <a:solidFill>
            <a:srgbClr val="0C1220">
              <a:alpha val="90000"/>
            </a:srgbClr>
          </a:solidFill>
          <a:ln w="9525">
            <a:solidFill>
              <a:srgbClr val="2A3346"/>
            </a:solidFill>
            <a:prstDash val="solid"/>
          </a:ln>
        </p:spPr>
        <p:txBody>
          <a:bodyPr/>
          <a:p/>
        </p:txBody>
      </p:sp>
      <p:pic>
        <p:nvPicPr>
          <p:cNvPr id="8" name="Photo: Leow Shen En" descr="Photo of Leow Shen En">    </p:cNvPr>
          <p:cNvPicPr>
            <a:picLocks noChangeAspect="1"/>
          </p:cNvPicPr>
          <p:nvPr/>
        </p:nvPicPr>
        <p:blipFill>
          <a:blip r:embed="rId2"/>
          <a:stretch>
            <a:fillRect/>
          </a:stretch>
        </p:blipFill>
        <p:spPr>
          <a:xfrm>
            <a:off x="987552" y="3108960"/>
            <a:ext cx="1737360" cy="2171700"/>
          </a:xfrm>
          <a:prstGeom prst="rect">
            <a:avLst/>
          </a:prstGeom>
        </p:spPr>
      </p:pic>
      <p:sp>
        <p:nvSpPr>
          <p:cNvPr id="9" name="Name"/>
          <p:cNvSpPr txBox="1"/>
          <p:nvPr/>
        </p:nvSpPr>
        <p:spPr>
          <a:xfrm>
            <a:off x="1033272"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Leow Shen En</a:t>
            </a:r>
            <a:endParaRPr lang="en-US" sz="1300" dirty="0"/>
          </a:p>
        </p:txBody>
      </p:sp>
      <p:sp>
        <p:nvSpPr>
          <p:cNvPr id="10" name="Role"/>
          <p:cNvSpPr txBox="1"/>
          <p:nvPr/>
        </p:nvSpPr>
        <p:spPr>
          <a:xfrm>
            <a:off x="1033272"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Team leader</a:t>
            </a:r>
            <a:endParaRPr lang="en-US" sz="1100" dirty="0"/>
          </a:p>
        </p:txBody>
      </p:sp>
      <p:sp>
        <p:nvSpPr>
          <p:cNvPr id="11" name="Card: Choong Zhuo Lin"/>
          <p:cNvSpPr/>
          <p:nvPr/>
        </p:nvSpPr>
        <p:spPr>
          <a:xfrm>
            <a:off x="3017520" y="3017520"/>
            <a:ext cx="1920240" cy="3200400"/>
          </a:xfrm>
          <a:prstGeom prst="roundRect">
            <a:avLst>
              <a:gd name="adj" fmla="val 5714"/>
            </a:avLst>
          </a:prstGeom>
          <a:solidFill>
            <a:srgbClr val="0C1220">
              <a:alpha val="90000"/>
            </a:srgbClr>
          </a:solidFill>
          <a:ln w="9525">
            <a:solidFill>
              <a:srgbClr val="2A3346"/>
            </a:solidFill>
            <a:prstDash val="solid"/>
          </a:ln>
        </p:spPr>
        <p:txBody>
          <a:bodyPr/>
          <a:p/>
        </p:txBody>
      </p:sp>
      <p:pic>
        <p:nvPicPr>
          <p:cNvPr id="12" name="Photo: Choong Zhuo Lin" descr="Photo of Choong Zhuo Lin">    </p:cNvPr>
          <p:cNvPicPr>
            <a:picLocks noChangeAspect="1"/>
          </p:cNvPicPr>
          <p:nvPr/>
        </p:nvPicPr>
        <p:blipFill>
          <a:blip r:embed="rId3"/>
          <a:stretch>
            <a:fillRect/>
          </a:stretch>
        </p:blipFill>
        <p:spPr>
          <a:xfrm>
            <a:off x="3108960" y="3108960"/>
            <a:ext cx="1737360" cy="2171700"/>
          </a:xfrm>
          <a:prstGeom prst="rect">
            <a:avLst/>
          </a:prstGeom>
        </p:spPr>
      </p:pic>
      <p:sp>
        <p:nvSpPr>
          <p:cNvPr id="13" name="Name"/>
          <p:cNvSpPr txBox="1"/>
          <p:nvPr/>
        </p:nvSpPr>
        <p:spPr>
          <a:xfrm>
            <a:off x="3154680"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Choong Zhuo Lin</a:t>
            </a:r>
            <a:endParaRPr lang="en-US" sz="1300" dirty="0"/>
          </a:p>
        </p:txBody>
      </p:sp>
      <p:sp>
        <p:nvSpPr>
          <p:cNvPr id="14" name="Role"/>
          <p:cNvSpPr txBox="1"/>
          <p:nvPr/>
        </p:nvSpPr>
        <p:spPr>
          <a:xfrm>
            <a:off x="3154680"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Technical lead</a:t>
            </a:r>
            <a:endParaRPr lang="en-US" sz="1100" dirty="0"/>
          </a:p>
        </p:txBody>
      </p:sp>
      <p:sp>
        <p:nvSpPr>
          <p:cNvPr id="15" name="Card: Tan Wei Feng"/>
          <p:cNvSpPr/>
          <p:nvPr/>
        </p:nvSpPr>
        <p:spPr>
          <a:xfrm>
            <a:off x="5138928" y="3017520"/>
            <a:ext cx="1920240" cy="3200400"/>
          </a:xfrm>
          <a:prstGeom prst="roundRect">
            <a:avLst>
              <a:gd name="adj" fmla="val 5714"/>
            </a:avLst>
          </a:prstGeom>
          <a:solidFill>
            <a:srgbClr val="0C1220">
              <a:alpha val="90000"/>
            </a:srgbClr>
          </a:solidFill>
          <a:ln w="9525">
            <a:solidFill>
              <a:srgbClr val="2A3346"/>
            </a:solidFill>
            <a:prstDash val="solid"/>
          </a:ln>
        </p:spPr>
        <p:txBody>
          <a:bodyPr/>
          <a:p/>
        </p:txBody>
      </p:sp>
      <p:pic>
        <p:nvPicPr>
          <p:cNvPr id="16" name="Photo: Tan Wei Feng" descr="Photo of Tan Wei Feng">    </p:cNvPr>
          <p:cNvPicPr>
            <a:picLocks noChangeAspect="1"/>
          </p:cNvPicPr>
          <p:nvPr/>
        </p:nvPicPr>
        <p:blipFill>
          <a:blip r:embed="rId4"/>
          <a:stretch>
            <a:fillRect/>
          </a:stretch>
        </p:blipFill>
        <p:spPr>
          <a:xfrm>
            <a:off x="5230368" y="3108960"/>
            <a:ext cx="1737360" cy="2171700"/>
          </a:xfrm>
          <a:prstGeom prst="rect">
            <a:avLst/>
          </a:prstGeom>
        </p:spPr>
      </p:pic>
      <p:sp>
        <p:nvSpPr>
          <p:cNvPr id="17" name="Name"/>
          <p:cNvSpPr txBox="1"/>
          <p:nvPr/>
        </p:nvSpPr>
        <p:spPr>
          <a:xfrm>
            <a:off x="5276088"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Tan Wei Feng</a:t>
            </a:r>
            <a:endParaRPr lang="en-US" sz="1300" dirty="0"/>
          </a:p>
        </p:txBody>
      </p:sp>
      <p:sp>
        <p:nvSpPr>
          <p:cNvPr id="18" name="Role"/>
          <p:cNvSpPr txBox="1"/>
          <p:nvPr/>
        </p:nvSpPr>
        <p:spPr>
          <a:xfrm>
            <a:off x="5276088"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Presenter and documentation</a:t>
            </a:r>
            <a:endParaRPr lang="en-US" sz="1100" dirty="0"/>
          </a:p>
        </p:txBody>
      </p:sp>
      <p:sp>
        <p:nvSpPr>
          <p:cNvPr id="19" name="Card: Lim Jie Shin"/>
          <p:cNvSpPr/>
          <p:nvPr/>
        </p:nvSpPr>
        <p:spPr>
          <a:xfrm>
            <a:off x="7260336" y="3017520"/>
            <a:ext cx="1920240" cy="3200400"/>
          </a:xfrm>
          <a:prstGeom prst="roundRect">
            <a:avLst>
              <a:gd name="adj" fmla="val 5714"/>
            </a:avLst>
          </a:prstGeom>
          <a:solidFill>
            <a:srgbClr val="0C1220">
              <a:alpha val="90000"/>
            </a:srgbClr>
          </a:solidFill>
          <a:ln w="9525">
            <a:solidFill>
              <a:srgbClr val="2A3346"/>
            </a:solidFill>
            <a:prstDash val="solid"/>
          </a:ln>
        </p:spPr>
        <p:txBody>
          <a:bodyPr/>
          <a:p/>
        </p:txBody>
      </p:sp>
      <p:pic>
        <p:nvPicPr>
          <p:cNvPr id="20" name="Photo: Lim Jie Shin" descr="Photo of Lim Jie Shin">    </p:cNvPr>
          <p:cNvPicPr>
            <a:picLocks noChangeAspect="1"/>
          </p:cNvPicPr>
          <p:nvPr/>
        </p:nvPicPr>
        <p:blipFill>
          <a:blip r:embed="rId5"/>
          <a:stretch>
            <a:fillRect/>
          </a:stretch>
        </p:blipFill>
        <p:spPr>
          <a:xfrm>
            <a:off x="7351776" y="3108960"/>
            <a:ext cx="1737360" cy="2171700"/>
          </a:xfrm>
          <a:prstGeom prst="rect">
            <a:avLst/>
          </a:prstGeom>
        </p:spPr>
      </p:pic>
      <p:sp>
        <p:nvSpPr>
          <p:cNvPr id="21" name="Name"/>
          <p:cNvSpPr txBox="1"/>
          <p:nvPr/>
        </p:nvSpPr>
        <p:spPr>
          <a:xfrm>
            <a:off x="7397496"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Lim Jie Shin</a:t>
            </a:r>
            <a:endParaRPr lang="en-US" sz="1300" dirty="0"/>
          </a:p>
        </p:txBody>
      </p:sp>
      <p:sp>
        <p:nvSpPr>
          <p:cNvPr id="22" name="Role"/>
          <p:cNvSpPr txBox="1"/>
          <p:nvPr/>
        </p:nvSpPr>
        <p:spPr>
          <a:xfrm>
            <a:off x="7397496"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Research and data</a:t>
            </a:r>
            <a:endParaRPr lang="en-US" sz="1100" dirty="0"/>
          </a:p>
        </p:txBody>
      </p:sp>
      <p:sp>
        <p:nvSpPr>
          <p:cNvPr id="23" name="Card: Esther Kong Yuan Er"/>
          <p:cNvSpPr/>
          <p:nvPr/>
        </p:nvSpPr>
        <p:spPr>
          <a:xfrm>
            <a:off x="9381744" y="3017520"/>
            <a:ext cx="1920240" cy="3200400"/>
          </a:xfrm>
          <a:prstGeom prst="roundRect">
            <a:avLst>
              <a:gd name="adj" fmla="val 5714"/>
            </a:avLst>
          </a:prstGeom>
          <a:solidFill>
            <a:srgbClr val="0C1220">
              <a:alpha val="90000"/>
            </a:srgbClr>
          </a:solidFill>
          <a:ln w="9525">
            <a:solidFill>
              <a:srgbClr val="2A3346"/>
            </a:solidFill>
            <a:prstDash val="solid"/>
          </a:ln>
        </p:spPr>
        <p:txBody>
          <a:bodyPr/>
          <a:p/>
        </p:txBody>
      </p:sp>
      <p:pic>
        <p:nvPicPr>
          <p:cNvPr id="24" name="Photo: Esther Kong Yuan Er" descr="Photo of Esther Kong Yuan Er">    </p:cNvPr>
          <p:cNvPicPr>
            <a:picLocks noChangeAspect="1"/>
          </p:cNvPicPr>
          <p:nvPr/>
        </p:nvPicPr>
        <p:blipFill>
          <a:blip r:embed="rId6"/>
          <a:stretch>
            <a:fillRect/>
          </a:stretch>
        </p:blipFill>
        <p:spPr>
          <a:xfrm>
            <a:off x="9473184" y="3108960"/>
            <a:ext cx="1737360" cy="2171700"/>
          </a:xfrm>
          <a:prstGeom prst="rect">
            <a:avLst/>
          </a:prstGeom>
        </p:spPr>
      </p:pic>
      <p:sp>
        <p:nvSpPr>
          <p:cNvPr id="25" name="Name"/>
          <p:cNvSpPr txBox="1"/>
          <p:nvPr/>
        </p:nvSpPr>
        <p:spPr>
          <a:xfrm>
            <a:off x="9518904"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Esther Kong Yuan Er</a:t>
            </a:r>
            <a:endParaRPr lang="en-US" sz="1300" dirty="0"/>
          </a:p>
        </p:txBody>
      </p:sp>
      <p:sp>
        <p:nvSpPr>
          <p:cNvPr id="26" name="Role"/>
          <p:cNvSpPr txBox="1"/>
          <p:nvPr/>
        </p:nvSpPr>
        <p:spPr>
          <a:xfrm>
            <a:off x="9518904"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UI/UX design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01</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01</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The problem</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Will AI take my job? How much of it? Which of my skills?</a:t>
            </a:r>
            <a:endParaRPr lang="en-US" sz="3200" dirty="0"/>
          </a:p>
        </p:txBody>
      </p:sp>
      <p:sp>
        <p:nvSpPr>
          <p:cNvPr id="6" name="Subtitle"/>
          <p:cNvSpPr txBox="1"/>
          <p:nvPr/>
        </p:nvSpPr>
        <p:spPr>
          <a:xfrm>
            <a:off x="2743200" y="1645920"/>
            <a:ext cx="7498080" cy="868680"/>
          </a:xfrm>
          <a:prstGeom prst="rect">
            <a:avLst/>
          </a:prstGeom>
          <a:noFill/>
          <a:ln/>
        </p:spPr>
        <p:txBody>
          <a:bodyPr wrap="square" lIns="0" tIns="0" rIns="0" bIns="0" rtlCol="0" anchor="t"/>
          <a:lstStyle/>
          <a:p>
            <a:pPr indent="0" marL="0">
              <a:buNone/>
            </a:pPr>
            <a:r>
              <a:rPr lang="en-US" sz="1400" dirty="0">
                <a:solidFill>
                  <a:schemeClr val="tx2"/>
                </a:solidFill>
              </a:rPr>
              <a:t>Priya has been an accounts payable clerk for 11 years. Next year AI takes over invoice matching. She has six months to move, and nobody can tell her which of her skills still count.</a:t>
            </a:r>
            <a:endParaRPr lang="en-US" sz="1400" dirty="0"/>
          </a:p>
        </p:txBody>
      </p:sp>
      <p:sp>
        <p:nvSpPr>
          <p:cNvPr id="7" name="Stat number"/>
          <p:cNvSpPr txBox="1"/>
          <p:nvPr/>
        </p:nvSpPr>
        <p:spPr>
          <a:xfrm>
            <a:off x="2743200" y="2926080"/>
            <a:ext cx="2743200" cy="777240"/>
          </a:xfrm>
          <a:prstGeom prst="rect">
            <a:avLst/>
          </a:prstGeom>
          <a:noFill/>
          <a:ln/>
        </p:spPr>
        <p:txBody>
          <a:bodyPr wrap="square" lIns="0" tIns="0" rIns="0" bIns="0" rtlCol="0" anchor="t"/>
          <a:lstStyle/>
          <a:p>
            <a:pPr indent="0" marL="0">
              <a:buNone/>
            </a:pPr>
            <a:r>
              <a:rPr lang="en-US" sz="4800" b="1" dirty="0">
                <a:solidFill>
                  <a:schemeClr val="accent1"/>
                </a:solidFill>
              </a:rPr>
              <a:t>620,000</a:t>
            </a:r>
            <a:endParaRPr lang="en-US" sz="4800" dirty="0"/>
          </a:p>
        </p:txBody>
      </p:sp>
      <p:sp>
        <p:nvSpPr>
          <p:cNvPr id="8" name="Stat text"/>
          <p:cNvSpPr txBox="1"/>
          <p:nvPr/>
        </p:nvSpPr>
        <p:spPr>
          <a:xfrm>
            <a:off x="2743200" y="3749040"/>
            <a:ext cx="2606040" cy="548640"/>
          </a:xfrm>
          <a:prstGeom prst="rect">
            <a:avLst/>
          </a:prstGeom>
          <a:noFill/>
          <a:ln/>
        </p:spPr>
        <p:txBody>
          <a:bodyPr wrap="square" lIns="0" tIns="0" rIns="0" bIns="0" rtlCol="0" anchor="t"/>
          <a:lstStyle/>
          <a:p>
            <a:pPr indent="0" marL="0">
              <a:buNone/>
            </a:pPr>
            <a:r>
              <a:rPr lang="en-US" sz="1400" b="1" dirty="0">
                <a:solidFill>
                  <a:schemeClr val="tx1"/>
                </a:solidFill>
              </a:rPr>
              <a:t>Malaysian jobs hit hard by AI within 3–5 years.</a:t>
            </a:r>
            <a:endParaRPr lang="en-US" sz="1400" dirty="0"/>
          </a:p>
        </p:txBody>
      </p:sp>
      <p:sp>
        <p:nvSpPr>
          <p:cNvPr id="9" name="Source"/>
          <p:cNvSpPr txBox="1"/>
          <p:nvPr/>
        </p:nvSpPr>
        <p:spPr>
          <a:xfrm>
            <a:off x="2743200" y="4343400"/>
            <a:ext cx="2606040" cy="228600"/>
          </a:xfrm>
          <a:prstGeom prst="rect">
            <a:avLst/>
          </a:prstGeom>
          <a:noFill/>
          <a:ln/>
        </p:spPr>
        <p:txBody>
          <a:bodyPr wrap="square" lIns="0" tIns="0" rIns="0" bIns="0" rtlCol="0" anchor="t"/>
          <a:lstStyle/>
          <a:p>
            <a:pPr indent="0" marL="0">
              <a:buNone/>
            </a:pPr>
            <a:r>
              <a:rPr lang="en-US" sz="1050" dirty="0">
                <a:solidFill>
                  <a:schemeClr val="bg2"/>
                </a:solidFill>
              </a:rPr>
              <a:t>TalentCorp, 2024</a:t>
            </a:r>
            <a:endParaRPr lang="en-US" sz="1050" dirty="0"/>
          </a:p>
        </p:txBody>
      </p:sp>
      <p:sp>
        <p:nvSpPr>
          <p:cNvPr id="10" name="Divider"/>
          <p:cNvSpPr/>
          <p:nvPr/>
        </p:nvSpPr>
        <p:spPr>
          <a:xfrm>
            <a:off x="5486400" y="2926080"/>
            <a:ext cx="0" cy="1737360"/>
          </a:xfrm>
          <a:prstGeom prst="line">
            <a:avLst/>
          </a:prstGeom>
          <a:noFill/>
          <a:ln w="9525">
            <a:solidFill>
              <a:srgbClr val="2A3346"/>
            </a:solidFill>
            <a:prstDash val="solid"/>
          </a:ln>
        </p:spPr>
        <p:txBody>
          <a:bodyPr/>
          <a:p/>
        </p:txBody>
      </p:sp>
      <p:sp>
        <p:nvSpPr>
          <p:cNvPr id="11" name="Stat number"/>
          <p:cNvSpPr txBox="1"/>
          <p:nvPr/>
        </p:nvSpPr>
        <p:spPr>
          <a:xfrm>
            <a:off x="5715000" y="2926080"/>
            <a:ext cx="2743200" cy="777240"/>
          </a:xfrm>
          <a:prstGeom prst="rect">
            <a:avLst/>
          </a:prstGeom>
          <a:noFill/>
          <a:ln/>
        </p:spPr>
        <p:txBody>
          <a:bodyPr wrap="square" lIns="0" tIns="0" rIns="0" bIns="0" rtlCol="0" anchor="t"/>
          <a:lstStyle/>
          <a:p>
            <a:pPr indent="0" marL="0">
              <a:buNone/>
            </a:pPr>
            <a:r>
              <a:rPr lang="en-US" sz="4800" b="1" dirty="0">
                <a:solidFill>
                  <a:schemeClr val="accent2"/>
                </a:solidFill>
              </a:rPr>
              <a:t>1 in 4</a:t>
            </a:r>
            <a:endParaRPr lang="en-US" sz="4800" dirty="0"/>
          </a:p>
        </p:txBody>
      </p:sp>
      <p:sp>
        <p:nvSpPr>
          <p:cNvPr id="12" name="Stat text"/>
          <p:cNvSpPr txBox="1"/>
          <p:nvPr/>
        </p:nvSpPr>
        <p:spPr>
          <a:xfrm>
            <a:off x="5715000" y="3749040"/>
            <a:ext cx="2606040" cy="548640"/>
          </a:xfrm>
          <a:prstGeom prst="rect">
            <a:avLst/>
          </a:prstGeom>
          <a:noFill/>
          <a:ln/>
        </p:spPr>
        <p:txBody>
          <a:bodyPr wrap="square" lIns="0" tIns="0" rIns="0" bIns="0" rtlCol="0" anchor="t"/>
          <a:lstStyle/>
          <a:p>
            <a:pPr indent="0" marL="0">
              <a:buNone/>
            </a:pPr>
            <a:r>
              <a:rPr lang="en-US" sz="1400" b="1" dirty="0">
                <a:solidFill>
                  <a:schemeClr val="tx1"/>
                </a:solidFill>
              </a:rPr>
              <a:t>workers worldwide do a job AI can partly do.</a:t>
            </a:r>
            <a:endParaRPr lang="en-US" sz="1400" dirty="0"/>
          </a:p>
        </p:txBody>
      </p:sp>
      <p:sp>
        <p:nvSpPr>
          <p:cNvPr id="13" name="Source"/>
          <p:cNvSpPr txBox="1"/>
          <p:nvPr/>
        </p:nvSpPr>
        <p:spPr>
          <a:xfrm>
            <a:off x="5715000" y="4343400"/>
            <a:ext cx="2606040" cy="228600"/>
          </a:xfrm>
          <a:prstGeom prst="rect">
            <a:avLst/>
          </a:prstGeom>
          <a:noFill/>
          <a:ln/>
        </p:spPr>
        <p:txBody>
          <a:bodyPr wrap="square" lIns="0" tIns="0" rIns="0" bIns="0" rtlCol="0" anchor="t"/>
          <a:lstStyle/>
          <a:p>
            <a:pPr indent="0" marL="0">
              <a:buNone/>
            </a:pPr>
            <a:r>
              <a:rPr lang="en-US" sz="1050" dirty="0">
                <a:solidFill>
                  <a:schemeClr val="bg2"/>
                </a:solidFill>
              </a:rPr>
              <a:t>ILO, 2025</a:t>
            </a:r>
            <a:endParaRPr lang="en-US" sz="1050" dirty="0"/>
          </a:p>
        </p:txBody>
      </p:sp>
      <p:sp>
        <p:nvSpPr>
          <p:cNvPr id="14" name="Divider"/>
          <p:cNvSpPr/>
          <p:nvPr/>
        </p:nvSpPr>
        <p:spPr>
          <a:xfrm>
            <a:off x="8458200" y="2926080"/>
            <a:ext cx="0" cy="1737360"/>
          </a:xfrm>
          <a:prstGeom prst="line">
            <a:avLst/>
          </a:prstGeom>
          <a:noFill/>
          <a:ln w="9525">
            <a:solidFill>
              <a:srgbClr val="2A3346"/>
            </a:solidFill>
            <a:prstDash val="solid"/>
          </a:ln>
        </p:spPr>
        <p:txBody>
          <a:bodyPr/>
          <a:p/>
        </p:txBody>
      </p:sp>
      <p:sp>
        <p:nvSpPr>
          <p:cNvPr id="15" name="Stat number"/>
          <p:cNvSpPr txBox="1"/>
          <p:nvPr/>
        </p:nvSpPr>
        <p:spPr>
          <a:xfrm>
            <a:off x="8686800" y="2926080"/>
            <a:ext cx="2743200" cy="777240"/>
          </a:xfrm>
          <a:prstGeom prst="rect">
            <a:avLst/>
          </a:prstGeom>
          <a:noFill/>
          <a:ln/>
        </p:spPr>
        <p:txBody>
          <a:bodyPr wrap="square" lIns="0" tIns="0" rIns="0" bIns="0" rtlCol="0" anchor="t"/>
          <a:lstStyle/>
          <a:p>
            <a:pPr indent="0" marL="0">
              <a:buNone/>
            </a:pPr>
            <a:r>
              <a:rPr lang="en-US" sz="4800" b="1" dirty="0">
                <a:solidFill>
                  <a:schemeClr val="accent3"/>
                </a:solidFill>
              </a:rPr>
              <a:t>56%</a:t>
            </a:r>
            <a:endParaRPr lang="en-US" sz="4800" dirty="0"/>
          </a:p>
        </p:txBody>
      </p:sp>
      <p:sp>
        <p:nvSpPr>
          <p:cNvPr id="16" name="Stat text"/>
          <p:cNvSpPr txBox="1"/>
          <p:nvPr/>
        </p:nvSpPr>
        <p:spPr>
          <a:xfrm>
            <a:off x="8686800" y="3749040"/>
            <a:ext cx="2606040" cy="548640"/>
          </a:xfrm>
          <a:prstGeom prst="rect">
            <a:avLst/>
          </a:prstGeom>
          <a:noFill/>
          <a:ln/>
        </p:spPr>
        <p:txBody>
          <a:bodyPr wrap="square" lIns="0" tIns="0" rIns="0" bIns="0" rtlCol="0" anchor="t"/>
          <a:lstStyle/>
          <a:p>
            <a:pPr indent="0" marL="0">
              <a:buNone/>
            </a:pPr>
            <a:r>
              <a:rPr lang="en-US" sz="1400" b="1" dirty="0">
                <a:solidFill>
                  <a:schemeClr val="tx1"/>
                </a:solidFill>
              </a:rPr>
              <a:t>use AI at work, but only 26% are trained for it.</a:t>
            </a:r>
            <a:endParaRPr lang="en-US" sz="1400" dirty="0"/>
          </a:p>
        </p:txBody>
      </p:sp>
      <p:sp>
        <p:nvSpPr>
          <p:cNvPr id="17" name="Source"/>
          <p:cNvSpPr txBox="1"/>
          <p:nvPr/>
        </p:nvSpPr>
        <p:spPr>
          <a:xfrm>
            <a:off x="8686800" y="4343400"/>
            <a:ext cx="2606040" cy="228600"/>
          </a:xfrm>
          <a:prstGeom prst="rect">
            <a:avLst/>
          </a:prstGeom>
          <a:noFill/>
          <a:ln/>
        </p:spPr>
        <p:txBody>
          <a:bodyPr wrap="square" lIns="0" tIns="0" rIns="0" bIns="0" rtlCol="0" anchor="t"/>
          <a:lstStyle/>
          <a:p>
            <a:pPr indent="0" marL="0">
              <a:buNone/>
            </a:pPr>
            <a:r>
              <a:rPr lang="en-US" sz="1050" dirty="0">
                <a:solidFill>
                  <a:schemeClr val="bg2"/>
                </a:solidFill>
              </a:rPr>
              <a:t>Hays, 2025</a:t>
            </a:r>
            <a:endParaRPr lang="en-US" sz="1050" dirty="0"/>
          </a:p>
        </p:txBody>
      </p:sp>
      <p:sp>
        <p:nvSpPr>
          <p:cNvPr id="18" name="Gap"/>
          <p:cNvSpPr txBox="1"/>
          <p:nvPr/>
        </p:nvSpPr>
        <p:spPr>
          <a:xfrm>
            <a:off x="2743200" y="4983480"/>
            <a:ext cx="8686800" cy="594360"/>
          </a:xfrm>
          <a:prstGeom prst="rect">
            <a:avLst/>
          </a:prstGeom>
          <a:noFill/>
          <a:ln/>
        </p:spPr>
        <p:txBody>
          <a:bodyPr wrap="square" lIns="0" tIns="0" rIns="0" bIns="0" rtlCol="0" anchor="t"/>
          <a:lstStyle/>
          <a:p>
            <a:pPr indent="0" marL="0">
              <a:buNone/>
            </a:pPr>
            <a:r>
              <a:rPr lang="en-US" sz="1300" dirty="0">
                <a:solidFill>
                  <a:schemeClr val="tx2"/>
                </a:solidFill>
              </a:rPr>
              <a:t>Today’s tools, such as MyMahir, MYFutureJobs and LinkedIn Career Explorer, compare your skills or suggest courses. None of them gives you a dated, step-by-step plan that updates itself when AI changes your work.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02</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02</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What we built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Three engines most career tools don’t have.</a:t>
            </a:r>
            <a:endParaRPr lang="en-US" sz="3200" dirty="0"/>
          </a:p>
        </p:txBody>
      </p:sp>
      <p:sp>
        <p:nvSpPr>
          <p:cNvPr id="6" name="Engine number"/>
          <p:cNvSpPr/>
          <p:nvPr/>
        </p:nvSpPr>
        <p:spPr>
          <a:xfrm>
            <a:off x="2743200" y="1600200"/>
            <a:ext cx="292608" cy="292608"/>
          </a:xfrm>
          <a:prstGeom prst="ellipse">
            <a:avLst/>
          </a:prstGeom>
          <a:solidFill>
            <a:srgbClr val="05070D"/>
          </a:solidFill>
          <a:ln w="15875">
            <a:solidFill>
              <a:srgbClr val="5AA0F0"/>
            </a:solidFill>
          </a:ln>
        </p:spPr>
        <p:txBody>
          <a:bodyPr wrap="square" lIns="0" tIns="0" rIns="0" bIns="0" rtlCol="0" anchor="ctr"/>
          <a:lstStyle/>
          <a:p>
            <a:pPr algn="ctr" indent="0" marL="0">
              <a:buNone/>
            </a:pPr>
            <a:r>
              <a:rPr lang="en-US" sz="1100" b="1" dirty="0">
                <a:solidFill>
                  <a:schemeClr val="accent2"/>
                </a:solidFill>
              </a:rPr>
              <a:t>1</a:t>
            </a:r>
            <a:endParaRPr lang="en-US" sz="1100" dirty="0"/>
          </a:p>
        </p:txBody>
      </p:sp>
      <p:sp>
        <p:nvSpPr>
          <p:cNvPr id="7" name="Engine tag"/>
          <p:cNvSpPr txBox="1"/>
          <p:nvPr/>
        </p:nvSpPr>
        <p:spPr>
          <a:xfrm>
            <a:off x="3127248" y="1636776"/>
            <a:ext cx="228600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OUR OWN MODEL</a:t>
            </a:r>
            <a:endParaRPr lang="en-US" sz="1050" dirty="0"/>
          </a:p>
        </p:txBody>
      </p:sp>
      <p:sp>
        <p:nvSpPr>
          <p:cNvPr id="8" name="Engine heading"/>
          <p:cNvSpPr txBox="1"/>
          <p:nvPr/>
        </p:nvSpPr>
        <p:spPr>
          <a:xfrm>
            <a:off x="2743200" y="2057400"/>
            <a:ext cx="2697480" cy="777240"/>
          </a:xfrm>
          <a:prstGeom prst="rect">
            <a:avLst/>
          </a:prstGeom>
          <a:noFill/>
          <a:ln/>
        </p:spPr>
        <p:txBody>
          <a:bodyPr wrap="square" lIns="0" tIns="0" rIns="0" bIns="0" rtlCol="0" anchor="t"/>
          <a:lstStyle/>
          <a:p>
            <a:pPr indent="0" marL="0">
              <a:buNone/>
            </a:pPr>
            <a:r>
              <a:rPr lang="en-US" sz="2000" b="1" dirty="0">
                <a:solidFill>
                  <a:schemeClr val="tx1"/>
                </a:solidFill>
              </a:rPr>
              <a:t>We trained our own AI-exposure model.</a:t>
            </a:r>
            <a:endParaRPr lang="en-US" sz="2000" dirty="0"/>
          </a:p>
        </p:txBody>
      </p:sp>
      <p:sp>
        <p:nvSpPr>
          <p:cNvPr id="9" name="Engine line"/>
          <p:cNvSpPr txBox="1"/>
          <p:nvPr/>
        </p:nvSpPr>
        <p:spPr>
          <a:xfrm>
            <a:off x="2743200" y="2898648"/>
            <a:ext cx="2697480" cy="548640"/>
          </a:xfrm>
          <a:prstGeom prst="rect">
            <a:avLst/>
          </a:prstGeom>
          <a:noFill/>
          <a:ln/>
        </p:spPr>
        <p:txBody>
          <a:bodyPr wrap="square" lIns="0" tIns="0" rIns="0" bIns="0" rtlCol="0" anchor="t"/>
          <a:lstStyle/>
          <a:p>
            <a:pPr indent="0" marL="0">
              <a:buNone/>
            </a:pPr>
            <a:r>
              <a:rPr lang="en-US" sz="1300" dirty="0">
                <a:solidFill>
                  <a:schemeClr val="tx2"/>
                </a:solidFill>
              </a:rPr>
              <a:t>Shows which of your skills AI can already do.</a:t>
            </a:r>
            <a:endParaRPr lang="en-US" sz="1300" dirty="0"/>
          </a:p>
        </p:txBody>
      </p:sp>
      <p:sp>
        <p:nvSpPr>
          <p:cNvPr id="10" name="Proof number"/>
          <p:cNvSpPr txBox="1"/>
          <p:nvPr/>
        </p:nvSpPr>
        <p:spPr>
          <a:xfrm>
            <a:off x="2743200" y="3566160"/>
            <a:ext cx="1463040" cy="502920"/>
          </a:xfrm>
          <a:prstGeom prst="rect">
            <a:avLst/>
          </a:prstGeom>
          <a:noFill/>
          <a:ln/>
        </p:spPr>
        <p:txBody>
          <a:bodyPr wrap="square" lIns="0" tIns="0" rIns="0" bIns="0" rtlCol="0" anchor="t"/>
          <a:lstStyle/>
          <a:p>
            <a:pPr indent="0" marL="0">
              <a:buNone/>
            </a:pPr>
            <a:r>
              <a:rPr lang="en-US" sz="2800" b="1" dirty="0">
                <a:solidFill>
                  <a:schemeClr val="accent2"/>
                </a:solidFill>
              </a:rPr>
              <a:t>13,939</a:t>
            </a:r>
            <a:endParaRPr lang="en-US" sz="2800" dirty="0"/>
          </a:p>
        </p:txBody>
      </p:sp>
      <p:sp>
        <p:nvSpPr>
          <p:cNvPr id="11" name="Proof label"/>
          <p:cNvSpPr txBox="1"/>
          <p:nvPr/>
        </p:nvSpPr>
        <p:spPr>
          <a:xfrm>
            <a:off x="4069080" y="3630168"/>
            <a:ext cx="1371600" cy="411480"/>
          </a:xfrm>
          <a:prstGeom prst="rect">
            <a:avLst/>
          </a:prstGeom>
          <a:noFill/>
          <a:ln/>
        </p:spPr>
        <p:txBody>
          <a:bodyPr wrap="square" lIns="0" tIns="0" rIns="0" bIns="0" rtlCol="0" anchor="t"/>
          <a:lstStyle/>
          <a:p>
            <a:pPr indent="0" marL="0">
              <a:buNone/>
            </a:pPr>
            <a:r>
              <a:rPr lang="en-US" sz="1100" b="1" dirty="0">
                <a:solidFill>
                  <a:schemeClr val="tx2"/>
                </a:solidFill>
              </a:rPr>
              <a:t>skills scored, trained on RunPod</a:t>
            </a:r>
            <a:endParaRPr lang="en-US" sz="1100" dirty="0"/>
          </a:p>
        </p:txBody>
      </p:sp>
      <p:sp>
        <p:nvSpPr>
          <p:cNvPr id="12" name="Rule"/>
          <p:cNvSpPr/>
          <p:nvPr/>
        </p:nvSpPr>
        <p:spPr>
          <a:xfrm>
            <a:off x="2743200" y="4297680"/>
            <a:ext cx="2697480" cy="0"/>
          </a:xfrm>
          <a:prstGeom prst="line">
            <a:avLst/>
          </a:prstGeom>
          <a:noFill/>
          <a:ln w="9525">
            <a:solidFill>
              <a:srgbClr val="2A3346"/>
            </a:solidFill>
            <a:prstDash val="dash"/>
          </a:ln>
        </p:spPr>
        <p:txBody>
          <a:bodyPr/>
          <a:p/>
        </p:txBody>
      </p:sp>
      <p:sp>
        <p:nvSpPr>
          <p:cNvPr id="13" name="Contrast"/>
          <p:cNvSpPr txBox="1"/>
          <p:nvPr/>
        </p:nvSpPr>
        <p:spPr>
          <a:xfrm>
            <a:off x="2743200" y="4434840"/>
            <a:ext cx="2697480" cy="457200"/>
          </a:xfrm>
          <a:prstGeom prst="rect">
            <a:avLst/>
          </a:prstGeom>
          <a:noFill/>
          <a:ln/>
        </p:spPr>
        <p:txBody>
          <a:bodyPr wrap="square" lIns="0" tIns="0" rIns="0" bIns="0" rtlCol="0" anchor="t"/>
          <a:lstStyle/>
          <a:p>
            <a:pPr indent="0" marL="0">
              <a:buNone/>
            </a:pPr>
            <a:r>
              <a:rPr lang="en-US" sz="1150" b="1" dirty="0">
                <a:solidFill>
                  <a:schemeClr val="accent6"/>
                </a:solidFill>
              </a:rPr>
              <a:t>✕  </a:t>
            </a:r>
            <a:pPr indent="0" marL="0">
              <a:buNone/>
            </a:pPr>
            <a:r>
              <a:rPr lang="en-US" sz="1150" dirty="0">
                <a:solidFill>
                  <a:schemeClr val="bg2"/>
                </a:solidFill>
              </a:rPr>
              <a:t>Most tools: a job match, no view of your own skills</a:t>
            </a:r>
            <a:endParaRPr lang="en-US" sz="1150" dirty="0"/>
          </a:p>
        </p:txBody>
      </p:sp>
      <p:sp>
        <p:nvSpPr>
          <p:cNvPr id="14" name="Divider"/>
          <p:cNvSpPr/>
          <p:nvPr/>
        </p:nvSpPr>
        <p:spPr>
          <a:xfrm>
            <a:off x="5486400" y="1600200"/>
            <a:ext cx="0" cy="3749040"/>
          </a:xfrm>
          <a:prstGeom prst="line">
            <a:avLst/>
          </a:prstGeom>
          <a:noFill/>
          <a:ln w="9525">
            <a:solidFill>
              <a:srgbClr val="2A3346"/>
            </a:solidFill>
            <a:prstDash val="solid"/>
          </a:ln>
        </p:spPr>
        <p:txBody>
          <a:bodyPr/>
          <a:p/>
        </p:txBody>
      </p:sp>
      <p:sp>
        <p:nvSpPr>
          <p:cNvPr id="15" name="Engine number"/>
          <p:cNvSpPr/>
          <p:nvPr/>
        </p:nvSpPr>
        <p:spPr>
          <a:xfrm>
            <a:off x="5715000" y="1600200"/>
            <a:ext cx="292608" cy="292608"/>
          </a:xfrm>
          <a:prstGeom prst="ellipse">
            <a:avLst/>
          </a:prstGeom>
          <a:solidFill>
            <a:srgbClr val="05070D"/>
          </a:solidFill>
          <a:ln w="15875">
            <a:solidFill>
              <a:srgbClr val="A98BFF"/>
            </a:solidFill>
          </a:ln>
        </p:spPr>
        <p:txBody>
          <a:bodyPr wrap="square" lIns="0" tIns="0" rIns="0" bIns="0" rtlCol="0" anchor="ctr"/>
          <a:lstStyle/>
          <a:p>
            <a:pPr algn="ctr" indent="0" marL="0">
              <a:buNone/>
            </a:pPr>
            <a:r>
              <a:rPr lang="en-US" sz="1100" b="1" dirty="0">
                <a:solidFill>
                  <a:schemeClr val="accent3"/>
                </a:solidFill>
              </a:rPr>
              <a:t>2</a:t>
            </a:r>
            <a:endParaRPr lang="en-US" sz="1100" dirty="0"/>
          </a:p>
        </p:txBody>
      </p:sp>
      <p:sp>
        <p:nvSpPr>
          <p:cNvPr id="16" name="Engine tag"/>
          <p:cNvSpPr txBox="1"/>
          <p:nvPr/>
        </p:nvSpPr>
        <p:spPr>
          <a:xfrm>
            <a:off x="6099048" y="1636776"/>
            <a:ext cx="22860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FUTURE SIMULATION</a:t>
            </a:r>
            <a:endParaRPr lang="en-US" sz="1050" dirty="0"/>
          </a:p>
        </p:txBody>
      </p:sp>
      <p:sp>
        <p:nvSpPr>
          <p:cNvPr id="17" name="Engine heading"/>
          <p:cNvSpPr txBox="1"/>
          <p:nvPr/>
        </p:nvSpPr>
        <p:spPr>
          <a:xfrm>
            <a:off x="5715000" y="2057400"/>
            <a:ext cx="2697480" cy="777240"/>
          </a:xfrm>
          <a:prstGeom prst="rect">
            <a:avLst/>
          </a:prstGeom>
          <a:noFill/>
          <a:ln/>
        </p:spPr>
        <p:txBody>
          <a:bodyPr wrap="square" lIns="0" tIns="0" rIns="0" bIns="0" rtlCol="0" anchor="t"/>
          <a:lstStyle/>
          <a:p>
            <a:pPr indent="0" marL="0">
              <a:buNone/>
            </a:pPr>
            <a:r>
              <a:rPr lang="en-US" sz="2000" b="1" dirty="0">
                <a:solidFill>
                  <a:schemeClr val="tx1"/>
                </a:solidFill>
              </a:rPr>
              <a:t>We simulate 1,000 futures per route.</a:t>
            </a:r>
            <a:endParaRPr lang="en-US" sz="2000" dirty="0"/>
          </a:p>
        </p:txBody>
      </p:sp>
      <p:sp>
        <p:nvSpPr>
          <p:cNvPr id="18" name="Engine line"/>
          <p:cNvSpPr txBox="1"/>
          <p:nvPr/>
        </p:nvSpPr>
        <p:spPr>
          <a:xfrm>
            <a:off x="5715000" y="2898648"/>
            <a:ext cx="2697480" cy="548640"/>
          </a:xfrm>
          <a:prstGeom prst="rect">
            <a:avLst/>
          </a:prstGeom>
          <a:noFill/>
          <a:ln/>
        </p:spPr>
        <p:txBody>
          <a:bodyPr wrap="square" lIns="0" tIns="0" rIns="0" bIns="0" rtlCol="0" anchor="t"/>
          <a:lstStyle/>
          <a:p>
            <a:pPr indent="0" marL="0">
              <a:buNone/>
            </a:pPr>
            <a:r>
              <a:rPr lang="en-US" sz="1300" dirty="0">
                <a:solidFill>
                  <a:schemeClr val="tx2"/>
                </a:solidFill>
              </a:rPr>
              <a:t>Shows how often your route holds, and what breaks it.</a:t>
            </a:r>
            <a:endParaRPr lang="en-US" sz="1300" dirty="0"/>
          </a:p>
        </p:txBody>
      </p:sp>
      <p:sp>
        <p:nvSpPr>
          <p:cNvPr id="19" name="Proof number"/>
          <p:cNvSpPr txBox="1"/>
          <p:nvPr/>
        </p:nvSpPr>
        <p:spPr>
          <a:xfrm>
            <a:off x="5715000" y="3566160"/>
            <a:ext cx="1463040" cy="502920"/>
          </a:xfrm>
          <a:prstGeom prst="rect">
            <a:avLst/>
          </a:prstGeom>
          <a:noFill/>
          <a:ln/>
        </p:spPr>
        <p:txBody>
          <a:bodyPr wrap="square" lIns="0" tIns="0" rIns="0" bIns="0" rtlCol="0" anchor="t"/>
          <a:lstStyle/>
          <a:p>
            <a:pPr indent="0" marL="0">
              <a:buNone/>
            </a:pPr>
            <a:r>
              <a:rPr lang="en-US" sz="2800" b="1" dirty="0">
                <a:solidFill>
                  <a:schemeClr val="accent3"/>
                </a:solidFill>
              </a:rPr>
              <a:t>1,000</a:t>
            </a:r>
            <a:endParaRPr lang="en-US" sz="2800" dirty="0"/>
          </a:p>
        </p:txBody>
      </p:sp>
      <p:sp>
        <p:nvSpPr>
          <p:cNvPr id="20" name="Proof label"/>
          <p:cNvSpPr txBox="1"/>
          <p:nvPr/>
        </p:nvSpPr>
        <p:spPr>
          <a:xfrm>
            <a:off x="7040880" y="3630168"/>
            <a:ext cx="1371600" cy="411480"/>
          </a:xfrm>
          <a:prstGeom prst="rect">
            <a:avLst/>
          </a:prstGeom>
          <a:noFill/>
          <a:ln/>
        </p:spPr>
        <p:txBody>
          <a:bodyPr wrap="square" lIns="0" tIns="0" rIns="0" bIns="0" rtlCol="0" anchor="t"/>
          <a:lstStyle/>
          <a:p>
            <a:pPr indent="0" marL="0">
              <a:buNone/>
            </a:pPr>
            <a:r>
              <a:rPr lang="en-US" sz="1100" b="1" dirty="0">
                <a:solidFill>
                  <a:schemeClr val="tx2"/>
                </a:solidFill>
              </a:rPr>
              <a:t>futures per route, plain code, no guessing</a:t>
            </a:r>
            <a:endParaRPr lang="en-US" sz="1100" dirty="0"/>
          </a:p>
        </p:txBody>
      </p:sp>
      <p:sp>
        <p:nvSpPr>
          <p:cNvPr id="21" name="Rule"/>
          <p:cNvSpPr/>
          <p:nvPr/>
        </p:nvSpPr>
        <p:spPr>
          <a:xfrm>
            <a:off x="5715000" y="4297680"/>
            <a:ext cx="2697480" cy="0"/>
          </a:xfrm>
          <a:prstGeom prst="line">
            <a:avLst/>
          </a:prstGeom>
          <a:noFill/>
          <a:ln w="9525">
            <a:solidFill>
              <a:srgbClr val="2A3346"/>
            </a:solidFill>
            <a:prstDash val="dash"/>
          </a:ln>
        </p:spPr>
        <p:txBody>
          <a:bodyPr/>
          <a:p/>
        </p:txBody>
      </p:sp>
      <p:sp>
        <p:nvSpPr>
          <p:cNvPr id="22" name="Contrast"/>
          <p:cNvSpPr txBox="1"/>
          <p:nvPr/>
        </p:nvSpPr>
        <p:spPr>
          <a:xfrm>
            <a:off x="5715000" y="4434840"/>
            <a:ext cx="2697480" cy="457200"/>
          </a:xfrm>
          <a:prstGeom prst="rect">
            <a:avLst/>
          </a:prstGeom>
          <a:noFill/>
          <a:ln/>
        </p:spPr>
        <p:txBody>
          <a:bodyPr wrap="square" lIns="0" tIns="0" rIns="0" bIns="0" rtlCol="0" anchor="t"/>
          <a:lstStyle/>
          <a:p>
            <a:pPr indent="0" marL="0">
              <a:buNone/>
            </a:pPr>
            <a:r>
              <a:rPr lang="en-US" sz="1150" b="1" dirty="0">
                <a:solidFill>
                  <a:schemeClr val="accent6"/>
                </a:solidFill>
              </a:rPr>
              <a:t>✕  </a:t>
            </a:r>
            <a:pPr indent="0" marL="0">
              <a:buNone/>
            </a:pPr>
            <a:r>
              <a:rPr lang="en-US" sz="1150" dirty="0">
                <a:solidFill>
                  <a:schemeClr val="bg2"/>
                </a:solidFill>
              </a:rPr>
              <a:t>Most tools: one fixed plan</a:t>
            </a:r>
            <a:endParaRPr lang="en-US" sz="1150" dirty="0"/>
          </a:p>
        </p:txBody>
      </p:sp>
      <p:sp>
        <p:nvSpPr>
          <p:cNvPr id="23" name="Divider"/>
          <p:cNvSpPr/>
          <p:nvPr/>
        </p:nvSpPr>
        <p:spPr>
          <a:xfrm>
            <a:off x="8458200" y="1600200"/>
            <a:ext cx="0" cy="3749040"/>
          </a:xfrm>
          <a:prstGeom prst="line">
            <a:avLst/>
          </a:prstGeom>
          <a:noFill/>
          <a:ln w="9525">
            <a:solidFill>
              <a:srgbClr val="2A3346"/>
            </a:solidFill>
            <a:prstDash val="solid"/>
          </a:ln>
        </p:spPr>
        <p:txBody>
          <a:bodyPr/>
          <a:p/>
        </p:txBody>
      </p:sp>
      <p:sp>
        <p:nvSpPr>
          <p:cNvPr id="24" name="Engine number"/>
          <p:cNvSpPr/>
          <p:nvPr/>
        </p:nvSpPr>
        <p:spPr>
          <a:xfrm>
            <a:off x="8686800" y="1600200"/>
            <a:ext cx="292608" cy="292608"/>
          </a:xfrm>
          <a:prstGeom prst="ellipse">
            <a:avLst/>
          </a:prstGeom>
          <a:solidFill>
            <a:srgbClr val="05070D"/>
          </a:solidFill>
          <a:ln w="15875">
            <a:solidFill>
              <a:srgbClr val="FF7A3D"/>
            </a:solid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25" name="Engine tag"/>
          <p:cNvSpPr txBox="1"/>
          <p:nvPr/>
        </p:nvSpPr>
        <p:spPr>
          <a:xfrm>
            <a:off x="9070848" y="1636776"/>
            <a:ext cx="2286000" cy="237744"/>
          </a:xfrm>
          <a:prstGeom prst="rect">
            <a:avLst/>
          </a:prstGeom>
          <a:noFill/>
          <a:ln/>
        </p:spPr>
        <p:txBody>
          <a:bodyPr wrap="square" lIns="0" tIns="0" rIns="0" bIns="0" rtlCol="0" anchor="t"/>
          <a:lstStyle/>
          <a:p>
            <a:pPr indent="0" marL="0">
              <a:buNone/>
            </a:pPr>
            <a:r>
              <a:rPr lang="en-US" sz="1050" b="1" spc="100" kern="0" dirty="0">
                <a:solidFill>
                  <a:schemeClr val="accent1"/>
                </a:solidFill>
              </a:rPr>
              <a:t>AI RESEARCH AGENTS</a:t>
            </a:r>
            <a:endParaRPr lang="en-US" sz="1050" dirty="0"/>
          </a:p>
        </p:txBody>
      </p:sp>
      <p:sp>
        <p:nvSpPr>
          <p:cNvPr id="26" name="Engine heading"/>
          <p:cNvSpPr txBox="1"/>
          <p:nvPr/>
        </p:nvSpPr>
        <p:spPr>
          <a:xfrm>
            <a:off x="8686800" y="2057400"/>
            <a:ext cx="2697480" cy="777240"/>
          </a:xfrm>
          <a:prstGeom prst="rect">
            <a:avLst/>
          </a:prstGeom>
          <a:noFill/>
          <a:ln/>
        </p:spPr>
        <p:txBody>
          <a:bodyPr wrap="square" lIns="0" tIns="0" rIns="0" bIns="0" rtlCol="0" anchor="t"/>
          <a:lstStyle/>
          <a:p>
            <a:pPr indent="0" marL="0">
              <a:buNone/>
            </a:pPr>
            <a:r>
              <a:rPr lang="en-US" sz="2000" b="1" dirty="0">
                <a:solidFill>
                  <a:schemeClr val="tx1"/>
                </a:solidFill>
              </a:rPr>
              <a:t>AI agents keep your route up to date.</a:t>
            </a:r>
            <a:endParaRPr lang="en-US" sz="2000" dirty="0"/>
          </a:p>
        </p:txBody>
      </p:sp>
      <p:sp>
        <p:nvSpPr>
          <p:cNvPr id="27" name="Engine line"/>
          <p:cNvSpPr txBox="1"/>
          <p:nvPr/>
        </p:nvSpPr>
        <p:spPr>
          <a:xfrm>
            <a:off x="8686800" y="2898648"/>
            <a:ext cx="2697480" cy="548640"/>
          </a:xfrm>
          <a:prstGeom prst="rect">
            <a:avLst/>
          </a:prstGeom>
          <a:noFill/>
          <a:ln/>
        </p:spPr>
        <p:txBody>
          <a:bodyPr wrap="square" lIns="0" tIns="0" rIns="0" bIns="0" rtlCol="0" anchor="t"/>
          <a:lstStyle/>
          <a:p>
            <a:pPr indent="0" marL="0">
              <a:buNone/>
            </a:pPr>
            <a:r>
              <a:rPr lang="en-US" sz="1300" dirty="0">
                <a:solidFill>
                  <a:schemeClr val="tx2"/>
                </a:solidFill>
              </a:rPr>
              <a:t>Three agents vote on each news finding. You decide.</a:t>
            </a:r>
            <a:endParaRPr lang="en-US" sz="1300" dirty="0"/>
          </a:p>
        </p:txBody>
      </p:sp>
      <p:sp>
        <p:nvSpPr>
          <p:cNvPr id="28" name="Proof number"/>
          <p:cNvSpPr txBox="1"/>
          <p:nvPr/>
        </p:nvSpPr>
        <p:spPr>
          <a:xfrm>
            <a:off x="8686800" y="3566160"/>
            <a:ext cx="1463040" cy="502920"/>
          </a:xfrm>
          <a:prstGeom prst="rect">
            <a:avLst/>
          </a:prstGeom>
          <a:noFill/>
          <a:ln/>
        </p:spPr>
        <p:txBody>
          <a:bodyPr wrap="square" lIns="0" tIns="0" rIns="0" bIns="0" rtlCol="0" anchor="t"/>
          <a:lstStyle/>
          <a:p>
            <a:pPr indent="0" marL="0">
              <a:buNone/>
            </a:pPr>
            <a:r>
              <a:rPr lang="en-US" sz="2800" b="1" dirty="0">
                <a:solidFill>
                  <a:schemeClr val="accent1"/>
                </a:solidFill>
              </a:rPr>
              <a:t>74</a:t>
            </a:r>
            <a:endParaRPr lang="en-US" sz="2800" dirty="0"/>
          </a:p>
        </p:txBody>
      </p:sp>
      <p:sp>
        <p:nvSpPr>
          <p:cNvPr id="29" name="Proof label"/>
          <p:cNvSpPr txBox="1"/>
          <p:nvPr/>
        </p:nvSpPr>
        <p:spPr>
          <a:xfrm>
            <a:off x="9372600" y="3630168"/>
            <a:ext cx="2011680" cy="411480"/>
          </a:xfrm>
          <a:prstGeom prst="rect">
            <a:avLst/>
          </a:prstGeom>
          <a:noFill/>
          <a:ln/>
        </p:spPr>
        <p:txBody>
          <a:bodyPr wrap="square" lIns="0" tIns="0" rIns="0" bIns="0" rtlCol="0" anchor="t"/>
          <a:lstStyle/>
          <a:p>
            <a:pPr indent="0" marL="0">
              <a:buNone/>
            </a:pPr>
            <a:r>
              <a:rPr lang="en-US" sz="1100" b="1" dirty="0">
                <a:solidFill>
                  <a:schemeClr val="tx2"/>
                </a:solidFill>
              </a:rPr>
              <a:t>trusted sites checked daily</a:t>
            </a:r>
            <a:endParaRPr lang="en-US" sz="1100" dirty="0"/>
          </a:p>
        </p:txBody>
      </p:sp>
      <p:sp>
        <p:nvSpPr>
          <p:cNvPr id="30" name="Rule"/>
          <p:cNvSpPr/>
          <p:nvPr/>
        </p:nvSpPr>
        <p:spPr>
          <a:xfrm>
            <a:off x="8686800" y="4297680"/>
            <a:ext cx="2697480" cy="0"/>
          </a:xfrm>
          <a:prstGeom prst="line">
            <a:avLst/>
          </a:prstGeom>
          <a:noFill/>
          <a:ln w="9525">
            <a:solidFill>
              <a:srgbClr val="2A3346"/>
            </a:solidFill>
            <a:prstDash val="dash"/>
          </a:ln>
        </p:spPr>
        <p:txBody>
          <a:bodyPr/>
          <a:p/>
        </p:txBody>
      </p:sp>
      <p:sp>
        <p:nvSpPr>
          <p:cNvPr id="31" name="Contrast"/>
          <p:cNvSpPr txBox="1"/>
          <p:nvPr/>
        </p:nvSpPr>
        <p:spPr>
          <a:xfrm>
            <a:off x="8686800" y="4434840"/>
            <a:ext cx="2697480" cy="457200"/>
          </a:xfrm>
          <a:prstGeom prst="rect">
            <a:avLst/>
          </a:prstGeom>
          <a:noFill/>
          <a:ln/>
        </p:spPr>
        <p:txBody>
          <a:bodyPr wrap="square" lIns="0" tIns="0" rIns="0" bIns="0" rtlCol="0" anchor="t"/>
          <a:lstStyle/>
          <a:p>
            <a:pPr indent="0" marL="0">
              <a:buNone/>
            </a:pPr>
            <a:r>
              <a:rPr lang="en-US" sz="1150" b="1" dirty="0">
                <a:solidFill>
                  <a:schemeClr val="accent6"/>
                </a:solidFill>
              </a:rPr>
              <a:t>✕  </a:t>
            </a:r>
            <a:pPr indent="0" marL="0">
              <a:buNone/>
            </a:pPr>
            <a:r>
              <a:rPr lang="en-US" sz="1150" dirty="0">
                <a:solidFill>
                  <a:schemeClr val="bg2"/>
                </a:solidFill>
              </a:rPr>
              <a:t>Most tools: fixed data, updated by hand</a:t>
            </a:r>
            <a:endParaRPr lang="en-US" sz="1150" dirty="0"/>
          </a:p>
        </p:txBody>
      </p:sp>
      <p:sp>
        <p:nvSpPr>
          <p:cNvPr id="32" name="Audience"/>
          <p:cNvSpPr txBox="1"/>
          <p:nvPr/>
        </p:nvSpPr>
        <p:spPr>
          <a:xfrm>
            <a:off x="2743200" y="6080760"/>
            <a:ext cx="8686800" cy="274320"/>
          </a:xfrm>
          <a:prstGeom prst="rect">
            <a:avLst/>
          </a:prstGeom>
          <a:noFill/>
          <a:ln/>
        </p:spPr>
        <p:txBody>
          <a:bodyPr wrap="square" lIns="0" tIns="0" rIns="0" bIns="0" rtlCol="0" anchor="t"/>
          <a:lstStyle/>
          <a:p>
            <a:pPr indent="0" marL="0">
              <a:buNone/>
            </a:pPr>
            <a:r>
              <a:rPr lang="en-US" sz="1300" dirty="0">
                <a:solidFill>
                  <a:schemeClr val="bg2"/>
                </a:solidFill>
              </a:rPr>
              <a:t>For workers, graduates, career switchers, and the HR teams that guide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03</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03</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Live demo</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Watch Priya’s route change, live.</a:t>
            </a:r>
            <a:endParaRPr lang="en-US" sz="3200" dirty="0"/>
          </a:p>
        </p:txBody>
      </p:sp>
      <p:sp>
        <p:nvSpPr>
          <p:cNvPr id="6" name="Subtitle"/>
          <p:cNvSpPr txBox="1"/>
          <p:nvPr/>
        </p:nvSpPr>
        <p:spPr>
          <a:xfrm>
            <a:off x="2743200" y="1188720"/>
            <a:ext cx="7498080" cy="594360"/>
          </a:xfrm>
          <a:prstGeom prst="rect">
            <a:avLst/>
          </a:prstGeom>
          <a:noFill/>
          <a:ln/>
        </p:spPr>
        <p:txBody>
          <a:bodyPr wrap="square" lIns="0" tIns="0" rIns="0" bIns="0" rtlCol="0" anchor="t"/>
          <a:lstStyle/>
          <a:p>
            <a:pPr indent="0" marL="0">
              <a:buNone/>
            </a:pPr>
            <a:r>
              <a:rPr lang="en-US" sz="1400" dirty="0">
                <a:solidFill>
                  <a:schemeClr val="tx2"/>
                </a:solidFill>
              </a:rPr>
              <a:t>Four minutes in the real app: which of her skills AI takes, where she can move, how her plan is tested, and what happens when the news changes.</a:t>
            </a:r>
            <a:endParaRPr lang="en-US" sz="1400" dirty="0"/>
          </a:p>
        </p:txBody>
      </p:sp>
      <p:sp>
        <p:nvSpPr>
          <p:cNvPr id="7" name="Rule"/>
          <p:cNvSpPr/>
          <p:nvPr/>
        </p:nvSpPr>
        <p:spPr>
          <a:xfrm>
            <a:off x="2743200" y="2715768"/>
            <a:ext cx="8778240" cy="0"/>
          </a:xfrm>
          <a:prstGeom prst="line">
            <a:avLst/>
          </a:prstGeom>
          <a:noFill/>
          <a:ln w="15875">
            <a:solidFill>
              <a:srgbClr val="3A4458"/>
            </a:solidFill>
            <a:prstDash val="solid"/>
          </a:ln>
        </p:spPr>
        <p:txBody>
          <a:bodyPr/>
          <a:p/>
        </p:txBody>
      </p:sp>
      <p:sp>
        <p:nvSpPr>
          <p:cNvPr id="8" name="Time"/>
          <p:cNvSpPr txBox="1"/>
          <p:nvPr/>
        </p:nvSpPr>
        <p:spPr>
          <a:xfrm>
            <a:off x="2743200" y="233172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0:00</a:t>
            </a:r>
            <a:endParaRPr lang="en-US" sz="1100" dirty="0"/>
          </a:p>
        </p:txBody>
      </p:sp>
      <p:sp>
        <p:nvSpPr>
          <p:cNvPr id="9" name="Dot"/>
          <p:cNvSpPr/>
          <p:nvPr/>
        </p:nvSpPr>
        <p:spPr>
          <a:xfrm>
            <a:off x="2743200" y="2651760"/>
            <a:ext cx="137160" cy="137160"/>
          </a:xfrm>
          <a:prstGeom prst="ellipse">
            <a:avLst/>
          </a:prstGeom>
          <a:solidFill>
            <a:srgbClr val="05070D"/>
          </a:solidFill>
          <a:ln w="19050">
            <a:solidFill>
              <a:srgbClr val="5AA0F0"/>
            </a:solidFill>
            <a:prstDash val="solid"/>
          </a:ln>
        </p:spPr>
        <p:txBody>
          <a:bodyPr/>
          <a:p/>
        </p:txBody>
      </p:sp>
      <p:sp>
        <p:nvSpPr>
          <p:cNvPr id="10" name="Act"/>
          <p:cNvSpPr txBox="1"/>
          <p:nvPr/>
        </p:nvSpPr>
        <p:spPr>
          <a:xfrm>
            <a:off x="2743200"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Stay</a:t>
            </a:r>
            <a:endParaRPr lang="en-US" sz="1600" dirty="0"/>
          </a:p>
        </p:txBody>
      </p:sp>
      <p:sp>
        <p:nvSpPr>
          <p:cNvPr id="11" name="Act text"/>
          <p:cNvSpPr txBox="1"/>
          <p:nvPr/>
        </p:nvSpPr>
        <p:spPr>
          <a:xfrm>
            <a:off x="2743200"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Her CV goes in, her personal details come out. Which of her 10 skills AI puts at risk.</a:t>
            </a:r>
            <a:endParaRPr lang="en-US" sz="1250" dirty="0"/>
          </a:p>
        </p:txBody>
      </p:sp>
      <p:sp>
        <p:nvSpPr>
          <p:cNvPr id="12" name="Time"/>
          <p:cNvSpPr txBox="1"/>
          <p:nvPr/>
        </p:nvSpPr>
        <p:spPr>
          <a:xfrm>
            <a:off x="4965192" y="2331720"/>
            <a:ext cx="914400" cy="256032"/>
          </a:xfrm>
          <a:prstGeom prst="rect">
            <a:avLst/>
          </a:prstGeom>
          <a:noFill/>
          <a:ln/>
        </p:spPr>
        <p:txBody>
          <a:bodyPr wrap="square" lIns="0" tIns="0" rIns="0" bIns="0" rtlCol="0" anchor="t"/>
          <a:lstStyle/>
          <a:p>
            <a:pPr indent="0" marL="0">
              <a:buNone/>
            </a:pPr>
            <a:r>
              <a:rPr lang="en-US" sz="1100" b="1" dirty="0">
                <a:solidFill>
                  <a:schemeClr val="accent1"/>
                </a:solidFill>
              </a:rPr>
              <a:t>1:05</a:t>
            </a:r>
            <a:endParaRPr lang="en-US" sz="1100" dirty="0"/>
          </a:p>
        </p:txBody>
      </p:sp>
      <p:sp>
        <p:nvSpPr>
          <p:cNvPr id="13" name="Dot"/>
          <p:cNvSpPr/>
          <p:nvPr/>
        </p:nvSpPr>
        <p:spPr>
          <a:xfrm>
            <a:off x="4965192" y="2651760"/>
            <a:ext cx="137160" cy="137160"/>
          </a:xfrm>
          <a:prstGeom prst="ellipse">
            <a:avLst/>
          </a:prstGeom>
          <a:solidFill>
            <a:srgbClr val="05070D"/>
          </a:solidFill>
          <a:ln w="19050">
            <a:solidFill>
              <a:srgbClr val="FF7A3D"/>
            </a:solidFill>
            <a:prstDash val="solid"/>
          </a:ln>
        </p:spPr>
        <p:txBody>
          <a:bodyPr/>
          <a:p/>
        </p:txBody>
      </p:sp>
      <p:sp>
        <p:nvSpPr>
          <p:cNvPr id="14" name="Act"/>
          <p:cNvSpPr txBox="1"/>
          <p:nvPr/>
        </p:nvSpPr>
        <p:spPr>
          <a:xfrm>
            <a:off x="4965192"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Move</a:t>
            </a:r>
            <a:endParaRPr lang="en-US" sz="1600" dirty="0"/>
          </a:p>
        </p:txBody>
      </p:sp>
      <p:sp>
        <p:nvSpPr>
          <p:cNvPr id="15" name="Act text"/>
          <p:cNvSpPr txBox="1"/>
          <p:nvPr/>
        </p:nvSpPr>
        <p:spPr>
          <a:xfrm>
            <a:off x="4965192"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Her best job matches, a UN goal put first, and the route tested in 1,000 futures.</a:t>
            </a:r>
            <a:endParaRPr lang="en-US" sz="1250" dirty="0"/>
          </a:p>
        </p:txBody>
      </p:sp>
      <p:sp>
        <p:nvSpPr>
          <p:cNvPr id="16" name="Time"/>
          <p:cNvSpPr txBox="1"/>
          <p:nvPr/>
        </p:nvSpPr>
        <p:spPr>
          <a:xfrm>
            <a:off x="7187184" y="2331720"/>
            <a:ext cx="914400" cy="256032"/>
          </a:xfrm>
          <a:prstGeom prst="rect">
            <a:avLst/>
          </a:prstGeom>
          <a:noFill/>
          <a:ln/>
        </p:spPr>
        <p:txBody>
          <a:bodyPr wrap="square" lIns="0" tIns="0" rIns="0" bIns="0" rtlCol="0" anchor="t"/>
          <a:lstStyle/>
          <a:p>
            <a:pPr indent="0" marL="0">
              <a:buNone/>
            </a:pPr>
            <a:r>
              <a:rPr lang="en-US" sz="1100" b="1" dirty="0">
                <a:solidFill>
                  <a:schemeClr val="accent5"/>
                </a:solidFill>
              </a:rPr>
              <a:t>2:25</a:t>
            </a:r>
            <a:endParaRPr lang="en-US" sz="1100" dirty="0"/>
          </a:p>
        </p:txBody>
      </p:sp>
      <p:sp>
        <p:nvSpPr>
          <p:cNvPr id="17" name="Dot"/>
          <p:cNvSpPr/>
          <p:nvPr/>
        </p:nvSpPr>
        <p:spPr>
          <a:xfrm>
            <a:off x="7187184" y="2651760"/>
            <a:ext cx="137160" cy="137160"/>
          </a:xfrm>
          <a:prstGeom prst="ellipse">
            <a:avLst/>
          </a:prstGeom>
          <a:solidFill>
            <a:srgbClr val="05070D"/>
          </a:solidFill>
          <a:ln w="19050">
            <a:solidFill>
              <a:srgbClr val="F2B33D"/>
            </a:solidFill>
            <a:prstDash val="solid"/>
          </a:ln>
        </p:spPr>
        <p:txBody>
          <a:bodyPr/>
          <a:p/>
        </p:txBody>
      </p:sp>
      <p:sp>
        <p:nvSpPr>
          <p:cNvPr id="18" name="Act"/>
          <p:cNvSpPr txBox="1"/>
          <p:nvPr/>
        </p:nvSpPr>
        <p:spPr>
          <a:xfrm>
            <a:off x="7187184"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Updated</a:t>
            </a:r>
            <a:endParaRPr lang="en-US" sz="1600" dirty="0"/>
          </a:p>
        </p:txBody>
      </p:sp>
      <p:sp>
        <p:nvSpPr>
          <p:cNvPr id="19" name="Act text"/>
          <p:cNvSpPr txBox="1"/>
          <p:nvPr/>
        </p:nvSpPr>
        <p:spPr>
          <a:xfrm>
            <a:off x="7187184"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The news changes, three agents vote, and she chooses: keep my route, or switch.</a:t>
            </a:r>
            <a:endParaRPr lang="en-US" sz="1250" dirty="0"/>
          </a:p>
        </p:txBody>
      </p:sp>
      <p:sp>
        <p:nvSpPr>
          <p:cNvPr id="20" name="Time"/>
          <p:cNvSpPr txBox="1"/>
          <p:nvPr/>
        </p:nvSpPr>
        <p:spPr>
          <a:xfrm>
            <a:off x="9409176" y="2331720"/>
            <a:ext cx="914400" cy="256032"/>
          </a:xfrm>
          <a:prstGeom prst="rect">
            <a:avLst/>
          </a:prstGeom>
          <a:noFill/>
          <a:ln/>
        </p:spPr>
        <p:txBody>
          <a:bodyPr wrap="square" lIns="0" tIns="0" rIns="0" bIns="0" rtlCol="0" anchor="t"/>
          <a:lstStyle/>
          <a:p>
            <a:pPr indent="0" marL="0">
              <a:buNone/>
            </a:pPr>
            <a:r>
              <a:rPr lang="en-US" sz="1100" b="1" dirty="0">
                <a:solidFill>
                  <a:schemeClr val="accent4"/>
                </a:solidFill>
              </a:rPr>
              <a:t>3:20</a:t>
            </a:r>
            <a:endParaRPr lang="en-US" sz="1100" dirty="0"/>
          </a:p>
        </p:txBody>
      </p:sp>
      <p:sp>
        <p:nvSpPr>
          <p:cNvPr id="21" name="Dot"/>
          <p:cNvSpPr/>
          <p:nvPr/>
        </p:nvSpPr>
        <p:spPr>
          <a:xfrm>
            <a:off x="9409176" y="2651760"/>
            <a:ext cx="137160" cy="137160"/>
          </a:xfrm>
          <a:prstGeom prst="ellipse">
            <a:avLst/>
          </a:prstGeom>
          <a:solidFill>
            <a:srgbClr val="05070D"/>
          </a:solidFill>
          <a:ln w="19050">
            <a:solidFill>
              <a:srgbClr val="2FD4A0"/>
            </a:solidFill>
            <a:prstDash val="solid"/>
          </a:ln>
        </p:spPr>
        <p:txBody>
          <a:bodyPr/>
          <a:p/>
        </p:txBody>
      </p:sp>
      <p:sp>
        <p:nvSpPr>
          <p:cNvPr id="22" name="Act"/>
          <p:cNvSpPr txBox="1"/>
          <p:nvPr/>
        </p:nvSpPr>
        <p:spPr>
          <a:xfrm>
            <a:off x="9409176"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For everyone</a:t>
            </a:r>
            <a:endParaRPr lang="en-US" sz="1600" dirty="0"/>
          </a:p>
        </p:txBody>
      </p:sp>
      <p:sp>
        <p:nvSpPr>
          <p:cNvPr id="23" name="Act text"/>
          <p:cNvSpPr txBox="1"/>
          <p:nvPr/>
        </p:nvSpPr>
        <p:spPr>
          <a:xfrm>
            <a:off x="9409176"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The same app in Bahasa Melayu, and the whole journey from the keyboard.</a:t>
            </a:r>
            <a:endParaRPr lang="en-US" sz="1250" dirty="0"/>
          </a:p>
        </p:txBody>
      </p:sp>
      <p:sp>
        <p:nvSpPr>
          <p:cNvPr id="24" name="Button: Open the app  →">
            <a:hlinkClick r:id="rId1" tooltip=""/>
          </p:cNvPr>
          <p:cNvSpPr/>
          <p:nvPr/>
        </p:nvSpPr>
        <p:spPr>
          <a:xfrm>
            <a:off x="2743200" y="4754880"/>
            <a:ext cx="1828800" cy="457200"/>
          </a:xfrm>
          <a:prstGeom prst="roundRect">
            <a:avLst>
              <a:gd name="adj" fmla="val 50000"/>
            </a:avLst>
          </a:prstGeom>
          <a:solidFill>
            <a:srgbClr val="FF7A3D"/>
          </a:solidFill>
          <a:ln w="9525">
            <a:solidFill>
              <a:srgbClr val="FF7A3D"/>
            </a:solidFill>
          </a:ln>
        </p:spPr>
        <p:txBody>
          <a:bodyPr wrap="square" lIns="0" tIns="0" rIns="0" bIns="0" rtlCol="0" anchor="ctr"/>
          <a:lstStyle/>
          <a:p>
            <a:pPr algn="ctr" indent="0" marL="0">
              <a:buNone/>
            </a:pPr>
            <a:r>
              <a:rPr lang="en-US" sz="1300" b="1" dirty="0">
                <a:solidFill>
                  <a:srgbClr val="FFFFFF"/>
                </a:solidFill>
              </a:rPr>
              <a:t>Open the app  →</a:t>
            </a:r>
            <a:endParaRPr lang="en-US" sz="1300" dirty="0"/>
          </a:p>
        </p:txBody>
      </p:sp>
      <p:sp>
        <p:nvSpPr>
          <p:cNvPr id="25" name="App link">
            <a:hlinkClick r:id="rId2" tooltip=""/>
          </p:cNvPr>
          <p:cNvSpPr txBox="1"/>
          <p:nvPr/>
        </p:nvSpPr>
        <p:spPr>
          <a:xfrm>
            <a:off x="4800600" y="4864608"/>
            <a:ext cx="2286000" cy="274320"/>
          </a:xfrm>
          <a:prstGeom prst="rect">
            <a:avLst/>
          </a:prstGeom>
          <a:noFill/>
          <a:ln/>
        </p:spPr>
        <p:txBody>
          <a:bodyPr wrap="square" lIns="0" tIns="0" rIns="0" bIns="0" rtlCol="0" anchor="t"/>
          <a:lstStyle/>
          <a:p>
            <a:pPr indent="0" marL="0">
              <a:buNone/>
            </a:pPr>
            <a:r>
              <a:rPr lang="en-US" sz="12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halatuju.replit.app</a:t>
            </a:r>
            <a:endParaRPr lang="en-US" sz="1200" dirty="0"/>
          </a:p>
        </p:txBody>
      </p:sp>
      <p:sp>
        <p:nvSpPr>
          <p:cNvPr id="26" name="Backup video">
            <a:hlinkClick r:id="rId3" tooltip=""/>
          </p:cNvPr>
          <p:cNvSpPr txBox="1"/>
          <p:nvPr/>
        </p:nvSpPr>
        <p:spPr>
          <a:xfrm>
            <a:off x="9692640" y="4864608"/>
            <a:ext cx="1828800" cy="274320"/>
          </a:xfrm>
          <a:prstGeom prst="rect">
            <a:avLst/>
          </a:prstGeom>
          <a:noFill/>
          <a:ln/>
        </p:spPr>
        <p:txBody>
          <a:bodyPr wrap="square" lIns="0" tIns="0" rIns="0" bIns="0" rtlCol="0" anchor="t"/>
          <a:lstStyle/>
          <a:p>
            <a:pPr algn="r" indent="0" marL="0">
              <a:buNone/>
            </a:pPr>
            <a:r>
              <a:rPr lang="en-US" sz="1200" u="sng" dirty="0">
                <a:solidFill>
                  <a:schemeClr val="bg2"/>
                </a:solidFill>
                <a:hlinkClick r:id="rId3" invalidUrl="" action="" tgtFrame="" tooltip="" history="1" highlightClick="0" endSnd="0">
                  <a:extLst>
                    <a:ext uri="{A12FA001-AC4F-418D-AE19-62706E023703}">
                      <ahyp:hlinkClr xmlns:ahyp="http://schemas.microsoft.com/office/drawing/2018/hyperlinkcolor" val="tx"/>
                    </a:ext>
                  </a:extLst>
                </a:hlinkClick>
              </a:rPr>
              <a:t>Backup video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04</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04</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How well it works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Measured, not claimed.</a:t>
            </a:r>
            <a:endParaRPr lang="en-US" sz="3200" dirty="0"/>
          </a:p>
        </p:txBody>
      </p:sp>
      <p:sp>
        <p:nvSpPr>
          <p:cNvPr id="6" name="Subtitle"/>
          <p:cNvSpPr txBox="1"/>
          <p:nvPr/>
        </p:nvSpPr>
        <p:spPr>
          <a:xfrm>
            <a:off x="2743200" y="1188720"/>
            <a:ext cx="7863840" cy="594360"/>
          </a:xfrm>
          <a:prstGeom prst="rect">
            <a:avLst/>
          </a:prstGeom>
          <a:noFill/>
          <a:ln/>
        </p:spPr>
        <p:txBody>
          <a:bodyPr wrap="square" lIns="0" tIns="0" rIns="0" bIns="0" rtlCol="0" anchor="t"/>
          <a:lstStyle/>
          <a:p>
            <a:pPr indent="0" marL="0">
              <a:buNone/>
            </a:pPr>
            <a:r>
              <a:rPr lang="en-US" sz="1400" dirty="0">
                <a:solidFill>
                  <a:schemeClr val="tx2"/>
                </a:solidFill>
              </a:rPr>
              <a:t>We trained our own AI model and tested it on jobs it had never seen, then tested how well the app reads CVs. Where we fixed something, we show the first result too.</a:t>
            </a:r>
            <a:endParaRPr lang="en-US" sz="1400" dirty="0"/>
          </a:p>
        </p:txBody>
      </p:sp>
      <p:sp>
        <p:nvSpPr>
          <p:cNvPr id="7" name="Kicker"/>
          <p:cNvSpPr txBox="1"/>
          <p:nvPr/>
        </p:nvSpPr>
        <p:spPr>
          <a:xfrm>
            <a:off x="2743200" y="2194560"/>
            <a:ext cx="4572000" cy="228600"/>
          </a:xfrm>
          <a:prstGeom prst="rect">
            <a:avLst/>
          </a:prstGeom>
          <a:noFill/>
          <a:ln/>
        </p:spPr>
        <p:txBody>
          <a:bodyPr wrap="square" lIns="0" tIns="0" rIns="0" bIns="0" rtlCol="0" anchor="t"/>
          <a:lstStyle/>
          <a:p>
            <a:pPr indent="0" marL="0">
              <a:buNone/>
            </a:pPr>
            <a:r>
              <a:rPr lang="en-US" sz="1050" b="1" spc="100" kern="0" dirty="0">
                <a:solidFill>
                  <a:schemeClr val="bg2"/>
                </a:solidFill>
              </a:rPr>
              <a:t>OUR AI MODEL AGAINST HUMAN EXPERTS</a:t>
            </a:r>
            <a:endParaRPr lang="en-US" sz="1050" dirty="0"/>
          </a:p>
        </p:txBody>
      </p:sp>
      <p:sp>
        <p:nvSpPr>
          <p:cNvPr id="8" name="Headline result"/>
          <p:cNvSpPr txBox="1"/>
          <p:nvPr/>
        </p:nvSpPr>
        <p:spPr>
          <a:xfrm>
            <a:off x="2743200" y="2487168"/>
            <a:ext cx="1828800" cy="868680"/>
          </a:xfrm>
          <a:prstGeom prst="rect">
            <a:avLst/>
          </a:prstGeom>
          <a:noFill/>
          <a:ln/>
        </p:spPr>
        <p:txBody>
          <a:bodyPr wrap="square" lIns="0" tIns="0" rIns="0" bIns="0" rtlCol="0" anchor="t"/>
          <a:lstStyle/>
          <a:p>
            <a:pPr indent="0" marL="0">
              <a:buNone/>
            </a:pPr>
            <a:r>
              <a:rPr lang="en-US" sz="6000" b="1" dirty="0">
                <a:solidFill>
                  <a:schemeClr val="accent2"/>
                </a:solidFill>
              </a:rPr>
              <a:t>0.92</a:t>
            </a:r>
            <a:endParaRPr lang="en-US" sz="6000" dirty="0"/>
          </a:p>
        </p:txBody>
      </p:sp>
      <p:sp>
        <p:nvSpPr>
          <p:cNvPr id="9" name="Result label"/>
          <p:cNvSpPr txBox="1"/>
          <p:nvPr/>
        </p:nvSpPr>
        <p:spPr>
          <a:xfrm>
            <a:off x="4617720" y="2651760"/>
            <a:ext cx="2926080" cy="594360"/>
          </a:xfrm>
          <a:prstGeom prst="rect">
            <a:avLst/>
          </a:prstGeom>
          <a:noFill/>
          <a:ln/>
        </p:spPr>
        <p:txBody>
          <a:bodyPr wrap="square" lIns="0" tIns="0" rIns="0" bIns="0" rtlCol="0" anchor="t"/>
          <a:lstStyle/>
          <a:p>
            <a:pPr indent="0" marL="0">
              <a:buNone/>
            </a:pPr>
            <a:r>
              <a:rPr lang="en-US" sz="1300" dirty="0">
                <a:solidFill>
                  <a:schemeClr val="tx1"/>
                </a:solidFill>
              </a:rPr>
              <a:t>agreement on 185 jobs it had never seen</a:t>
            </a:r>
            <a:endParaRPr lang="en-US" sz="1300" dirty="0"/>
          </a:p>
          <a:p>
            <a:pPr indent="0" marL="0">
              <a:buNone/>
            </a:pPr>
            <a:r>
              <a:rPr lang="en-US" sz="1100" dirty="0">
                <a:solidFill>
                  <a:schemeClr val="bg2"/>
                </a:solidFill>
              </a:rPr>
              <a:t>1.0 means perfect agreement</a:t>
            </a:r>
            <a:endParaRPr lang="en-US" sz="1300" dirty="0"/>
          </a:p>
        </p:txBody>
      </p:sp>
      <p:graphicFrame>
        <p:nvGraphicFramePr>
          <p:cNvPr id="10" name="Chart: agreement with experts" descr=""/>
          <p:cNvGraphicFramePr/>
          <p:nvPr/>
        </p:nvGraphicFramePr>
        <p:xfrm>
          <a:off x="2651760" y="3429000"/>
          <a:ext cx="4617720" cy="1600200"/>
        </p:xfrm>
        <a:graphic xmlns:a="http://schemas.openxmlformats.org/drawingml/2006/main">
          <a:graphicData uri="http://schemas.openxmlformats.org/drawingml/2006/chart">
            <c:chart xmlns:c="http://schemas.openxmlformats.org/drawingml/2006/chart" r:id="rId1"/>
          </a:graphicData>
        </a:graphic>
      </p:graphicFrame>
      <p:sp>
        <p:nvSpPr>
          <p:cNvPr id="11" name="Chart note"/>
          <p:cNvSpPr txBox="1"/>
          <p:nvPr/>
        </p:nvSpPr>
        <p:spPr>
          <a:xfrm>
            <a:off x="2743200" y="5074920"/>
            <a:ext cx="4526280" cy="502920"/>
          </a:xfrm>
          <a:prstGeom prst="rect">
            <a:avLst/>
          </a:prstGeom>
          <a:noFill/>
          <a:ln/>
        </p:spPr>
        <p:txBody>
          <a:bodyPr wrap="square" lIns="0" tIns="0" rIns="0" bIns="0" rtlCol="0" anchor="t"/>
          <a:lstStyle/>
          <a:p>
            <a:pPr indent="0" marL="0">
              <a:buNone/>
            </a:pPr>
            <a:r>
              <a:rPr lang="en-US" sz="1050" dirty="0">
                <a:solidFill>
                  <a:schemeClr val="bg2"/>
                </a:solidFill>
              </a:rPr>
              <a:t>Scale starts at 0.80. Built on the EU’s list of 3,039 jobs and 13,939 skills. Against the ILO’s separate index of 2,956 jobs, never trained on: 0.79.</a:t>
            </a:r>
            <a:endParaRPr lang="en-US" sz="1050" dirty="0"/>
          </a:p>
        </p:txBody>
      </p:sp>
      <p:sp>
        <p:nvSpPr>
          <p:cNvPr id="12" name="Divider"/>
          <p:cNvSpPr/>
          <p:nvPr/>
        </p:nvSpPr>
        <p:spPr>
          <a:xfrm>
            <a:off x="7498080" y="2194560"/>
            <a:ext cx="0" cy="3383280"/>
          </a:xfrm>
          <a:prstGeom prst="line">
            <a:avLst/>
          </a:prstGeom>
          <a:noFill/>
          <a:ln w="9525">
            <a:solidFill>
              <a:srgbClr val="2A3346"/>
            </a:solidFill>
            <a:prstDash val="solid"/>
          </a:ln>
        </p:spPr>
        <p:txBody>
          <a:bodyPr/>
          <a:p/>
        </p:txBody>
      </p:sp>
      <p:sp>
        <p:nvSpPr>
          <p:cNvPr id="13" name="Kicker"/>
          <p:cNvSpPr txBox="1"/>
          <p:nvPr/>
        </p:nvSpPr>
        <p:spPr>
          <a:xfrm>
            <a:off x="7818120" y="2194560"/>
            <a:ext cx="3566160" cy="228600"/>
          </a:xfrm>
          <a:prstGeom prst="rect">
            <a:avLst/>
          </a:prstGeom>
          <a:noFill/>
          <a:ln/>
        </p:spPr>
        <p:txBody>
          <a:bodyPr wrap="square" lIns="0" tIns="0" rIns="0" bIns="0" rtlCol="0" anchor="t"/>
          <a:lstStyle/>
          <a:p>
            <a:pPr indent="0" marL="0">
              <a:buNone/>
            </a:pPr>
            <a:r>
              <a:rPr lang="en-US" sz="1050" b="1" spc="100" kern="0" dirty="0">
                <a:solidFill>
                  <a:schemeClr val="bg2"/>
                </a:solidFill>
              </a:rPr>
              <a:t>READING CVS AND QUALITY</a:t>
            </a:r>
            <a:endParaRPr lang="en-US" sz="1050" dirty="0"/>
          </a:p>
        </p:txBody>
      </p:sp>
      <p:sp>
        <p:nvSpPr>
          <p:cNvPr id="14" name="Quality number"/>
          <p:cNvSpPr txBox="1"/>
          <p:nvPr/>
        </p:nvSpPr>
        <p:spPr>
          <a:xfrm>
            <a:off x="7818120" y="2560320"/>
            <a:ext cx="1600200" cy="457200"/>
          </a:xfrm>
          <a:prstGeom prst="rect">
            <a:avLst/>
          </a:prstGeom>
          <a:noFill/>
          <a:ln/>
        </p:spPr>
        <p:txBody>
          <a:bodyPr wrap="square" lIns="0" tIns="0" rIns="0" bIns="0" rtlCol="0" anchor="t"/>
          <a:lstStyle/>
          <a:p>
            <a:pPr indent="0" marL="0">
              <a:buNone/>
            </a:pPr>
            <a:r>
              <a:rPr lang="en-US" sz="2400" b="1" dirty="0">
                <a:solidFill>
                  <a:schemeClr val="accent4"/>
                </a:solidFill>
              </a:rPr>
              <a:t>35</a:t>
            </a:r>
            <a:pPr indent="0" marL="0">
              <a:buNone/>
            </a:pPr>
            <a:r>
              <a:rPr lang="en-US" sz="1100" dirty="0">
                <a:solidFill>
                  <a:schemeClr val="bg2"/>
                </a:solidFill>
              </a:rPr>
              <a:t> of 36</a:t>
            </a:r>
            <a:endParaRPr lang="en-US" sz="2400" dirty="0"/>
          </a:p>
        </p:txBody>
      </p:sp>
      <p:sp>
        <p:nvSpPr>
          <p:cNvPr id="15" name="Quality text"/>
          <p:cNvSpPr txBox="1"/>
          <p:nvPr/>
        </p:nvSpPr>
        <p:spPr>
          <a:xfrm>
            <a:off x="9464040" y="2560320"/>
            <a:ext cx="2194560" cy="685800"/>
          </a:xfrm>
          <a:prstGeom prst="rect">
            <a:avLst/>
          </a:prstGeom>
          <a:noFill/>
          <a:ln/>
        </p:spPr>
        <p:txBody>
          <a:bodyPr wrap="square" lIns="0" tIns="0" rIns="0" bIns="0" rtlCol="0" anchor="t"/>
          <a:lstStyle/>
          <a:p>
            <a:pPr indent="0" marL="0">
              <a:buNone/>
            </a:pPr>
            <a:r>
              <a:rPr lang="en-US" sz="1250" b="1" dirty="0">
                <a:solidFill>
                  <a:schemeClr val="tx1"/>
                </a:solidFill>
              </a:rPr>
              <a:t>Current job read correctly</a:t>
            </a:r>
            <a:endParaRPr lang="en-US" sz="1250" dirty="0"/>
          </a:p>
          <a:p>
            <a:pPr indent="0" marL="0">
              <a:buNone/>
            </a:pPr>
            <a:r>
              <a:rPr lang="en-US" sz="1050" dirty="0">
                <a:solidFill>
                  <a:schemeClr val="bg2"/>
                </a:solidFill>
              </a:rPr>
              <a:t>36 test CVs, 24 Oct 2026</a:t>
            </a:r>
            <a:endParaRPr lang="en-US" sz="1250" dirty="0"/>
          </a:p>
        </p:txBody>
      </p:sp>
      <p:sp>
        <p:nvSpPr>
          <p:cNvPr id="16" name="Quality number"/>
          <p:cNvSpPr txBox="1"/>
          <p:nvPr/>
        </p:nvSpPr>
        <p:spPr>
          <a:xfrm>
            <a:off x="7818120" y="3319272"/>
            <a:ext cx="1600200" cy="457200"/>
          </a:xfrm>
          <a:prstGeom prst="rect">
            <a:avLst/>
          </a:prstGeom>
          <a:noFill/>
          <a:ln/>
        </p:spPr>
        <p:txBody>
          <a:bodyPr wrap="square" lIns="0" tIns="0" rIns="0" bIns="0" rtlCol="0" anchor="t"/>
          <a:lstStyle/>
          <a:p>
            <a:pPr indent="0" marL="0">
              <a:buNone/>
            </a:pPr>
            <a:r>
              <a:rPr lang="en-US" sz="2400" b="1" dirty="0">
                <a:solidFill>
                  <a:schemeClr val="accent1"/>
                </a:solidFill>
              </a:rPr>
              <a:t>154</a:t>
            </a:r>
            <a:pPr indent="0" marL="0">
              <a:buNone/>
            </a:pPr>
            <a:r>
              <a:rPr lang="en-US" sz="1100" dirty="0">
                <a:solidFill>
                  <a:schemeClr val="bg2"/>
                </a:solidFill>
              </a:rPr>
              <a:t> of 155</a:t>
            </a:r>
            <a:endParaRPr lang="en-US" sz="2400" dirty="0"/>
          </a:p>
        </p:txBody>
      </p:sp>
      <p:sp>
        <p:nvSpPr>
          <p:cNvPr id="17" name="Quality text"/>
          <p:cNvSpPr txBox="1"/>
          <p:nvPr/>
        </p:nvSpPr>
        <p:spPr>
          <a:xfrm>
            <a:off x="9464040" y="3319272"/>
            <a:ext cx="2194560" cy="685800"/>
          </a:xfrm>
          <a:prstGeom prst="rect">
            <a:avLst/>
          </a:prstGeom>
          <a:noFill/>
          <a:ln/>
        </p:spPr>
        <p:txBody>
          <a:bodyPr wrap="square" lIns="0" tIns="0" rIns="0" bIns="0" rtlCol="0" anchor="t"/>
          <a:lstStyle/>
          <a:p>
            <a:pPr indent="0" marL="0">
              <a:buNone/>
            </a:pPr>
            <a:r>
              <a:rPr lang="en-US" sz="1250" b="1" dirty="0">
                <a:solidFill>
                  <a:schemeClr val="tx1"/>
                </a:solidFill>
              </a:rPr>
              <a:t>Personal details removed first</a:t>
            </a:r>
            <a:endParaRPr lang="en-US" sz="1250" dirty="0"/>
          </a:p>
          <a:p>
            <a:pPr indent="0" marL="0">
              <a:buNone/>
            </a:pPr>
            <a:r>
              <a:rPr lang="en-US" sz="1050" dirty="0">
                <a:solidFill>
                  <a:schemeClr val="bg2"/>
                </a:solidFill>
              </a:rPr>
              <a:t>before any AI reads the CV; 128 of 155 on the first test</a:t>
            </a:r>
            <a:endParaRPr lang="en-US" sz="1250" dirty="0"/>
          </a:p>
        </p:txBody>
      </p:sp>
      <p:sp>
        <p:nvSpPr>
          <p:cNvPr id="18" name="Quality number"/>
          <p:cNvSpPr txBox="1"/>
          <p:nvPr/>
        </p:nvSpPr>
        <p:spPr>
          <a:xfrm>
            <a:off x="7818120" y="4078224"/>
            <a:ext cx="1600200" cy="457200"/>
          </a:xfrm>
          <a:prstGeom prst="rect">
            <a:avLst/>
          </a:prstGeom>
          <a:noFill/>
          <a:ln/>
        </p:spPr>
        <p:txBody>
          <a:bodyPr wrap="square" lIns="0" tIns="0" rIns="0" bIns="0" rtlCol="0" anchor="t"/>
          <a:lstStyle/>
          <a:p>
            <a:pPr indent="0" marL="0">
              <a:buNone/>
            </a:pPr>
            <a:r>
              <a:rPr lang="en-US" sz="2400" b="1" dirty="0">
                <a:solidFill>
                  <a:schemeClr val="accent2"/>
                </a:solidFill>
              </a:rPr>
              <a:t>95–100%</a:t>
            </a:r>
            <a:pPr indent="0" marL="0">
              <a:buNone/>
            </a:pPr>
            <a:endParaRPr lang="en-US" sz="2400" dirty="0"/>
          </a:p>
        </p:txBody>
      </p:sp>
      <p:sp>
        <p:nvSpPr>
          <p:cNvPr id="19" name="Quality text"/>
          <p:cNvSpPr txBox="1"/>
          <p:nvPr/>
        </p:nvSpPr>
        <p:spPr>
          <a:xfrm>
            <a:off x="9464040" y="4078224"/>
            <a:ext cx="2194560" cy="685800"/>
          </a:xfrm>
          <a:prstGeom prst="rect">
            <a:avLst/>
          </a:prstGeom>
          <a:noFill/>
          <a:ln/>
        </p:spPr>
        <p:txBody>
          <a:bodyPr wrap="square" lIns="0" tIns="0" rIns="0" bIns="0" rtlCol="0" anchor="t"/>
          <a:lstStyle/>
          <a:p>
            <a:pPr indent="0" marL="0">
              <a:buNone/>
            </a:pPr>
            <a:r>
              <a:rPr lang="en-US" sz="1250" b="1" dirty="0">
                <a:solidFill>
                  <a:schemeClr val="tx1"/>
                </a:solidFill>
              </a:rPr>
              <a:t>Right job in the top 3, no CV</a:t>
            </a:r>
            <a:endParaRPr lang="en-US" sz="1250" dirty="0"/>
          </a:p>
          <a:p>
            <a:pPr indent="0" marL="0">
              <a:buNone/>
            </a:pPr>
            <a:r>
              <a:rPr lang="en-US" sz="1050" dirty="0">
                <a:solidFill>
                  <a:schemeClr val="bg2"/>
                </a:solidFill>
              </a:rPr>
              <a:t>from a few questions; finance, sales, IT</a:t>
            </a:r>
            <a:endParaRPr lang="en-US" sz="1250" dirty="0"/>
          </a:p>
        </p:txBody>
      </p:sp>
      <p:sp>
        <p:nvSpPr>
          <p:cNvPr id="20" name="Quality number"/>
          <p:cNvSpPr txBox="1"/>
          <p:nvPr/>
        </p:nvSpPr>
        <p:spPr>
          <a:xfrm>
            <a:off x="7818120" y="4837176"/>
            <a:ext cx="1600200" cy="457200"/>
          </a:xfrm>
          <a:prstGeom prst="rect">
            <a:avLst/>
          </a:prstGeom>
          <a:noFill/>
          <a:ln/>
        </p:spPr>
        <p:txBody>
          <a:bodyPr wrap="square" lIns="0" tIns="0" rIns="0" bIns="0" rtlCol="0" anchor="t"/>
          <a:lstStyle/>
          <a:p>
            <a:pPr indent="0" marL="0">
              <a:buNone/>
            </a:pPr>
            <a:r>
              <a:rPr lang="en-US" sz="2400" b="1" dirty="0">
                <a:solidFill>
                  <a:schemeClr val="accent3"/>
                </a:solidFill>
              </a:rPr>
              <a:t>543</a:t>
            </a:r>
            <a:pPr indent="0" marL="0">
              <a:buNone/>
            </a:pPr>
            <a:endParaRPr lang="en-US" sz="2400" dirty="0"/>
          </a:p>
        </p:txBody>
      </p:sp>
      <p:sp>
        <p:nvSpPr>
          <p:cNvPr id="21" name="Quality text"/>
          <p:cNvSpPr txBox="1"/>
          <p:nvPr/>
        </p:nvSpPr>
        <p:spPr>
          <a:xfrm>
            <a:off x="9464040" y="4837176"/>
            <a:ext cx="2194560" cy="685800"/>
          </a:xfrm>
          <a:prstGeom prst="rect">
            <a:avLst/>
          </a:prstGeom>
          <a:noFill/>
          <a:ln/>
        </p:spPr>
        <p:txBody>
          <a:bodyPr wrap="square" lIns="0" tIns="0" rIns="0" bIns="0" rtlCol="0" anchor="t"/>
          <a:lstStyle/>
          <a:p>
            <a:pPr indent="0" marL="0">
              <a:buNone/>
            </a:pPr>
            <a:r>
              <a:rPr lang="en-US" sz="1250" b="1" dirty="0">
                <a:solidFill>
                  <a:schemeClr val="tx1"/>
                </a:solidFill>
              </a:rPr>
              <a:t>Automated tests</a:t>
            </a:r>
            <a:endParaRPr lang="en-US" sz="1250" dirty="0"/>
          </a:p>
          <a:p>
            <a:pPr indent="0" marL="0">
              <a:buNone/>
            </a:pPr>
            <a:r>
              <a:rPr lang="en-US" sz="1050" dirty="0">
                <a:solidFill>
                  <a:schemeClr val="bg2"/>
                </a:solidFill>
              </a:rPr>
              <a:t>run on every code update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05</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05</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How plans stay current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How your plan stays up to date when AI changes jobs.</a:t>
            </a:r>
            <a:endParaRPr lang="en-US" sz="3200" dirty="0"/>
          </a:p>
        </p:txBody>
      </p:sp>
      <p:sp>
        <p:nvSpPr>
          <p:cNvPr id="6" name="Subtitle"/>
          <p:cNvSpPr txBox="1"/>
          <p:nvPr/>
        </p:nvSpPr>
        <p:spPr>
          <a:xfrm>
            <a:off x="2743200" y="1645920"/>
            <a:ext cx="8897112" cy="320040"/>
          </a:xfrm>
          <a:prstGeom prst="rect">
            <a:avLst/>
          </a:prstGeom>
          <a:noFill/>
          <a:ln/>
        </p:spPr>
        <p:txBody>
          <a:bodyPr wrap="square" lIns="0" tIns="0" rIns="0" bIns="0" rtlCol="0" anchor="t"/>
          <a:lstStyle/>
          <a:p>
            <a:pPr indent="0" marL="0">
              <a:buNone/>
            </a:pPr>
            <a:r>
              <a:rPr lang="en-US" sz="1400" dirty="0">
                <a:solidFill>
                  <a:schemeClr val="tx2"/>
                </a:solidFill>
              </a:rPr>
              <a:t>Agents read and vote. Fixed formulas, not AI, set every number, so each change can be undone.</a:t>
            </a:r>
            <a:endParaRPr lang="en-US" sz="1400" dirty="0"/>
          </a:p>
        </p:txBody>
      </p:sp>
      <p:sp>
        <p:nvSpPr>
          <p:cNvPr id="7" name="Rule"/>
          <p:cNvSpPr/>
          <p:nvPr/>
        </p:nvSpPr>
        <p:spPr>
          <a:xfrm>
            <a:off x="2926080" y="2459736"/>
            <a:ext cx="7132320" cy="0"/>
          </a:xfrm>
          <a:prstGeom prst="line">
            <a:avLst/>
          </a:prstGeom>
          <a:noFill/>
          <a:ln w="15875">
            <a:solidFill>
              <a:srgbClr val="3A4458"/>
            </a:solidFill>
            <a:prstDash val="solid"/>
          </a:ln>
        </p:spPr>
        <p:txBody>
          <a:bodyPr/>
          <a:p/>
        </p:txBody>
      </p:sp>
      <p:sp>
        <p:nvSpPr>
          <p:cNvPr id="8" name="Step 1"/>
          <p:cNvSpPr/>
          <p:nvPr/>
        </p:nvSpPr>
        <p:spPr>
          <a:xfrm>
            <a:off x="2743200" y="2286000"/>
            <a:ext cx="347472" cy="347472"/>
          </a:xfrm>
          <a:prstGeom prst="ellipse">
            <a:avLst/>
          </a:prstGeom>
          <a:solidFill>
            <a:srgbClr val="05070D"/>
          </a:solidFill>
          <a:ln w="19050">
            <a:solidFill>
              <a:srgbClr val="5AA0F0"/>
            </a:solid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9" name="Step title"/>
          <p:cNvSpPr txBox="1"/>
          <p:nvPr/>
        </p:nvSpPr>
        <p:spPr>
          <a:xfrm>
            <a:off x="274320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Read</a:t>
            </a:r>
            <a:endParaRPr lang="en-US" sz="1500" dirty="0"/>
          </a:p>
        </p:txBody>
      </p:sp>
      <p:sp>
        <p:nvSpPr>
          <p:cNvPr id="10" name="Step text"/>
          <p:cNvSpPr txBox="1"/>
          <p:nvPr/>
        </p:nvSpPr>
        <p:spPr>
          <a:xfrm>
            <a:off x="274320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74 trusted sites, daily</a:t>
            </a:r>
            <a:endParaRPr lang="en-US" sz="1100" dirty="0"/>
          </a:p>
        </p:txBody>
      </p:sp>
      <p:sp>
        <p:nvSpPr>
          <p:cNvPr id="11" name="Step 2"/>
          <p:cNvSpPr/>
          <p:nvPr/>
        </p:nvSpPr>
        <p:spPr>
          <a:xfrm>
            <a:off x="4526280" y="2286000"/>
            <a:ext cx="347472" cy="347472"/>
          </a:xfrm>
          <a:prstGeom prst="ellipse">
            <a:avLst/>
          </a:prstGeom>
          <a:solidFill>
            <a:srgbClr val="05070D"/>
          </a:solidFill>
          <a:ln w="19050">
            <a:solidFill>
              <a:srgbClr val="5AA0F0"/>
            </a:solidFill>
          </a:ln>
        </p:spPr>
        <p:txBody>
          <a:bodyPr wrap="square" lIns="0" tIns="0" rIns="0" bIns="0" rtlCol="0" anchor="ctr"/>
          <a:lstStyle/>
          <a:p>
            <a:pPr algn="ctr" indent="0" marL="0">
              <a:buNone/>
            </a:pPr>
            <a:r>
              <a:rPr lang="en-US" sz="1200" b="1" dirty="0">
                <a:solidFill>
                  <a:schemeClr val="accent2"/>
                </a:solidFill>
              </a:rPr>
              <a:t>2</a:t>
            </a:r>
            <a:endParaRPr lang="en-US" sz="1200" dirty="0"/>
          </a:p>
        </p:txBody>
      </p:sp>
      <p:sp>
        <p:nvSpPr>
          <p:cNvPr id="12" name="Step title"/>
          <p:cNvSpPr txBox="1"/>
          <p:nvPr/>
        </p:nvSpPr>
        <p:spPr>
          <a:xfrm>
            <a:off x="452628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Check</a:t>
            </a:r>
            <a:endParaRPr lang="en-US" sz="1500" dirty="0"/>
          </a:p>
        </p:txBody>
      </p:sp>
      <p:sp>
        <p:nvSpPr>
          <p:cNvPr id="13" name="Step text"/>
          <p:cNvSpPr txBox="1"/>
          <p:nvPr/>
        </p:nvSpPr>
        <p:spPr>
          <a:xfrm>
            <a:off x="452628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quote must be on the page</a:t>
            </a:r>
            <a:endParaRPr lang="en-US" sz="1100" dirty="0"/>
          </a:p>
        </p:txBody>
      </p:sp>
      <p:sp>
        <p:nvSpPr>
          <p:cNvPr id="14" name="Step 3"/>
          <p:cNvSpPr/>
          <p:nvPr/>
        </p:nvSpPr>
        <p:spPr>
          <a:xfrm>
            <a:off x="6309360" y="2286000"/>
            <a:ext cx="347472" cy="347472"/>
          </a:xfrm>
          <a:prstGeom prst="ellipse">
            <a:avLst/>
          </a:prstGeom>
          <a:solidFill>
            <a:srgbClr val="2FD4A0"/>
          </a:solidFill>
          <a:ln w="19050">
            <a:solidFill>
              <a:srgbClr val="2FD4A0"/>
            </a:solidFill>
          </a:ln>
        </p:spPr>
        <p:txBody>
          <a:bodyPr wrap="square" lIns="0" tIns="0" rIns="0" bIns="0" rtlCol="0" anchor="ctr"/>
          <a:lstStyle/>
          <a:p>
            <a:pPr algn="ctr" indent="0" marL="0">
              <a:buNone/>
            </a:pPr>
            <a:r>
              <a:rPr lang="en-US" sz="1200" b="1" dirty="0">
                <a:solidFill>
                  <a:srgbClr val="05070D"/>
                </a:solidFill>
              </a:rPr>
              <a:t>3</a:t>
            </a:r>
            <a:endParaRPr lang="en-US" sz="1200" dirty="0"/>
          </a:p>
        </p:txBody>
      </p:sp>
      <p:sp>
        <p:nvSpPr>
          <p:cNvPr id="15" name="Step title"/>
          <p:cNvSpPr txBox="1"/>
          <p:nvPr/>
        </p:nvSpPr>
        <p:spPr>
          <a:xfrm>
            <a:off x="630936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Vote</a:t>
            </a:r>
            <a:endParaRPr lang="en-US" sz="1500" dirty="0"/>
          </a:p>
        </p:txBody>
      </p:sp>
      <p:sp>
        <p:nvSpPr>
          <p:cNvPr id="16" name="Step text"/>
          <p:cNvSpPr txBox="1"/>
          <p:nvPr/>
        </p:nvSpPr>
        <p:spPr>
          <a:xfrm>
            <a:off x="630936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three agents, two vendors</a:t>
            </a:r>
            <a:endParaRPr lang="en-US" sz="1100" dirty="0"/>
          </a:p>
        </p:txBody>
      </p:sp>
      <p:sp>
        <p:nvSpPr>
          <p:cNvPr id="17" name="Step 4"/>
          <p:cNvSpPr/>
          <p:nvPr/>
        </p:nvSpPr>
        <p:spPr>
          <a:xfrm>
            <a:off x="8092440" y="2286000"/>
            <a:ext cx="347472" cy="347472"/>
          </a:xfrm>
          <a:prstGeom prst="ellipse">
            <a:avLst/>
          </a:prstGeom>
          <a:solidFill>
            <a:srgbClr val="F2B33D"/>
          </a:solidFill>
          <a:ln w="19050">
            <a:solidFill>
              <a:srgbClr val="F2B33D"/>
            </a:solidFill>
          </a:ln>
        </p:spPr>
        <p:txBody>
          <a:bodyPr wrap="square" lIns="0" tIns="0" rIns="0" bIns="0" rtlCol="0" anchor="ctr"/>
          <a:lstStyle/>
          <a:p>
            <a:pPr algn="ctr" indent="0" marL="0">
              <a:buNone/>
            </a:pPr>
            <a:r>
              <a:rPr lang="en-US" sz="1200" b="1" dirty="0">
                <a:solidFill>
                  <a:srgbClr val="05070D"/>
                </a:solidFill>
              </a:rPr>
              <a:t>4</a:t>
            </a:r>
            <a:endParaRPr lang="en-US" sz="1200" dirty="0"/>
          </a:p>
        </p:txBody>
      </p:sp>
      <p:sp>
        <p:nvSpPr>
          <p:cNvPr id="18" name="Step title"/>
          <p:cNvSpPr txBox="1"/>
          <p:nvPr/>
        </p:nvSpPr>
        <p:spPr>
          <a:xfrm>
            <a:off x="809244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Decide</a:t>
            </a:r>
            <a:endParaRPr lang="en-US" sz="1500" dirty="0"/>
          </a:p>
        </p:txBody>
      </p:sp>
      <p:sp>
        <p:nvSpPr>
          <p:cNvPr id="19" name="Step text"/>
          <p:cNvSpPr txBox="1"/>
          <p:nvPr/>
        </p:nvSpPr>
        <p:spPr>
          <a:xfrm>
            <a:off x="809244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a fixed rule, not a model</a:t>
            </a:r>
            <a:endParaRPr lang="en-US" sz="1100" dirty="0"/>
          </a:p>
        </p:txBody>
      </p:sp>
      <p:sp>
        <p:nvSpPr>
          <p:cNvPr id="20" name="Step 5"/>
          <p:cNvSpPr/>
          <p:nvPr/>
        </p:nvSpPr>
        <p:spPr>
          <a:xfrm>
            <a:off x="9875520" y="2286000"/>
            <a:ext cx="347472" cy="347472"/>
          </a:xfrm>
          <a:prstGeom prst="ellipse">
            <a:avLst/>
          </a:prstGeom>
          <a:solidFill>
            <a:srgbClr val="05070D"/>
          </a:solidFill>
          <a:ln w="19050">
            <a:solidFill>
              <a:srgbClr val="FF7A3D"/>
            </a:solid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21" name="Step title"/>
          <p:cNvSpPr txBox="1"/>
          <p:nvPr/>
        </p:nvSpPr>
        <p:spPr>
          <a:xfrm>
            <a:off x="987552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You choose</a:t>
            </a:r>
            <a:endParaRPr lang="en-US" sz="1500" dirty="0"/>
          </a:p>
        </p:txBody>
      </p:sp>
      <p:sp>
        <p:nvSpPr>
          <p:cNvPr id="22" name="Step text"/>
          <p:cNvSpPr txBox="1"/>
          <p:nvPr/>
        </p:nvSpPr>
        <p:spPr>
          <a:xfrm>
            <a:off x="987552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keep my route, or switch</a:t>
            </a:r>
            <a:endParaRPr lang="en-US" sz="1100" dirty="0"/>
          </a:p>
        </p:txBody>
      </p:sp>
      <p:sp>
        <p:nvSpPr>
          <p:cNvPr id="23" name="Vote panel"/>
          <p:cNvSpPr/>
          <p:nvPr/>
        </p:nvSpPr>
        <p:spPr>
          <a:xfrm>
            <a:off x="2743200" y="3547872"/>
            <a:ext cx="5029200" cy="2807208"/>
          </a:xfrm>
          <a:prstGeom prst="roundRect">
            <a:avLst>
              <a:gd name="adj" fmla="val 2606"/>
            </a:avLst>
          </a:prstGeom>
          <a:solidFill>
            <a:srgbClr val="0A101C">
              <a:alpha val="92000"/>
            </a:srgbClr>
          </a:solidFill>
          <a:ln w="9525">
            <a:solidFill>
              <a:srgbClr val="2A3346"/>
            </a:solidFill>
            <a:prstDash val="solid"/>
          </a:ln>
        </p:spPr>
        <p:txBody>
          <a:bodyPr/>
          <a:p/>
        </p:txBody>
      </p:sp>
      <p:sp>
        <p:nvSpPr>
          <p:cNvPr id="24" name="Panel label"/>
          <p:cNvSpPr txBox="1"/>
          <p:nvPr/>
        </p:nvSpPr>
        <p:spPr>
          <a:xfrm>
            <a:off x="2907792" y="3648456"/>
            <a:ext cx="2286000" cy="201168"/>
          </a:xfrm>
          <a:prstGeom prst="rect">
            <a:avLst/>
          </a:prstGeom>
          <a:noFill/>
          <a:ln/>
        </p:spPr>
        <p:txBody>
          <a:bodyPr wrap="square" lIns="0" tIns="0" rIns="0" bIns="0" rtlCol="0" anchor="t"/>
          <a:lstStyle/>
          <a:p>
            <a:pPr indent="0" marL="0">
              <a:buNone/>
            </a:pPr>
            <a:r>
              <a:rPr lang="en-US" sz="1000" b="1" spc="100" kern="0" dirty="0">
                <a:solidFill>
                  <a:schemeClr val="tx1"/>
                </a:solidFill>
              </a:rPr>
              <a:t>STEP 3 · VOTE</a:t>
            </a:r>
            <a:endParaRPr lang="en-US" sz="1000" dirty="0"/>
          </a:p>
        </p:txBody>
      </p:sp>
      <p:sp>
        <p:nvSpPr>
          <p:cNvPr id="25" name="Panel note"/>
          <p:cNvSpPr txBox="1"/>
          <p:nvPr/>
        </p:nvSpPr>
        <p:spPr>
          <a:xfrm>
            <a:off x="5120640" y="3648456"/>
            <a:ext cx="2487168" cy="201168"/>
          </a:xfrm>
          <a:prstGeom prst="rect">
            <a:avLst/>
          </a:prstGeom>
          <a:noFill/>
          <a:ln/>
        </p:spPr>
        <p:txBody>
          <a:bodyPr wrap="square" lIns="0" tIns="0" rIns="0" bIns="0" rtlCol="0" anchor="t"/>
          <a:lstStyle/>
          <a:p>
            <a:pPr algn="r" indent="0" marL="0">
              <a:buNone/>
            </a:pPr>
            <a:r>
              <a:rPr lang="en-US" sz="1000" spc="100" kern="0" dirty="0">
                <a:solidFill>
                  <a:schemeClr val="bg2"/>
                </a:solidFill>
              </a:rPr>
              <a:t>THREE AGENTS, TWO VENDORS</a:t>
            </a:r>
            <a:endParaRPr lang="en-US" sz="1000" dirty="0"/>
          </a:p>
        </p:txBody>
      </p:sp>
      <p:sp>
        <p:nvSpPr>
          <p:cNvPr id="26" name="Rule"/>
          <p:cNvSpPr/>
          <p:nvPr/>
        </p:nvSpPr>
        <p:spPr>
          <a:xfrm>
            <a:off x="2743200" y="3931920"/>
            <a:ext cx="5029200" cy="0"/>
          </a:xfrm>
          <a:prstGeom prst="line">
            <a:avLst/>
          </a:prstGeom>
          <a:noFill/>
          <a:ln w="9525">
            <a:solidFill>
              <a:srgbClr val="2A3346"/>
            </a:solidFill>
            <a:prstDash val="solid"/>
          </a:ln>
        </p:spPr>
        <p:txBody>
          <a:bodyPr/>
          <a:p/>
        </p:txBody>
      </p:sp>
      <p:sp>
        <p:nvSpPr>
          <p:cNvPr id="27" name="Example finding"/>
          <p:cNvSpPr txBox="1"/>
          <p:nvPr/>
        </p:nvSpPr>
        <p:spPr>
          <a:xfrm>
            <a:off x="2907792" y="4023360"/>
            <a:ext cx="4754880" cy="274320"/>
          </a:xfrm>
          <a:prstGeom prst="rect">
            <a:avLst/>
          </a:prstGeom>
          <a:noFill/>
          <a:ln/>
        </p:spPr>
        <p:txBody>
          <a:bodyPr wrap="square" lIns="0" tIns="0" rIns="0" bIns="0" rtlCol="0" anchor="t"/>
          <a:lstStyle/>
          <a:p>
            <a:pPr indent="0" marL="0">
              <a:buNone/>
            </a:pPr>
            <a:r>
              <a:rPr lang="en-US" sz="950" spc="100" kern="0" dirty="0">
                <a:solidFill>
                  <a:schemeClr val="bg2"/>
                </a:solidFill>
              </a:rPr>
              <a:t>EXAMPLE  </a:t>
            </a:r>
            <a:pPr indent="0" marL="0">
              <a:buNone/>
            </a:pPr>
            <a:r>
              <a:rPr lang="en-US" sz="1200" dirty="0">
                <a:solidFill>
                  <a:schemeClr val="tx1"/>
                </a:solidFill>
              </a:rPr>
              <a:t>“Shared-service centres move invoice matching to AI.”</a:t>
            </a:r>
            <a:endParaRPr lang="en-US" sz="950" dirty="0"/>
          </a:p>
        </p:txBody>
      </p:sp>
      <p:sp>
        <p:nvSpPr>
          <p:cNvPr id="28" name="Rule"/>
          <p:cNvSpPr/>
          <p:nvPr/>
        </p:nvSpPr>
        <p:spPr>
          <a:xfrm>
            <a:off x="2743200" y="4370832"/>
            <a:ext cx="5029200" cy="0"/>
          </a:xfrm>
          <a:prstGeom prst="line">
            <a:avLst/>
          </a:prstGeom>
          <a:noFill/>
          <a:ln w="9525">
            <a:solidFill>
              <a:srgbClr val="2A3346"/>
            </a:solidFill>
            <a:prstDash val="dash"/>
          </a:ln>
        </p:spPr>
        <p:txBody>
          <a:bodyPr/>
          <a:p/>
        </p:txBody>
      </p:sp>
      <p:sp>
        <p:nvSpPr>
          <p:cNvPr id="29" name="Logo tile"/>
          <p:cNvSpPr/>
          <p:nvPr/>
        </p:nvSpPr>
        <p:spPr>
          <a:xfrm>
            <a:off x="2907792" y="4547616"/>
            <a:ext cx="384048" cy="384048"/>
          </a:xfrm>
          <a:prstGeom prst="roundRect">
            <a:avLst>
              <a:gd name="adj" fmla="val 19048"/>
            </a:avLst>
          </a:prstGeom>
          <a:solidFill>
            <a:srgbClr val="F4F6FA"/>
          </a:solidFill>
          <a:ln w="6350">
            <a:solidFill>
              <a:srgbClr val="2A3346"/>
            </a:solidFill>
            <a:prstDash val="solid"/>
          </a:ln>
        </p:spPr>
        <p:txBody>
          <a:bodyPr/>
          <a:p/>
        </p:txBody>
      </p:sp>
      <p:pic>
        <p:nvPicPr>
          <p:cNvPr id="30" name="Logo" descr="OpenAI logo">    </p:cNvPr>
          <p:cNvPicPr>
            <a:picLocks noChangeAspect="1"/>
          </p:cNvPicPr>
          <p:nvPr/>
        </p:nvPicPr>
        <p:blipFill>
          <a:blip r:embed="rId1"/>
          <a:stretch>
            <a:fillRect/>
          </a:stretch>
        </p:blipFill>
        <p:spPr>
          <a:xfrm>
            <a:off x="2980944" y="4620768"/>
            <a:ext cx="237744" cy="237744"/>
          </a:xfrm>
          <a:prstGeom prst="rect">
            <a:avLst/>
          </a:prstGeom>
        </p:spPr>
      </p:pic>
      <p:sp>
        <p:nvSpPr>
          <p:cNvPr id="31" name="Agent"/>
          <p:cNvSpPr txBox="1"/>
          <p:nvPr/>
        </p:nvSpPr>
        <p:spPr>
          <a:xfrm>
            <a:off x="3429000" y="4520184"/>
            <a:ext cx="1508760" cy="457200"/>
          </a:xfrm>
          <a:prstGeom prst="rect">
            <a:avLst/>
          </a:prstGeom>
          <a:noFill/>
          <a:ln/>
        </p:spPr>
        <p:txBody>
          <a:bodyPr wrap="square" lIns="0" tIns="0" rIns="0" bIns="0" rtlCol="0" anchor="t"/>
          <a:lstStyle/>
          <a:p>
            <a:pPr indent="0" marL="0">
              <a:buNone/>
            </a:pPr>
            <a:r>
              <a:rPr lang="en-US" sz="1250" b="1" dirty="0">
                <a:solidFill>
                  <a:schemeClr val="tx1"/>
                </a:solidFill>
              </a:rPr>
              <a:t>Evidence checker</a:t>
            </a:r>
            <a:endParaRPr lang="en-US" sz="1250" dirty="0"/>
          </a:p>
          <a:p>
            <a:pPr indent="0" marL="0">
              <a:buNone/>
            </a:pPr>
            <a:r>
              <a:rPr lang="en-US" sz="1000" dirty="0">
                <a:solidFill>
                  <a:schemeClr val="bg2"/>
                </a:solidFill>
              </a:rPr>
              <a:t>GPT-5.5</a:t>
            </a:r>
            <a:endParaRPr lang="en-US" sz="1250" dirty="0"/>
          </a:p>
        </p:txBody>
      </p:sp>
      <p:sp>
        <p:nvSpPr>
          <p:cNvPr id="32" name="Question"/>
          <p:cNvSpPr txBox="1"/>
          <p:nvPr/>
        </p:nvSpPr>
        <p:spPr>
          <a:xfrm>
            <a:off x="4983480" y="4629912"/>
            <a:ext cx="2103120" cy="274320"/>
          </a:xfrm>
          <a:prstGeom prst="rect">
            <a:avLst/>
          </a:prstGeom>
          <a:noFill/>
          <a:ln/>
        </p:spPr>
        <p:txBody>
          <a:bodyPr wrap="square" lIns="0" tIns="0" rIns="0" bIns="0" rtlCol="0" anchor="t"/>
          <a:lstStyle/>
          <a:p>
            <a:pPr indent="0" marL="0">
              <a:buNone/>
            </a:pPr>
            <a:r>
              <a:rPr lang="en-US" sz="1150" dirty="0">
                <a:solidFill>
                  <a:schemeClr val="tx2"/>
                </a:solidFill>
              </a:rPr>
              <a:t>Is it real, recent and trusted?</a:t>
            </a:r>
            <a:endParaRPr lang="en-US" sz="1150" dirty="0"/>
          </a:p>
        </p:txBody>
      </p:sp>
      <p:sp>
        <p:nvSpPr>
          <p:cNvPr id="33" name="Vote"/>
          <p:cNvSpPr/>
          <p:nvPr/>
        </p:nvSpPr>
        <p:spPr>
          <a:xfrm>
            <a:off x="7114032" y="4611624"/>
            <a:ext cx="493776" cy="256032"/>
          </a:xfrm>
          <a:prstGeom prst="roundRect">
            <a:avLst>
              <a:gd name="adj" fmla="val 14286"/>
            </a:avLst>
          </a:prstGeom>
          <a:solidFill>
            <a:srgbClr val="12241A"/>
          </a:solidFill>
          <a:ln w="9525">
            <a:solidFill>
              <a:srgbClr val="4E8A5A"/>
            </a:solidFill>
          </a:ln>
        </p:spPr>
        <p:txBody>
          <a:bodyPr wrap="square" lIns="0" tIns="0" rIns="0" bIns="0" rtlCol="0" anchor="ctr"/>
          <a:lstStyle/>
          <a:p>
            <a:pPr algn="ctr" indent="0" marL="0">
              <a:buNone/>
            </a:pPr>
            <a:r>
              <a:rPr lang="en-US" sz="1000" b="1" dirty="0">
                <a:solidFill>
                  <a:srgbClr val="7FD38F"/>
                </a:solidFill>
              </a:rPr>
              <a:t>YES</a:t>
            </a:r>
            <a:endParaRPr lang="en-US" sz="1000" dirty="0"/>
          </a:p>
        </p:txBody>
      </p:sp>
      <p:sp>
        <p:nvSpPr>
          <p:cNvPr id="34" name="Rule"/>
          <p:cNvSpPr/>
          <p:nvPr/>
        </p:nvSpPr>
        <p:spPr>
          <a:xfrm>
            <a:off x="2834640" y="5062728"/>
            <a:ext cx="4846320" cy="0"/>
          </a:xfrm>
          <a:prstGeom prst="line">
            <a:avLst/>
          </a:prstGeom>
          <a:noFill/>
          <a:ln w="9525">
            <a:solidFill>
              <a:srgbClr val="1C2333"/>
            </a:solidFill>
            <a:prstDash val="solid"/>
          </a:ln>
        </p:spPr>
        <p:txBody>
          <a:bodyPr/>
          <a:p/>
        </p:txBody>
      </p:sp>
      <p:sp>
        <p:nvSpPr>
          <p:cNvPr id="35" name="Logo tile"/>
          <p:cNvSpPr/>
          <p:nvPr/>
        </p:nvSpPr>
        <p:spPr>
          <a:xfrm>
            <a:off x="2907792" y="5193792"/>
            <a:ext cx="384048" cy="384048"/>
          </a:xfrm>
          <a:prstGeom prst="roundRect">
            <a:avLst>
              <a:gd name="adj" fmla="val 19048"/>
            </a:avLst>
          </a:prstGeom>
          <a:solidFill>
            <a:srgbClr val="F4F6FA"/>
          </a:solidFill>
          <a:ln w="6350">
            <a:solidFill>
              <a:srgbClr val="2A3346"/>
            </a:solidFill>
            <a:prstDash val="solid"/>
          </a:ln>
        </p:spPr>
        <p:txBody>
          <a:bodyPr/>
          <a:p/>
        </p:txBody>
      </p:sp>
      <p:pic>
        <p:nvPicPr>
          <p:cNvPr id="36" name="Logo" descr="OpenAI logo">    </p:cNvPr>
          <p:cNvPicPr>
            <a:picLocks noChangeAspect="1"/>
          </p:cNvPicPr>
          <p:nvPr/>
        </p:nvPicPr>
        <p:blipFill>
          <a:blip r:embed="rId2"/>
          <a:stretch>
            <a:fillRect/>
          </a:stretch>
        </p:blipFill>
        <p:spPr>
          <a:xfrm>
            <a:off x="2980944" y="5266944"/>
            <a:ext cx="237744" cy="237744"/>
          </a:xfrm>
          <a:prstGeom prst="rect">
            <a:avLst/>
          </a:prstGeom>
        </p:spPr>
      </p:pic>
      <p:sp>
        <p:nvSpPr>
          <p:cNvPr id="37" name="Agent"/>
          <p:cNvSpPr txBox="1"/>
          <p:nvPr/>
        </p:nvSpPr>
        <p:spPr>
          <a:xfrm>
            <a:off x="3429000" y="5166360"/>
            <a:ext cx="1508760" cy="457200"/>
          </a:xfrm>
          <a:prstGeom prst="rect">
            <a:avLst/>
          </a:prstGeom>
          <a:noFill/>
          <a:ln/>
        </p:spPr>
        <p:txBody>
          <a:bodyPr wrap="square" lIns="0" tIns="0" rIns="0" bIns="0" rtlCol="0" anchor="t"/>
          <a:lstStyle/>
          <a:p>
            <a:pPr indent="0" marL="0">
              <a:buNone/>
            </a:pPr>
            <a:r>
              <a:rPr lang="en-US" sz="1250" b="1" dirty="0">
                <a:solidFill>
                  <a:schemeClr val="tx1"/>
                </a:solidFill>
              </a:rPr>
              <a:t>Skill matcher</a:t>
            </a:r>
            <a:endParaRPr lang="en-US" sz="1250" dirty="0"/>
          </a:p>
          <a:p>
            <a:pPr indent="0" marL="0">
              <a:buNone/>
            </a:pPr>
            <a:r>
              <a:rPr lang="en-US" sz="1000" dirty="0">
                <a:solidFill>
                  <a:schemeClr val="bg2"/>
                </a:solidFill>
              </a:rPr>
              <a:t>GPT-6-sol</a:t>
            </a:r>
            <a:endParaRPr lang="en-US" sz="1250" dirty="0"/>
          </a:p>
        </p:txBody>
      </p:sp>
      <p:sp>
        <p:nvSpPr>
          <p:cNvPr id="38" name="Question"/>
          <p:cNvSpPr txBox="1"/>
          <p:nvPr/>
        </p:nvSpPr>
        <p:spPr>
          <a:xfrm>
            <a:off x="4983480" y="5276088"/>
            <a:ext cx="2103120" cy="274320"/>
          </a:xfrm>
          <a:prstGeom prst="rect">
            <a:avLst/>
          </a:prstGeom>
          <a:noFill/>
          <a:ln/>
        </p:spPr>
        <p:txBody>
          <a:bodyPr wrap="square" lIns="0" tIns="0" rIns="0" bIns="0" rtlCol="0" anchor="t"/>
          <a:lstStyle/>
          <a:p>
            <a:pPr indent="0" marL="0">
              <a:buNone/>
            </a:pPr>
            <a:r>
              <a:rPr lang="en-US" sz="1150" dirty="0">
                <a:solidFill>
                  <a:schemeClr val="tx2"/>
                </a:solidFill>
              </a:rPr>
              <a:t>Is it really about this skill?</a:t>
            </a:r>
            <a:endParaRPr lang="en-US" sz="1150" dirty="0"/>
          </a:p>
        </p:txBody>
      </p:sp>
      <p:sp>
        <p:nvSpPr>
          <p:cNvPr id="39" name="Vote"/>
          <p:cNvSpPr/>
          <p:nvPr/>
        </p:nvSpPr>
        <p:spPr>
          <a:xfrm>
            <a:off x="7114032" y="5257800"/>
            <a:ext cx="493776" cy="256032"/>
          </a:xfrm>
          <a:prstGeom prst="roundRect">
            <a:avLst>
              <a:gd name="adj" fmla="val 14286"/>
            </a:avLst>
          </a:prstGeom>
          <a:solidFill>
            <a:srgbClr val="12241A"/>
          </a:solidFill>
          <a:ln w="9525">
            <a:solidFill>
              <a:srgbClr val="4E8A5A"/>
            </a:solidFill>
          </a:ln>
        </p:spPr>
        <p:txBody>
          <a:bodyPr wrap="square" lIns="0" tIns="0" rIns="0" bIns="0" rtlCol="0" anchor="ctr"/>
          <a:lstStyle/>
          <a:p>
            <a:pPr algn="ctr" indent="0" marL="0">
              <a:buNone/>
            </a:pPr>
            <a:r>
              <a:rPr lang="en-US" sz="1000" b="1" dirty="0">
                <a:solidFill>
                  <a:srgbClr val="7FD38F"/>
                </a:solidFill>
              </a:rPr>
              <a:t>YES</a:t>
            </a:r>
            <a:endParaRPr lang="en-US" sz="1000" dirty="0"/>
          </a:p>
        </p:txBody>
      </p:sp>
      <p:sp>
        <p:nvSpPr>
          <p:cNvPr id="40" name="Rule"/>
          <p:cNvSpPr/>
          <p:nvPr/>
        </p:nvSpPr>
        <p:spPr>
          <a:xfrm>
            <a:off x="2834640" y="5708904"/>
            <a:ext cx="4846320" cy="0"/>
          </a:xfrm>
          <a:prstGeom prst="line">
            <a:avLst/>
          </a:prstGeom>
          <a:noFill/>
          <a:ln w="9525">
            <a:solidFill>
              <a:srgbClr val="1C2333"/>
            </a:solidFill>
            <a:prstDash val="solid"/>
          </a:ln>
        </p:spPr>
        <p:txBody>
          <a:bodyPr/>
          <a:p/>
        </p:txBody>
      </p:sp>
      <p:sp>
        <p:nvSpPr>
          <p:cNvPr id="41" name="Logo tile"/>
          <p:cNvSpPr/>
          <p:nvPr/>
        </p:nvSpPr>
        <p:spPr>
          <a:xfrm>
            <a:off x="2907792" y="5839968"/>
            <a:ext cx="384048" cy="384048"/>
          </a:xfrm>
          <a:prstGeom prst="roundRect">
            <a:avLst>
              <a:gd name="adj" fmla="val 19048"/>
            </a:avLst>
          </a:prstGeom>
          <a:solidFill>
            <a:srgbClr val="F4F6FA"/>
          </a:solidFill>
          <a:ln w="6350">
            <a:solidFill>
              <a:srgbClr val="2A3346"/>
            </a:solidFill>
            <a:prstDash val="solid"/>
          </a:ln>
        </p:spPr>
        <p:txBody>
          <a:bodyPr/>
          <a:p/>
        </p:txBody>
      </p:sp>
      <p:pic>
        <p:nvPicPr>
          <p:cNvPr id="42" name="Logo" descr="DeepSeek logo">    </p:cNvPr>
          <p:cNvPicPr>
            <a:picLocks noChangeAspect="1"/>
          </p:cNvPicPr>
          <p:nvPr/>
        </p:nvPicPr>
        <p:blipFill>
          <a:blip r:embed="rId3"/>
          <a:stretch>
            <a:fillRect/>
          </a:stretch>
        </p:blipFill>
        <p:spPr>
          <a:xfrm>
            <a:off x="2980944" y="5913120"/>
            <a:ext cx="237744" cy="237744"/>
          </a:xfrm>
          <a:prstGeom prst="rect">
            <a:avLst/>
          </a:prstGeom>
        </p:spPr>
      </p:pic>
      <p:sp>
        <p:nvSpPr>
          <p:cNvPr id="43" name="Agent"/>
          <p:cNvSpPr txBox="1"/>
          <p:nvPr/>
        </p:nvSpPr>
        <p:spPr>
          <a:xfrm>
            <a:off x="3429000" y="5812536"/>
            <a:ext cx="1508760" cy="457200"/>
          </a:xfrm>
          <a:prstGeom prst="rect">
            <a:avLst/>
          </a:prstGeom>
          <a:noFill/>
          <a:ln/>
        </p:spPr>
        <p:txBody>
          <a:bodyPr wrap="square" lIns="0" tIns="0" rIns="0" bIns="0" rtlCol="0" anchor="t"/>
          <a:lstStyle/>
          <a:p>
            <a:pPr indent="0" marL="0">
              <a:buNone/>
            </a:pPr>
            <a:r>
              <a:rPr lang="en-US" sz="1250" b="1" dirty="0">
                <a:solidFill>
                  <a:schemeClr val="tx1"/>
                </a:solidFill>
              </a:rPr>
              <a:t>Sceptic</a:t>
            </a:r>
            <a:endParaRPr lang="en-US" sz="1250" dirty="0"/>
          </a:p>
          <a:p>
            <a:pPr indent="0" marL="0">
              <a:buNone/>
            </a:pPr>
            <a:r>
              <a:rPr lang="en-US" sz="1000" dirty="0">
                <a:solidFill>
                  <a:schemeClr val="bg2"/>
                </a:solidFill>
              </a:rPr>
              <a:t>DeepSeek-V4-Pro</a:t>
            </a:r>
            <a:endParaRPr lang="en-US" sz="1250" dirty="0"/>
          </a:p>
        </p:txBody>
      </p:sp>
      <p:sp>
        <p:nvSpPr>
          <p:cNvPr id="44" name="Question"/>
          <p:cNvSpPr txBox="1"/>
          <p:nvPr/>
        </p:nvSpPr>
        <p:spPr>
          <a:xfrm>
            <a:off x="4983480" y="5922264"/>
            <a:ext cx="2103120" cy="274320"/>
          </a:xfrm>
          <a:prstGeom prst="rect">
            <a:avLst/>
          </a:prstGeom>
          <a:noFill/>
          <a:ln/>
        </p:spPr>
        <p:txBody>
          <a:bodyPr wrap="square" lIns="0" tIns="0" rIns="0" bIns="0" rtlCol="0" anchor="t"/>
          <a:lstStyle/>
          <a:p>
            <a:pPr indent="0" marL="0">
              <a:buNone/>
            </a:pPr>
            <a:r>
              <a:rPr lang="en-US" sz="1150" dirty="0">
                <a:solidFill>
                  <a:schemeClr val="tx2"/>
                </a:solidFill>
              </a:rPr>
              <a:t>Is it hype or a sales pitch?</a:t>
            </a:r>
            <a:endParaRPr lang="en-US" sz="1150" dirty="0"/>
          </a:p>
        </p:txBody>
      </p:sp>
      <p:sp>
        <p:nvSpPr>
          <p:cNvPr id="45" name="Vote"/>
          <p:cNvSpPr/>
          <p:nvPr/>
        </p:nvSpPr>
        <p:spPr>
          <a:xfrm>
            <a:off x="7114032" y="5903976"/>
            <a:ext cx="493776" cy="256032"/>
          </a:xfrm>
          <a:prstGeom prst="roundRect">
            <a:avLst>
              <a:gd name="adj" fmla="val 14286"/>
            </a:avLst>
          </a:prstGeom>
          <a:solidFill>
            <a:srgbClr val="2A1416"/>
          </a:solidFill>
          <a:ln w="9525">
            <a:solidFill>
              <a:srgbClr val="9A5257"/>
            </a:solidFill>
          </a:ln>
        </p:spPr>
        <p:txBody>
          <a:bodyPr wrap="square" lIns="0" tIns="0" rIns="0" bIns="0" rtlCol="0" anchor="ctr"/>
          <a:lstStyle/>
          <a:p>
            <a:pPr algn="ctr" indent="0" marL="0">
              <a:buNone/>
            </a:pPr>
            <a:r>
              <a:rPr lang="en-US" sz="1000" b="1" dirty="0">
                <a:solidFill>
                  <a:srgbClr val="FF8F8F"/>
                </a:solidFill>
              </a:rPr>
              <a:t>NO</a:t>
            </a:r>
            <a:endParaRPr lang="en-US" sz="1000" dirty="0"/>
          </a:p>
        </p:txBody>
      </p:sp>
      <p:sp>
        <p:nvSpPr>
          <p:cNvPr id="46" name="Rule panel"/>
          <p:cNvSpPr/>
          <p:nvPr/>
        </p:nvSpPr>
        <p:spPr>
          <a:xfrm>
            <a:off x="7955280" y="3547872"/>
            <a:ext cx="3685032" cy="2807208"/>
          </a:xfrm>
          <a:prstGeom prst="roundRect">
            <a:avLst>
              <a:gd name="adj" fmla="val 2606"/>
            </a:avLst>
          </a:prstGeom>
          <a:solidFill>
            <a:srgbClr val="0A101C">
              <a:alpha val="92000"/>
            </a:srgbClr>
          </a:solidFill>
          <a:ln w="9525">
            <a:solidFill>
              <a:srgbClr val="2A3346"/>
            </a:solidFill>
            <a:prstDash val="solid"/>
          </a:ln>
        </p:spPr>
        <p:txBody>
          <a:bodyPr/>
          <a:p/>
        </p:txBody>
      </p:sp>
      <p:sp>
        <p:nvSpPr>
          <p:cNvPr id="47" name="Panel label"/>
          <p:cNvSpPr txBox="1"/>
          <p:nvPr/>
        </p:nvSpPr>
        <p:spPr>
          <a:xfrm>
            <a:off x="8119872" y="3648456"/>
            <a:ext cx="2011680" cy="201168"/>
          </a:xfrm>
          <a:prstGeom prst="rect">
            <a:avLst/>
          </a:prstGeom>
          <a:noFill/>
          <a:ln/>
        </p:spPr>
        <p:txBody>
          <a:bodyPr wrap="square" lIns="0" tIns="0" rIns="0" bIns="0" rtlCol="0" anchor="t"/>
          <a:lstStyle/>
          <a:p>
            <a:pPr indent="0" marL="0">
              <a:buNone/>
            </a:pPr>
            <a:r>
              <a:rPr lang="en-US" sz="1000" b="1" spc="100" kern="0" dirty="0">
                <a:solidFill>
                  <a:schemeClr val="tx1"/>
                </a:solidFill>
              </a:rPr>
              <a:t>STEP 4 · FIXED RULE</a:t>
            </a:r>
            <a:endParaRPr lang="en-US" sz="1000" dirty="0"/>
          </a:p>
        </p:txBody>
      </p:sp>
      <p:sp>
        <p:nvSpPr>
          <p:cNvPr id="48" name="Panel note"/>
          <p:cNvSpPr txBox="1"/>
          <p:nvPr/>
        </p:nvSpPr>
        <p:spPr>
          <a:xfrm>
            <a:off x="9784080" y="3648456"/>
            <a:ext cx="1691640" cy="201168"/>
          </a:xfrm>
          <a:prstGeom prst="rect">
            <a:avLst/>
          </a:prstGeom>
          <a:noFill/>
          <a:ln/>
        </p:spPr>
        <p:txBody>
          <a:bodyPr wrap="square" lIns="0" tIns="0" rIns="0" bIns="0" rtlCol="0" anchor="t"/>
          <a:lstStyle/>
          <a:p>
            <a:pPr algn="r" indent="0" marL="0">
              <a:buNone/>
            </a:pPr>
            <a:r>
              <a:rPr lang="en-US" sz="1000" spc="100" kern="0" dirty="0">
                <a:solidFill>
                  <a:schemeClr val="bg2"/>
                </a:solidFill>
              </a:rPr>
              <a:t>NO MODEL DECIDES</a:t>
            </a:r>
            <a:endParaRPr lang="en-US" sz="1000" dirty="0"/>
          </a:p>
        </p:txBody>
      </p:sp>
      <p:sp>
        <p:nvSpPr>
          <p:cNvPr id="49" name="Rule"/>
          <p:cNvSpPr/>
          <p:nvPr/>
        </p:nvSpPr>
        <p:spPr>
          <a:xfrm>
            <a:off x="7955280" y="3931920"/>
            <a:ext cx="3685032" cy="0"/>
          </a:xfrm>
          <a:prstGeom prst="line">
            <a:avLst/>
          </a:prstGeom>
          <a:noFill/>
          <a:ln w="9525">
            <a:solidFill>
              <a:srgbClr val="2A3346"/>
            </a:solidFill>
            <a:prstDash val="solid"/>
          </a:ln>
        </p:spPr>
        <p:txBody>
          <a:bodyPr/>
          <a:p/>
        </p:txBody>
      </p:sp>
      <p:sp>
        <p:nvSpPr>
          <p:cNvPr id="50" name="Example result highlight"/>
          <p:cNvSpPr/>
          <p:nvPr/>
        </p:nvSpPr>
        <p:spPr>
          <a:xfrm>
            <a:off x="7973568" y="3959352"/>
            <a:ext cx="3648456" cy="798576"/>
          </a:xfrm>
          <a:prstGeom prst="rect">
            <a:avLst/>
          </a:prstGeom>
          <a:solidFill>
            <a:srgbClr val="7FD38F">
              <a:alpha val="10000"/>
            </a:srgbClr>
          </a:solidFill>
          <a:ln/>
        </p:spPr>
        <p:txBody>
          <a:bodyPr/>
          <a:p/>
        </p:txBody>
      </p:sp>
      <p:sp>
        <p:nvSpPr>
          <p:cNvPr id="51" name="Tally"/>
          <p:cNvSpPr/>
          <p:nvPr/>
        </p:nvSpPr>
        <p:spPr>
          <a:xfrm>
            <a:off x="8138160" y="4294632"/>
            <a:ext cx="128016" cy="128016"/>
          </a:xfrm>
          <a:prstGeom prst="roundRect">
            <a:avLst>
              <a:gd name="adj" fmla="val 14286"/>
            </a:avLst>
          </a:prstGeom>
          <a:solidFill>
            <a:srgbClr val="7FD38F"/>
          </a:solidFill>
          <a:ln w="9525">
            <a:solidFill>
              <a:srgbClr val="7FD38F"/>
            </a:solidFill>
            <a:prstDash val="solid"/>
          </a:ln>
        </p:spPr>
        <p:txBody>
          <a:bodyPr/>
          <a:p/>
        </p:txBody>
      </p:sp>
      <p:sp>
        <p:nvSpPr>
          <p:cNvPr id="52" name="Tally"/>
          <p:cNvSpPr/>
          <p:nvPr/>
        </p:nvSpPr>
        <p:spPr>
          <a:xfrm>
            <a:off x="8321040" y="4294632"/>
            <a:ext cx="128016" cy="128016"/>
          </a:xfrm>
          <a:prstGeom prst="roundRect">
            <a:avLst>
              <a:gd name="adj" fmla="val 14286"/>
            </a:avLst>
          </a:prstGeom>
          <a:solidFill>
            <a:srgbClr val="7FD38F"/>
          </a:solidFill>
          <a:ln w="9525">
            <a:solidFill>
              <a:srgbClr val="7FD38F"/>
            </a:solidFill>
            <a:prstDash val="solid"/>
          </a:ln>
        </p:spPr>
        <p:txBody>
          <a:bodyPr/>
          <a:p/>
        </p:txBody>
      </p:sp>
      <p:sp>
        <p:nvSpPr>
          <p:cNvPr id="53" name="Tally"/>
          <p:cNvSpPr/>
          <p:nvPr/>
        </p:nvSpPr>
        <p:spPr>
          <a:xfrm>
            <a:off x="8503920" y="4294632"/>
            <a:ext cx="128016" cy="128016"/>
          </a:xfrm>
          <a:prstGeom prst="roundRect">
            <a:avLst>
              <a:gd name="adj" fmla="val 14286"/>
            </a:avLst>
          </a:prstGeom>
          <a:solidFill>
            <a:srgbClr val="05070D"/>
          </a:solidFill>
          <a:ln w="9525">
            <a:solidFill>
              <a:srgbClr val="5D6B85"/>
            </a:solidFill>
            <a:prstDash val="solid"/>
          </a:ln>
        </p:spPr>
        <p:txBody>
          <a:bodyPr/>
          <a:p/>
        </p:txBody>
      </p:sp>
      <p:sp>
        <p:nvSpPr>
          <p:cNvPr id="54" name="Rule"/>
          <p:cNvSpPr txBox="1"/>
          <p:nvPr/>
        </p:nvSpPr>
        <p:spPr>
          <a:xfrm>
            <a:off x="8778240" y="4239768"/>
            <a:ext cx="960120" cy="256032"/>
          </a:xfrm>
          <a:prstGeom prst="rect">
            <a:avLst/>
          </a:prstGeom>
          <a:noFill/>
          <a:ln/>
        </p:spPr>
        <p:txBody>
          <a:bodyPr wrap="square" lIns="0" tIns="0" rIns="0" bIns="0" rtlCol="0" anchor="t"/>
          <a:lstStyle/>
          <a:p>
            <a:pPr indent="0" marL="0">
              <a:buNone/>
            </a:pPr>
            <a:r>
              <a:rPr lang="en-US" sz="1200" b="1" dirty="0">
                <a:solidFill>
                  <a:srgbClr val="7FD38F"/>
                </a:solidFill>
              </a:rPr>
              <a:t>2 or 3 yes</a:t>
            </a:r>
            <a:endParaRPr lang="en-US" sz="1200" dirty="0"/>
          </a:p>
        </p:txBody>
      </p:sp>
      <p:sp>
        <p:nvSpPr>
          <p:cNvPr id="55" name="Outcome"/>
          <p:cNvSpPr txBox="1"/>
          <p:nvPr/>
        </p:nvSpPr>
        <p:spPr>
          <a:xfrm>
            <a:off x="9738360" y="4239768"/>
            <a:ext cx="1783080" cy="457200"/>
          </a:xfrm>
          <a:prstGeom prst="rect">
            <a:avLst/>
          </a:prstGeom>
          <a:noFill/>
          <a:ln/>
        </p:spPr>
        <p:txBody>
          <a:bodyPr wrap="square" lIns="0" tIns="0" rIns="0" bIns="0" rtlCol="0" anchor="t"/>
          <a:lstStyle/>
          <a:p>
            <a:pPr indent="0" marL="0">
              <a:buNone/>
            </a:pPr>
            <a:r>
              <a:rPr lang="en-US" sz="1150" dirty="0">
                <a:solidFill>
                  <a:schemeClr val="tx2"/>
                </a:solidFill>
              </a:rPr>
              <a:t>Applied, and can be undone</a:t>
            </a:r>
            <a:endParaRPr lang="en-US" sz="1150" dirty="0"/>
          </a:p>
        </p:txBody>
      </p:sp>
      <p:sp>
        <p:nvSpPr>
          <p:cNvPr id="56" name="Example tag"/>
          <p:cNvSpPr txBox="1"/>
          <p:nvPr/>
        </p:nvSpPr>
        <p:spPr>
          <a:xfrm>
            <a:off x="9738360" y="4520184"/>
            <a:ext cx="1783080" cy="182880"/>
          </a:xfrm>
          <a:prstGeom prst="rect">
            <a:avLst/>
          </a:prstGeom>
          <a:noFill/>
          <a:ln/>
        </p:spPr>
        <p:txBody>
          <a:bodyPr wrap="square" lIns="0" tIns="0" rIns="0" bIns="0" rtlCol="0" anchor="t"/>
          <a:lstStyle/>
          <a:p>
            <a:pPr algn="r" indent="0" marL="0">
              <a:buNone/>
            </a:pPr>
            <a:r>
              <a:rPr lang="en-US" sz="850" spc="100" kern="0" dirty="0">
                <a:solidFill>
                  <a:srgbClr val="7FD38F"/>
                </a:solidFill>
              </a:rPr>
              <a:t>EXAMPLE RESULT</a:t>
            </a:r>
            <a:endParaRPr lang="en-US" sz="850" dirty="0"/>
          </a:p>
        </p:txBody>
      </p:sp>
      <p:sp>
        <p:nvSpPr>
          <p:cNvPr id="57" name="Rule"/>
          <p:cNvSpPr/>
          <p:nvPr/>
        </p:nvSpPr>
        <p:spPr>
          <a:xfrm>
            <a:off x="8046720" y="4757928"/>
            <a:ext cx="3502152" cy="0"/>
          </a:xfrm>
          <a:prstGeom prst="line">
            <a:avLst/>
          </a:prstGeom>
          <a:noFill/>
          <a:ln w="9525">
            <a:solidFill>
              <a:srgbClr val="1C2333"/>
            </a:solidFill>
            <a:prstDash val="solid"/>
          </a:ln>
        </p:spPr>
        <p:txBody>
          <a:bodyPr/>
          <a:p/>
        </p:txBody>
      </p:sp>
      <p:sp>
        <p:nvSpPr>
          <p:cNvPr id="58" name="Tally"/>
          <p:cNvSpPr/>
          <p:nvPr/>
        </p:nvSpPr>
        <p:spPr>
          <a:xfrm>
            <a:off x="8138160" y="5093208"/>
            <a:ext cx="128016" cy="128016"/>
          </a:xfrm>
          <a:prstGeom prst="roundRect">
            <a:avLst>
              <a:gd name="adj" fmla="val 14286"/>
            </a:avLst>
          </a:prstGeom>
          <a:solidFill>
            <a:srgbClr val="7FD38F"/>
          </a:solidFill>
          <a:ln w="9525">
            <a:solidFill>
              <a:srgbClr val="7FD38F"/>
            </a:solidFill>
            <a:prstDash val="solid"/>
          </a:ln>
        </p:spPr>
        <p:txBody>
          <a:bodyPr/>
          <a:p/>
        </p:txBody>
      </p:sp>
      <p:sp>
        <p:nvSpPr>
          <p:cNvPr id="59" name="Tally"/>
          <p:cNvSpPr/>
          <p:nvPr/>
        </p:nvSpPr>
        <p:spPr>
          <a:xfrm>
            <a:off x="8321040" y="5093208"/>
            <a:ext cx="128016" cy="128016"/>
          </a:xfrm>
          <a:prstGeom prst="roundRect">
            <a:avLst>
              <a:gd name="adj" fmla="val 14286"/>
            </a:avLst>
          </a:prstGeom>
          <a:solidFill>
            <a:srgbClr val="05070D"/>
          </a:solidFill>
          <a:ln w="9525">
            <a:solidFill>
              <a:srgbClr val="5D6B85"/>
            </a:solidFill>
            <a:prstDash val="solid"/>
          </a:ln>
        </p:spPr>
        <p:txBody>
          <a:bodyPr/>
          <a:p/>
        </p:txBody>
      </p:sp>
      <p:sp>
        <p:nvSpPr>
          <p:cNvPr id="60" name="Tally"/>
          <p:cNvSpPr/>
          <p:nvPr/>
        </p:nvSpPr>
        <p:spPr>
          <a:xfrm>
            <a:off x="8503920" y="5093208"/>
            <a:ext cx="128016" cy="128016"/>
          </a:xfrm>
          <a:prstGeom prst="roundRect">
            <a:avLst>
              <a:gd name="adj" fmla="val 14286"/>
            </a:avLst>
          </a:prstGeom>
          <a:solidFill>
            <a:srgbClr val="05070D"/>
          </a:solidFill>
          <a:ln w="9525">
            <a:solidFill>
              <a:srgbClr val="5D6B85"/>
            </a:solidFill>
            <a:prstDash val="solid"/>
          </a:ln>
        </p:spPr>
        <p:txBody>
          <a:bodyPr/>
          <a:p/>
        </p:txBody>
      </p:sp>
      <p:sp>
        <p:nvSpPr>
          <p:cNvPr id="61" name="Rule"/>
          <p:cNvSpPr txBox="1"/>
          <p:nvPr/>
        </p:nvSpPr>
        <p:spPr>
          <a:xfrm>
            <a:off x="8778240" y="5038344"/>
            <a:ext cx="960120" cy="256032"/>
          </a:xfrm>
          <a:prstGeom prst="rect">
            <a:avLst/>
          </a:prstGeom>
          <a:noFill/>
          <a:ln/>
        </p:spPr>
        <p:txBody>
          <a:bodyPr wrap="square" lIns="0" tIns="0" rIns="0" bIns="0" rtlCol="0" anchor="t"/>
          <a:lstStyle/>
          <a:p>
            <a:pPr indent="0" marL="0">
              <a:buNone/>
            </a:pPr>
            <a:r>
              <a:rPr lang="en-US" sz="1200" b="1" dirty="0">
                <a:solidFill>
                  <a:schemeClr val="tx1"/>
                </a:solidFill>
              </a:rPr>
              <a:t>1 yes</a:t>
            </a:r>
            <a:endParaRPr lang="en-US" sz="1200" dirty="0"/>
          </a:p>
        </p:txBody>
      </p:sp>
      <p:sp>
        <p:nvSpPr>
          <p:cNvPr id="62" name="Outcome"/>
          <p:cNvSpPr txBox="1"/>
          <p:nvPr/>
        </p:nvSpPr>
        <p:spPr>
          <a:xfrm>
            <a:off x="9738360" y="5038344"/>
            <a:ext cx="1783080" cy="457200"/>
          </a:xfrm>
          <a:prstGeom prst="rect">
            <a:avLst/>
          </a:prstGeom>
          <a:noFill/>
          <a:ln/>
        </p:spPr>
        <p:txBody>
          <a:bodyPr wrap="square" lIns="0" tIns="0" rIns="0" bIns="0" rtlCol="0" anchor="t"/>
          <a:lstStyle/>
          <a:p>
            <a:pPr indent="0" marL="0">
              <a:buNone/>
            </a:pPr>
            <a:r>
              <a:rPr lang="en-US" sz="1150" dirty="0">
                <a:solidFill>
                  <a:schemeClr val="tx2"/>
                </a:solidFill>
              </a:rPr>
              <a:t>A person decides</a:t>
            </a:r>
            <a:endParaRPr lang="en-US" sz="1150" dirty="0"/>
          </a:p>
        </p:txBody>
      </p:sp>
      <p:sp>
        <p:nvSpPr>
          <p:cNvPr id="63" name="Rule"/>
          <p:cNvSpPr/>
          <p:nvPr/>
        </p:nvSpPr>
        <p:spPr>
          <a:xfrm>
            <a:off x="8046720" y="5556504"/>
            <a:ext cx="3502152" cy="0"/>
          </a:xfrm>
          <a:prstGeom prst="line">
            <a:avLst/>
          </a:prstGeom>
          <a:noFill/>
          <a:ln w="9525">
            <a:solidFill>
              <a:srgbClr val="1C2333"/>
            </a:solidFill>
            <a:prstDash val="solid"/>
          </a:ln>
        </p:spPr>
        <p:txBody>
          <a:bodyPr/>
          <a:p/>
        </p:txBody>
      </p:sp>
      <p:sp>
        <p:nvSpPr>
          <p:cNvPr id="64" name="Tally"/>
          <p:cNvSpPr/>
          <p:nvPr/>
        </p:nvSpPr>
        <p:spPr>
          <a:xfrm>
            <a:off x="8138160" y="5891784"/>
            <a:ext cx="128016" cy="128016"/>
          </a:xfrm>
          <a:prstGeom prst="roundRect">
            <a:avLst>
              <a:gd name="adj" fmla="val 14286"/>
            </a:avLst>
          </a:prstGeom>
          <a:solidFill>
            <a:srgbClr val="05070D"/>
          </a:solidFill>
          <a:ln w="9525">
            <a:solidFill>
              <a:srgbClr val="5D6B85"/>
            </a:solidFill>
            <a:prstDash val="solid"/>
          </a:ln>
        </p:spPr>
        <p:txBody>
          <a:bodyPr/>
          <a:p/>
        </p:txBody>
      </p:sp>
      <p:sp>
        <p:nvSpPr>
          <p:cNvPr id="65" name="Tally"/>
          <p:cNvSpPr/>
          <p:nvPr/>
        </p:nvSpPr>
        <p:spPr>
          <a:xfrm>
            <a:off x="8321040" y="5891784"/>
            <a:ext cx="128016" cy="128016"/>
          </a:xfrm>
          <a:prstGeom prst="roundRect">
            <a:avLst>
              <a:gd name="adj" fmla="val 14286"/>
            </a:avLst>
          </a:prstGeom>
          <a:solidFill>
            <a:srgbClr val="05070D"/>
          </a:solidFill>
          <a:ln w="9525">
            <a:solidFill>
              <a:srgbClr val="5D6B85"/>
            </a:solidFill>
            <a:prstDash val="solid"/>
          </a:ln>
        </p:spPr>
        <p:txBody>
          <a:bodyPr/>
          <a:p/>
        </p:txBody>
      </p:sp>
      <p:sp>
        <p:nvSpPr>
          <p:cNvPr id="66" name="Tally"/>
          <p:cNvSpPr/>
          <p:nvPr/>
        </p:nvSpPr>
        <p:spPr>
          <a:xfrm>
            <a:off x="8503920" y="5891784"/>
            <a:ext cx="128016" cy="128016"/>
          </a:xfrm>
          <a:prstGeom prst="roundRect">
            <a:avLst>
              <a:gd name="adj" fmla="val 14286"/>
            </a:avLst>
          </a:prstGeom>
          <a:solidFill>
            <a:srgbClr val="05070D"/>
          </a:solidFill>
          <a:ln w="9525">
            <a:solidFill>
              <a:srgbClr val="5D6B85"/>
            </a:solidFill>
            <a:prstDash val="solid"/>
          </a:ln>
        </p:spPr>
        <p:txBody>
          <a:bodyPr/>
          <a:p/>
        </p:txBody>
      </p:sp>
      <p:sp>
        <p:nvSpPr>
          <p:cNvPr id="67" name="Rule"/>
          <p:cNvSpPr txBox="1"/>
          <p:nvPr/>
        </p:nvSpPr>
        <p:spPr>
          <a:xfrm>
            <a:off x="8778240" y="5836920"/>
            <a:ext cx="960120" cy="256032"/>
          </a:xfrm>
          <a:prstGeom prst="rect">
            <a:avLst/>
          </a:prstGeom>
          <a:noFill/>
          <a:ln/>
        </p:spPr>
        <p:txBody>
          <a:bodyPr wrap="square" lIns="0" tIns="0" rIns="0" bIns="0" rtlCol="0" anchor="t"/>
          <a:lstStyle/>
          <a:p>
            <a:pPr indent="0" marL="0">
              <a:buNone/>
            </a:pPr>
            <a:r>
              <a:rPr lang="en-US" sz="1200" b="1" dirty="0">
                <a:solidFill>
                  <a:schemeClr val="tx1"/>
                </a:solidFill>
              </a:rPr>
              <a:t>0 yes</a:t>
            </a:r>
            <a:endParaRPr lang="en-US" sz="1200" dirty="0"/>
          </a:p>
        </p:txBody>
      </p:sp>
      <p:sp>
        <p:nvSpPr>
          <p:cNvPr id="68" name="Outcome"/>
          <p:cNvSpPr txBox="1"/>
          <p:nvPr/>
        </p:nvSpPr>
        <p:spPr>
          <a:xfrm>
            <a:off x="9738360" y="5836920"/>
            <a:ext cx="1783080" cy="457200"/>
          </a:xfrm>
          <a:prstGeom prst="rect">
            <a:avLst/>
          </a:prstGeom>
          <a:noFill/>
          <a:ln/>
        </p:spPr>
        <p:txBody>
          <a:bodyPr wrap="square" lIns="0" tIns="0" rIns="0" bIns="0" rtlCol="0" anchor="t"/>
          <a:lstStyle/>
          <a:p>
            <a:pPr indent="0" marL="0">
              <a:buNone/>
            </a:pPr>
            <a:r>
              <a:rPr lang="en-US" sz="1150" dirty="0">
                <a:solidFill>
                  <a:schemeClr val="tx2"/>
                </a:solidFill>
              </a:rPr>
              <a:t>Rejected, reasons recorded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06</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06</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The six must-haves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Everything the Domain 1 brief asked for</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All six must-haves run live in one journey. The right column shows where you see each one in the demo.</a:t>
            </a:r>
            <a:endParaRPr lang="en-US" sz="1400" dirty="0"/>
          </a:p>
        </p:txBody>
      </p:sp>
      <p:sp>
        <p:nvSpPr>
          <p:cNvPr id="7" name="Must-have number"/>
          <p:cNvSpPr/>
          <p:nvPr/>
        </p:nvSpPr>
        <p:spPr>
          <a:xfrm>
            <a:off x="2743200" y="2092452"/>
            <a:ext cx="310896" cy="310896"/>
          </a:xfrm>
          <a:prstGeom prst="ellipse">
            <a:avLst/>
          </a:prstGeom>
          <a:solidFill>
            <a:srgbClr val="05070D"/>
          </a:solidFill>
          <a:ln w="15875">
            <a:solidFill>
              <a:srgbClr val="5AA0F0"/>
            </a:solidFill>
          </a:ln>
        </p:spPr>
        <p:txBody>
          <a:bodyPr wrap="square" lIns="0" tIns="0" rIns="0" bIns="0" rtlCol="0" anchor="ctr"/>
          <a:lstStyle/>
          <a:p>
            <a:pPr algn="ctr" indent="0" marL="0">
              <a:buNone/>
            </a:pPr>
            <a:r>
              <a:rPr lang="en-US" sz="1100" b="1" dirty="0">
                <a:solidFill>
                  <a:srgbClr val="5AA0F0"/>
                </a:solidFill>
              </a:rPr>
              <a:t>1</a:t>
            </a:r>
            <a:endParaRPr lang="en-US" sz="1100" dirty="0"/>
          </a:p>
        </p:txBody>
      </p:sp>
      <p:sp>
        <p:nvSpPr>
          <p:cNvPr id="8" name="Must-have"/>
          <p:cNvSpPr txBox="1"/>
          <p:nvPr/>
        </p:nvSpPr>
        <p:spPr>
          <a:xfrm>
            <a:off x="3246120" y="2001012"/>
            <a:ext cx="6309360" cy="548640"/>
          </a:xfrm>
          <a:prstGeom prst="rect">
            <a:avLst/>
          </a:prstGeom>
          <a:noFill/>
          <a:ln/>
        </p:spPr>
        <p:txBody>
          <a:bodyPr wrap="square" lIns="0" tIns="0" rIns="0" bIns="0" rtlCol="0" anchor="t"/>
          <a:lstStyle/>
          <a:p>
            <a:pPr indent="0" marL="0">
              <a:buNone/>
            </a:pPr>
            <a:r>
              <a:rPr lang="en-US" sz="1400" b="1" dirty="0">
                <a:solidFill>
                  <a:schemeClr val="tx1"/>
                </a:solidFill>
              </a:rPr>
              <a:t>Skills profile intake</a:t>
            </a:r>
            <a:endParaRPr lang="en-US" sz="1400" dirty="0"/>
          </a:p>
          <a:p>
            <a:pPr indent="0" marL="0">
              <a:buNone/>
            </a:pPr>
            <a:r>
              <a:rPr lang="en-US" sz="1150" dirty="0">
                <a:solidFill>
                  <a:schemeClr val="bg2"/>
                </a:solidFill>
              </a:rPr>
              <a:t>CV, LinkedIn, scan or a few questions. Personal details removed first.</a:t>
            </a:r>
            <a:endParaRPr lang="en-US" sz="1400" dirty="0"/>
          </a:p>
        </p:txBody>
      </p:sp>
      <p:sp>
        <p:nvSpPr>
          <p:cNvPr id="9" name="Status"/>
          <p:cNvSpPr/>
          <p:nvPr/>
        </p:nvSpPr>
        <p:spPr>
          <a:xfrm>
            <a:off x="9829800" y="211988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10" name="Demo act"/>
          <p:cNvSpPr txBox="1"/>
          <p:nvPr/>
        </p:nvSpPr>
        <p:spPr>
          <a:xfrm>
            <a:off x="10698480" y="213817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1</a:t>
            </a:r>
            <a:endParaRPr lang="en-US" sz="1100" dirty="0"/>
          </a:p>
        </p:txBody>
      </p:sp>
      <p:sp>
        <p:nvSpPr>
          <p:cNvPr id="11" name="Rule"/>
          <p:cNvSpPr/>
          <p:nvPr/>
        </p:nvSpPr>
        <p:spPr>
          <a:xfrm>
            <a:off x="2743200" y="2621280"/>
            <a:ext cx="8897112" cy="0"/>
          </a:xfrm>
          <a:prstGeom prst="line">
            <a:avLst/>
          </a:prstGeom>
          <a:noFill/>
          <a:ln w="9525">
            <a:solidFill>
              <a:srgbClr val="1C2333"/>
            </a:solidFill>
            <a:prstDash val="solid"/>
          </a:ln>
        </p:spPr>
        <p:txBody>
          <a:bodyPr/>
          <a:p/>
        </p:txBody>
      </p:sp>
      <p:sp>
        <p:nvSpPr>
          <p:cNvPr id="12" name="Must-have number"/>
          <p:cNvSpPr/>
          <p:nvPr/>
        </p:nvSpPr>
        <p:spPr>
          <a:xfrm>
            <a:off x="2743200" y="2839212"/>
            <a:ext cx="310896" cy="310896"/>
          </a:xfrm>
          <a:prstGeom prst="ellipse">
            <a:avLst/>
          </a:prstGeom>
          <a:solidFill>
            <a:srgbClr val="05070D"/>
          </a:solidFill>
          <a:ln w="15875">
            <a:solidFill>
              <a:srgbClr val="2FD4A0"/>
            </a:solidFill>
          </a:ln>
        </p:spPr>
        <p:txBody>
          <a:bodyPr wrap="square" lIns="0" tIns="0" rIns="0" bIns="0" rtlCol="0" anchor="ctr"/>
          <a:lstStyle/>
          <a:p>
            <a:pPr algn="ctr" indent="0" marL="0">
              <a:buNone/>
            </a:pPr>
            <a:r>
              <a:rPr lang="en-US" sz="1100" b="1" dirty="0">
                <a:solidFill>
                  <a:srgbClr val="2FD4A0"/>
                </a:solidFill>
              </a:rPr>
              <a:t>2</a:t>
            </a:r>
            <a:endParaRPr lang="en-US" sz="1100" dirty="0"/>
          </a:p>
        </p:txBody>
      </p:sp>
      <p:sp>
        <p:nvSpPr>
          <p:cNvPr id="13" name="Must-have"/>
          <p:cNvSpPr txBox="1"/>
          <p:nvPr/>
        </p:nvSpPr>
        <p:spPr>
          <a:xfrm>
            <a:off x="3246120" y="2747772"/>
            <a:ext cx="6309360" cy="548640"/>
          </a:xfrm>
          <a:prstGeom prst="rect">
            <a:avLst/>
          </a:prstGeom>
          <a:noFill/>
          <a:ln/>
        </p:spPr>
        <p:txBody>
          <a:bodyPr wrap="square" lIns="0" tIns="0" rIns="0" bIns="0" rtlCol="0" anchor="t"/>
          <a:lstStyle/>
          <a:p>
            <a:pPr indent="0" marL="0">
              <a:buNone/>
            </a:pPr>
            <a:r>
              <a:rPr lang="en-US" sz="1400" b="1" dirty="0">
                <a:solidFill>
                  <a:schemeClr val="tx1"/>
                </a:solidFill>
              </a:rPr>
              <a:t>AI-trend signals, with source and date</a:t>
            </a:r>
            <a:endParaRPr lang="en-US" sz="1400" dirty="0"/>
          </a:p>
          <a:p>
            <a:pPr indent="0" marL="0">
              <a:buNone/>
            </a:pPr>
            <a:r>
              <a:rPr lang="en-US" sz="1150" dirty="0">
                <a:solidFill>
                  <a:schemeClr val="bg2"/>
                </a:solidFill>
              </a:rPr>
              <a:t>74 trusted sites. Every quote checked, three agents vote.</a:t>
            </a:r>
            <a:endParaRPr lang="en-US" sz="1400" dirty="0"/>
          </a:p>
        </p:txBody>
      </p:sp>
      <p:sp>
        <p:nvSpPr>
          <p:cNvPr id="14" name="Status"/>
          <p:cNvSpPr/>
          <p:nvPr/>
        </p:nvSpPr>
        <p:spPr>
          <a:xfrm>
            <a:off x="9829800" y="286664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15" name="Demo act"/>
          <p:cNvSpPr txBox="1"/>
          <p:nvPr/>
        </p:nvSpPr>
        <p:spPr>
          <a:xfrm>
            <a:off x="10698480" y="288493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3</a:t>
            </a:r>
            <a:endParaRPr lang="en-US" sz="1100" dirty="0"/>
          </a:p>
        </p:txBody>
      </p:sp>
      <p:sp>
        <p:nvSpPr>
          <p:cNvPr id="16" name="Rule"/>
          <p:cNvSpPr/>
          <p:nvPr/>
        </p:nvSpPr>
        <p:spPr>
          <a:xfrm>
            <a:off x="2743200" y="3368040"/>
            <a:ext cx="8897112" cy="0"/>
          </a:xfrm>
          <a:prstGeom prst="line">
            <a:avLst/>
          </a:prstGeom>
          <a:noFill/>
          <a:ln w="9525">
            <a:solidFill>
              <a:srgbClr val="1C2333"/>
            </a:solidFill>
            <a:prstDash val="solid"/>
          </a:ln>
        </p:spPr>
        <p:txBody>
          <a:bodyPr/>
          <a:p/>
        </p:txBody>
      </p:sp>
      <p:sp>
        <p:nvSpPr>
          <p:cNvPr id="17" name="Must-have number"/>
          <p:cNvSpPr/>
          <p:nvPr/>
        </p:nvSpPr>
        <p:spPr>
          <a:xfrm>
            <a:off x="2743200" y="3585972"/>
            <a:ext cx="310896" cy="310896"/>
          </a:xfrm>
          <a:prstGeom prst="ellipse">
            <a:avLst/>
          </a:prstGeom>
          <a:solidFill>
            <a:srgbClr val="05070D"/>
          </a:solidFill>
          <a:ln w="15875">
            <a:solidFill>
              <a:srgbClr val="FF7A3D"/>
            </a:solidFill>
          </a:ln>
        </p:spPr>
        <p:txBody>
          <a:bodyPr wrap="square" lIns="0" tIns="0" rIns="0" bIns="0" rtlCol="0" anchor="ctr"/>
          <a:lstStyle/>
          <a:p>
            <a:pPr algn="ctr" indent="0" marL="0">
              <a:buNone/>
            </a:pPr>
            <a:r>
              <a:rPr lang="en-US" sz="1100" b="1" dirty="0">
                <a:solidFill>
                  <a:srgbClr val="FF7A3D"/>
                </a:solidFill>
              </a:rPr>
              <a:t>3</a:t>
            </a:r>
            <a:endParaRPr lang="en-US" sz="1100" dirty="0"/>
          </a:p>
        </p:txBody>
      </p:sp>
      <p:sp>
        <p:nvSpPr>
          <p:cNvPr id="18" name="Must-have"/>
          <p:cNvSpPr txBox="1"/>
          <p:nvPr/>
        </p:nvSpPr>
        <p:spPr>
          <a:xfrm>
            <a:off x="3246120" y="3494532"/>
            <a:ext cx="6309360" cy="548640"/>
          </a:xfrm>
          <a:prstGeom prst="rect">
            <a:avLst/>
          </a:prstGeom>
          <a:noFill/>
          <a:ln/>
        </p:spPr>
        <p:txBody>
          <a:bodyPr wrap="square" lIns="0" tIns="0" rIns="0" bIns="0" rtlCol="0" anchor="t"/>
          <a:lstStyle/>
          <a:p>
            <a:pPr indent="0" marL="0">
              <a:buNone/>
            </a:pPr>
            <a:r>
              <a:rPr lang="en-US" sz="1400" b="1" dirty="0">
                <a:solidFill>
                  <a:schemeClr val="tx1"/>
                </a:solidFill>
              </a:rPr>
              <a:t>Ranked roles, with the match explained</a:t>
            </a:r>
            <a:endParaRPr lang="en-US" sz="1400" dirty="0"/>
          </a:p>
          <a:p>
            <a:pPr indent="0" marL="0">
              <a:buNone/>
            </a:pPr>
            <a:r>
              <a:rPr lang="en-US" sz="1150" dirty="0">
                <a:solidFill>
                  <a:schemeClr val="bg2"/>
                </a:solidFill>
              </a:rPr>
              <a:t>Match score, gap in weeks, and whether demand is rising.</a:t>
            </a:r>
            <a:endParaRPr lang="en-US" sz="1400" dirty="0"/>
          </a:p>
        </p:txBody>
      </p:sp>
      <p:sp>
        <p:nvSpPr>
          <p:cNvPr id="19" name="Status"/>
          <p:cNvSpPr/>
          <p:nvPr/>
        </p:nvSpPr>
        <p:spPr>
          <a:xfrm>
            <a:off x="9829800" y="361340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20" name="Demo act"/>
          <p:cNvSpPr txBox="1"/>
          <p:nvPr/>
        </p:nvSpPr>
        <p:spPr>
          <a:xfrm>
            <a:off x="10698480" y="363169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2</a:t>
            </a:r>
            <a:endParaRPr lang="en-US" sz="1100" dirty="0"/>
          </a:p>
        </p:txBody>
      </p:sp>
      <p:sp>
        <p:nvSpPr>
          <p:cNvPr id="21" name="Rule"/>
          <p:cNvSpPr/>
          <p:nvPr/>
        </p:nvSpPr>
        <p:spPr>
          <a:xfrm>
            <a:off x="2743200" y="4114800"/>
            <a:ext cx="8897112" cy="0"/>
          </a:xfrm>
          <a:prstGeom prst="line">
            <a:avLst/>
          </a:prstGeom>
          <a:noFill/>
          <a:ln w="9525">
            <a:solidFill>
              <a:srgbClr val="1C2333"/>
            </a:solidFill>
            <a:prstDash val="solid"/>
          </a:ln>
        </p:spPr>
        <p:txBody>
          <a:bodyPr/>
          <a:p/>
        </p:txBody>
      </p:sp>
      <p:sp>
        <p:nvSpPr>
          <p:cNvPr id="22" name="Must-have number"/>
          <p:cNvSpPr/>
          <p:nvPr/>
        </p:nvSpPr>
        <p:spPr>
          <a:xfrm>
            <a:off x="2743200" y="4332732"/>
            <a:ext cx="310896" cy="310896"/>
          </a:xfrm>
          <a:prstGeom prst="ellipse">
            <a:avLst/>
          </a:prstGeom>
          <a:solidFill>
            <a:srgbClr val="05070D"/>
          </a:solidFill>
          <a:ln w="15875">
            <a:solidFill>
              <a:srgbClr val="2FD4A0"/>
            </a:solidFill>
          </a:ln>
        </p:spPr>
        <p:txBody>
          <a:bodyPr wrap="square" lIns="0" tIns="0" rIns="0" bIns="0" rtlCol="0" anchor="ctr"/>
          <a:lstStyle/>
          <a:p>
            <a:pPr algn="ctr" indent="0" marL="0">
              <a:buNone/>
            </a:pPr>
            <a:r>
              <a:rPr lang="en-US" sz="1100" b="1" dirty="0">
                <a:solidFill>
                  <a:srgbClr val="2FD4A0"/>
                </a:solidFill>
              </a:rPr>
              <a:t>4</a:t>
            </a:r>
            <a:endParaRPr lang="en-US" sz="1100" dirty="0"/>
          </a:p>
        </p:txBody>
      </p:sp>
      <p:sp>
        <p:nvSpPr>
          <p:cNvPr id="23" name="Must-have"/>
          <p:cNvSpPr txBox="1"/>
          <p:nvPr/>
        </p:nvSpPr>
        <p:spPr>
          <a:xfrm>
            <a:off x="3246120" y="4241292"/>
            <a:ext cx="6309360" cy="548640"/>
          </a:xfrm>
          <a:prstGeom prst="rect">
            <a:avLst/>
          </a:prstGeom>
          <a:noFill/>
          <a:ln/>
        </p:spPr>
        <p:txBody>
          <a:bodyPr wrap="square" lIns="0" tIns="0" rIns="0" bIns="0" rtlCol="0" anchor="t"/>
          <a:lstStyle/>
          <a:p>
            <a:pPr indent="0" marL="0">
              <a:buNone/>
            </a:pPr>
            <a:r>
              <a:rPr lang="en-US" sz="1400" b="1" dirty="0">
                <a:solidFill>
                  <a:schemeClr val="tx1"/>
                </a:solidFill>
              </a:rPr>
              <a:t>A personal pathway, with time and cost</a:t>
            </a:r>
            <a:endParaRPr lang="en-US" sz="1400" dirty="0"/>
          </a:p>
          <a:p>
            <a:pPr indent="0" marL="0">
              <a:buNone/>
            </a:pPr>
            <a:r>
              <a:rPr lang="en-US" sz="1150" dirty="0">
                <a:solidFill>
                  <a:schemeClr val="bg2"/>
                </a:solidFill>
              </a:rPr>
              <a:t>Fastest, Balanced or Safest, fitted to her hours, with RM cost.</a:t>
            </a:r>
            <a:endParaRPr lang="en-US" sz="1400" dirty="0"/>
          </a:p>
        </p:txBody>
      </p:sp>
      <p:sp>
        <p:nvSpPr>
          <p:cNvPr id="24" name="Status"/>
          <p:cNvSpPr/>
          <p:nvPr/>
        </p:nvSpPr>
        <p:spPr>
          <a:xfrm>
            <a:off x="9829800" y="436016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25" name="Demo act"/>
          <p:cNvSpPr txBox="1"/>
          <p:nvPr/>
        </p:nvSpPr>
        <p:spPr>
          <a:xfrm>
            <a:off x="10698480" y="437845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2</a:t>
            </a:r>
            <a:endParaRPr lang="en-US" sz="1100" dirty="0"/>
          </a:p>
        </p:txBody>
      </p:sp>
      <p:sp>
        <p:nvSpPr>
          <p:cNvPr id="26" name="Rule"/>
          <p:cNvSpPr/>
          <p:nvPr/>
        </p:nvSpPr>
        <p:spPr>
          <a:xfrm>
            <a:off x="2743200" y="4861560"/>
            <a:ext cx="8897112" cy="0"/>
          </a:xfrm>
          <a:prstGeom prst="line">
            <a:avLst/>
          </a:prstGeom>
          <a:noFill/>
          <a:ln w="9525">
            <a:solidFill>
              <a:srgbClr val="1C2333"/>
            </a:solidFill>
            <a:prstDash val="solid"/>
          </a:ln>
        </p:spPr>
        <p:txBody>
          <a:bodyPr/>
          <a:p/>
        </p:txBody>
      </p:sp>
      <p:sp>
        <p:nvSpPr>
          <p:cNvPr id="27" name="Must-have number"/>
          <p:cNvSpPr/>
          <p:nvPr/>
        </p:nvSpPr>
        <p:spPr>
          <a:xfrm>
            <a:off x="2743200" y="5079492"/>
            <a:ext cx="310896" cy="310896"/>
          </a:xfrm>
          <a:prstGeom prst="ellipse">
            <a:avLst/>
          </a:prstGeom>
          <a:solidFill>
            <a:srgbClr val="05070D"/>
          </a:solidFill>
          <a:ln w="15875">
            <a:solidFill>
              <a:srgbClr val="A98BFF"/>
            </a:solidFill>
          </a:ln>
        </p:spPr>
        <p:txBody>
          <a:bodyPr wrap="square" lIns="0" tIns="0" rIns="0" bIns="0" rtlCol="0" anchor="ctr"/>
          <a:lstStyle/>
          <a:p>
            <a:pPr algn="ctr" indent="0" marL="0">
              <a:buNone/>
            </a:pPr>
            <a:r>
              <a:rPr lang="en-US" sz="1100" b="1" dirty="0">
                <a:solidFill>
                  <a:srgbClr val="A98BFF"/>
                </a:solidFill>
              </a:rPr>
              <a:t>5</a:t>
            </a:r>
            <a:endParaRPr lang="en-US" sz="1100" dirty="0"/>
          </a:p>
        </p:txBody>
      </p:sp>
      <p:sp>
        <p:nvSpPr>
          <p:cNvPr id="28" name="Must-have"/>
          <p:cNvSpPr txBox="1"/>
          <p:nvPr/>
        </p:nvSpPr>
        <p:spPr>
          <a:xfrm>
            <a:off x="3246120" y="4988052"/>
            <a:ext cx="6309360" cy="548640"/>
          </a:xfrm>
          <a:prstGeom prst="rect">
            <a:avLst/>
          </a:prstGeom>
          <a:noFill/>
          <a:ln/>
        </p:spPr>
        <p:txBody>
          <a:bodyPr wrap="square" lIns="0" tIns="0" rIns="0" bIns="0" rtlCol="0" anchor="t"/>
          <a:lstStyle/>
          <a:p>
            <a:pPr indent="0" marL="0">
              <a:buNone/>
            </a:pPr>
            <a:r>
              <a:rPr lang="en-US" sz="1400" b="1" dirty="0">
                <a:solidFill>
                  <a:schemeClr val="tx1"/>
                </a:solidFill>
              </a:rPr>
              <a:t>SDG mapping that changes something</a:t>
            </a:r>
            <a:endParaRPr lang="en-US" sz="1400" dirty="0"/>
          </a:p>
          <a:p>
            <a:pPr indent="0" marL="0">
              <a:buNone/>
            </a:pPr>
            <a:r>
              <a:rPr lang="en-US" sz="1150" dirty="0">
                <a:solidFill>
                  <a:schemeClr val="bg2"/>
                </a:solidFill>
              </a:rPr>
              <a:t>Put a UN goal first and the job list re-ranks.</a:t>
            </a:r>
            <a:endParaRPr lang="en-US" sz="1400" dirty="0"/>
          </a:p>
        </p:txBody>
      </p:sp>
      <p:sp>
        <p:nvSpPr>
          <p:cNvPr id="29" name="Status"/>
          <p:cNvSpPr/>
          <p:nvPr/>
        </p:nvSpPr>
        <p:spPr>
          <a:xfrm>
            <a:off x="9829800" y="510692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30" name="Demo act"/>
          <p:cNvSpPr txBox="1"/>
          <p:nvPr/>
        </p:nvSpPr>
        <p:spPr>
          <a:xfrm>
            <a:off x="10698480" y="512521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2</a:t>
            </a:r>
            <a:endParaRPr lang="en-US" sz="1100" dirty="0"/>
          </a:p>
        </p:txBody>
      </p:sp>
      <p:sp>
        <p:nvSpPr>
          <p:cNvPr id="31" name="Rule"/>
          <p:cNvSpPr/>
          <p:nvPr/>
        </p:nvSpPr>
        <p:spPr>
          <a:xfrm>
            <a:off x="2743200" y="5608320"/>
            <a:ext cx="8897112" cy="0"/>
          </a:xfrm>
          <a:prstGeom prst="line">
            <a:avLst/>
          </a:prstGeom>
          <a:noFill/>
          <a:ln w="9525">
            <a:solidFill>
              <a:srgbClr val="1C2333"/>
            </a:solidFill>
            <a:prstDash val="solid"/>
          </a:ln>
        </p:spPr>
        <p:txBody>
          <a:bodyPr/>
          <a:p/>
        </p:txBody>
      </p:sp>
      <p:sp>
        <p:nvSpPr>
          <p:cNvPr id="32" name="Must-have number"/>
          <p:cNvSpPr/>
          <p:nvPr/>
        </p:nvSpPr>
        <p:spPr>
          <a:xfrm>
            <a:off x="2743200" y="5826252"/>
            <a:ext cx="310896" cy="310896"/>
          </a:xfrm>
          <a:prstGeom prst="ellipse">
            <a:avLst/>
          </a:prstGeom>
          <a:solidFill>
            <a:srgbClr val="05070D"/>
          </a:solidFill>
          <a:ln w="15875">
            <a:solidFill>
              <a:srgbClr val="EEF2F8"/>
            </a:solidFill>
          </a:ln>
        </p:spPr>
        <p:txBody>
          <a:bodyPr wrap="square" lIns="0" tIns="0" rIns="0" bIns="0" rtlCol="0" anchor="ctr"/>
          <a:lstStyle/>
          <a:p>
            <a:pPr algn="ctr" indent="0" marL="0">
              <a:buNone/>
            </a:pPr>
            <a:r>
              <a:rPr lang="en-US" sz="1100" b="1" dirty="0">
                <a:solidFill>
                  <a:srgbClr val="EEF2F8"/>
                </a:solidFill>
              </a:rPr>
              <a:t>6</a:t>
            </a:r>
            <a:endParaRPr lang="en-US" sz="1100" dirty="0"/>
          </a:p>
        </p:txBody>
      </p:sp>
      <p:sp>
        <p:nvSpPr>
          <p:cNvPr id="33" name="Must-have"/>
          <p:cNvSpPr txBox="1"/>
          <p:nvPr/>
        </p:nvSpPr>
        <p:spPr>
          <a:xfrm>
            <a:off x="3246120" y="5734812"/>
            <a:ext cx="6309360" cy="548640"/>
          </a:xfrm>
          <a:prstGeom prst="rect">
            <a:avLst/>
          </a:prstGeom>
          <a:noFill/>
          <a:ln/>
        </p:spPr>
        <p:txBody>
          <a:bodyPr wrap="square" lIns="0" tIns="0" rIns="0" bIns="0" rtlCol="0" anchor="t"/>
          <a:lstStyle/>
          <a:p>
            <a:pPr indent="0" marL="0">
              <a:buNone/>
            </a:pPr>
            <a:r>
              <a:rPr lang="en-US" sz="1400" b="1" dirty="0">
                <a:solidFill>
                  <a:schemeClr val="tx1"/>
                </a:solidFill>
              </a:rPr>
              <a:t>More than one future, as estimates</a:t>
            </a:r>
            <a:endParaRPr lang="en-US" sz="1400" dirty="0"/>
          </a:p>
          <a:p>
            <a:pPr indent="0" marL="0">
              <a:buNone/>
            </a:pPr>
            <a:r>
              <a:rPr lang="en-US" sz="1150" dirty="0">
                <a:solidFill>
                  <a:schemeClr val="bg2"/>
                </a:solidFill>
              </a:rPr>
              <a:t>Slow or fast AI, 2026 to 2030, 1,000 futures per route.</a:t>
            </a:r>
            <a:endParaRPr lang="en-US" sz="1400" dirty="0"/>
          </a:p>
        </p:txBody>
      </p:sp>
      <p:sp>
        <p:nvSpPr>
          <p:cNvPr id="34" name="Status"/>
          <p:cNvSpPr/>
          <p:nvPr/>
        </p:nvSpPr>
        <p:spPr>
          <a:xfrm>
            <a:off x="9829800" y="585368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35" name="Demo act"/>
          <p:cNvSpPr txBox="1"/>
          <p:nvPr/>
        </p:nvSpPr>
        <p:spPr>
          <a:xfrm>
            <a:off x="10698480" y="587197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Acts 2, 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07</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07</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UN goals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A UN goal that changes the ranking, not just a label</a:t>
            </a:r>
            <a:endParaRPr lang="en-US" sz="3200" dirty="0"/>
          </a:p>
        </p:txBody>
      </p:sp>
      <p:pic>
        <p:nvPicPr>
          <p:cNvPr id="6" name="SDG icon" descr="UN Sustainable Development Goal icon">    </p:cNvPr>
          <p:cNvPicPr>
            <a:picLocks noChangeAspect="1"/>
          </p:cNvPicPr>
          <p:nvPr/>
        </p:nvPicPr>
        <p:blipFill>
          <a:blip r:embed="rId1"/>
          <a:stretch>
            <a:fillRect/>
          </a:stretch>
        </p:blipFill>
        <p:spPr>
          <a:xfrm>
            <a:off x="3177540" y="2057400"/>
            <a:ext cx="1234440" cy="1234440"/>
          </a:xfrm>
          <a:prstGeom prst="rect">
            <a:avLst/>
          </a:prstGeom>
        </p:spPr>
      </p:pic>
      <p:sp>
        <p:nvSpPr>
          <p:cNvPr id="7" name="Goal title"/>
          <p:cNvSpPr txBox="1"/>
          <p:nvPr/>
        </p:nvSpPr>
        <p:spPr>
          <a:xfrm>
            <a:off x="274320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Decent work</a:t>
            </a:r>
            <a:endParaRPr lang="en-US" sz="1400" dirty="0"/>
          </a:p>
        </p:txBody>
      </p:sp>
      <p:sp>
        <p:nvSpPr>
          <p:cNvPr id="8" name="Target"/>
          <p:cNvSpPr txBox="1"/>
          <p:nvPr/>
        </p:nvSpPr>
        <p:spPr>
          <a:xfrm>
            <a:off x="274320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Target 8.5</a:t>
            </a:r>
            <a:endParaRPr lang="en-US" sz="1050" dirty="0"/>
          </a:p>
        </p:txBody>
      </p:sp>
      <p:sp>
        <p:nvSpPr>
          <p:cNvPr id="9" name="Goal text"/>
          <p:cNvSpPr txBox="1"/>
          <p:nvPr/>
        </p:nvSpPr>
        <p:spPr>
          <a:xfrm>
            <a:off x="274320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Move workers whose jobs are exposed to AI into new roles, instead of laying them off.</a:t>
            </a:r>
            <a:endParaRPr lang="en-US" sz="1200" dirty="0"/>
          </a:p>
        </p:txBody>
      </p:sp>
      <p:pic>
        <p:nvPicPr>
          <p:cNvPr id="10" name="SDG icon" descr="UN Sustainable Development Goal icon">    </p:cNvPr>
          <p:cNvPicPr>
            <a:picLocks noChangeAspect="1"/>
          </p:cNvPicPr>
          <p:nvPr/>
        </p:nvPicPr>
        <p:blipFill>
          <a:blip r:embed="rId2"/>
          <a:stretch>
            <a:fillRect/>
          </a:stretch>
        </p:blipFill>
        <p:spPr>
          <a:xfrm>
            <a:off x="5417820" y="2057400"/>
            <a:ext cx="1234440" cy="1234440"/>
          </a:xfrm>
          <a:prstGeom prst="rect">
            <a:avLst/>
          </a:prstGeom>
        </p:spPr>
      </p:pic>
      <p:sp>
        <p:nvSpPr>
          <p:cNvPr id="11" name="Goal title"/>
          <p:cNvSpPr txBox="1"/>
          <p:nvPr/>
        </p:nvSpPr>
        <p:spPr>
          <a:xfrm>
            <a:off x="498348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Productivity through innovation</a:t>
            </a:r>
            <a:endParaRPr lang="en-US" sz="1400" dirty="0"/>
          </a:p>
        </p:txBody>
      </p:sp>
      <p:sp>
        <p:nvSpPr>
          <p:cNvPr id="12" name="Target"/>
          <p:cNvSpPr txBox="1"/>
          <p:nvPr/>
        </p:nvSpPr>
        <p:spPr>
          <a:xfrm>
            <a:off x="498348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Target 8.2</a:t>
            </a:r>
            <a:endParaRPr lang="en-US" sz="1050" dirty="0"/>
          </a:p>
        </p:txBody>
      </p:sp>
      <p:sp>
        <p:nvSpPr>
          <p:cNvPr id="13" name="Goal text"/>
          <p:cNvSpPr txBox="1"/>
          <p:nvPr/>
        </p:nvSpPr>
        <p:spPr>
          <a:xfrm>
            <a:off x="498348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Workers learn the AI skills their own job now needs.</a:t>
            </a:r>
            <a:endParaRPr lang="en-US" sz="1200" dirty="0"/>
          </a:p>
        </p:txBody>
      </p:sp>
      <p:pic>
        <p:nvPicPr>
          <p:cNvPr id="14" name="SDG icon" descr="UN Sustainable Development Goal icon">    </p:cNvPr>
          <p:cNvPicPr>
            <a:picLocks noChangeAspect="1"/>
          </p:cNvPicPr>
          <p:nvPr/>
        </p:nvPicPr>
        <p:blipFill>
          <a:blip r:embed="rId3"/>
          <a:stretch>
            <a:fillRect/>
          </a:stretch>
        </p:blipFill>
        <p:spPr>
          <a:xfrm>
            <a:off x="7658100" y="2057400"/>
            <a:ext cx="1234440" cy="1234440"/>
          </a:xfrm>
          <a:prstGeom prst="rect">
            <a:avLst/>
          </a:prstGeom>
        </p:spPr>
      </p:pic>
      <p:sp>
        <p:nvSpPr>
          <p:cNvPr id="15" name="Goal title"/>
          <p:cNvSpPr txBox="1"/>
          <p:nvPr/>
        </p:nvSpPr>
        <p:spPr>
          <a:xfrm>
            <a:off x="722376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Skills for work</a:t>
            </a:r>
            <a:endParaRPr lang="en-US" sz="1400" dirty="0"/>
          </a:p>
        </p:txBody>
      </p:sp>
      <p:sp>
        <p:nvSpPr>
          <p:cNvPr id="16" name="Target"/>
          <p:cNvSpPr txBox="1"/>
          <p:nvPr/>
        </p:nvSpPr>
        <p:spPr>
          <a:xfrm>
            <a:off x="722376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Target 4.4</a:t>
            </a:r>
            <a:endParaRPr lang="en-US" sz="1050" dirty="0"/>
          </a:p>
        </p:txBody>
      </p:sp>
      <p:sp>
        <p:nvSpPr>
          <p:cNvPr id="17" name="Goal text"/>
          <p:cNvSpPr txBox="1"/>
          <p:nvPr/>
        </p:nvSpPr>
        <p:spPr>
          <a:xfrm>
            <a:off x="722376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Every route is a skills plan, with hours and courses.</a:t>
            </a:r>
            <a:endParaRPr lang="en-US" sz="1200" dirty="0"/>
          </a:p>
        </p:txBody>
      </p:sp>
      <p:pic>
        <p:nvPicPr>
          <p:cNvPr id="18" name="SDG grid" descr="SDG 01">    </p:cNvPr>
          <p:cNvPicPr>
            <a:picLocks noChangeAspect="1"/>
          </p:cNvPicPr>
          <p:nvPr/>
        </p:nvPicPr>
        <p:blipFill>
          <a:blip r:embed="rId4"/>
          <a:stretch>
            <a:fillRect/>
          </a:stretch>
        </p:blipFill>
        <p:spPr>
          <a:xfrm>
            <a:off x="9898380" y="2057400"/>
            <a:ext cx="411480" cy="411480"/>
          </a:xfrm>
          <a:prstGeom prst="rect">
            <a:avLst/>
          </a:prstGeom>
        </p:spPr>
      </p:pic>
      <p:pic>
        <p:nvPicPr>
          <p:cNvPr id="19" name="SDG grid" descr="SDG 03">    </p:cNvPr>
          <p:cNvPicPr>
            <a:picLocks noChangeAspect="1"/>
          </p:cNvPicPr>
          <p:nvPr/>
        </p:nvPicPr>
        <p:blipFill>
          <a:blip r:embed="rId5"/>
          <a:stretch>
            <a:fillRect/>
          </a:stretch>
        </p:blipFill>
        <p:spPr>
          <a:xfrm>
            <a:off x="10309860" y="2057400"/>
            <a:ext cx="411480" cy="411480"/>
          </a:xfrm>
          <a:prstGeom prst="rect">
            <a:avLst/>
          </a:prstGeom>
        </p:spPr>
      </p:pic>
      <p:pic>
        <p:nvPicPr>
          <p:cNvPr id="20" name="SDG grid" descr="SDG 05">    </p:cNvPr>
          <p:cNvPicPr>
            <a:picLocks noChangeAspect="1"/>
          </p:cNvPicPr>
          <p:nvPr/>
        </p:nvPicPr>
        <p:blipFill>
          <a:blip r:embed="rId6"/>
          <a:stretch>
            <a:fillRect/>
          </a:stretch>
        </p:blipFill>
        <p:spPr>
          <a:xfrm>
            <a:off x="10721340" y="2057400"/>
            <a:ext cx="411480" cy="411480"/>
          </a:xfrm>
          <a:prstGeom prst="rect">
            <a:avLst/>
          </a:prstGeom>
        </p:spPr>
      </p:pic>
      <p:pic>
        <p:nvPicPr>
          <p:cNvPr id="21" name="SDG grid" descr="SDG 07">    </p:cNvPr>
          <p:cNvPicPr>
            <a:picLocks noChangeAspect="1"/>
          </p:cNvPicPr>
          <p:nvPr/>
        </p:nvPicPr>
        <p:blipFill>
          <a:blip r:embed="rId7"/>
          <a:stretch>
            <a:fillRect/>
          </a:stretch>
        </p:blipFill>
        <p:spPr>
          <a:xfrm>
            <a:off x="9898380" y="2468880"/>
            <a:ext cx="411480" cy="411480"/>
          </a:xfrm>
          <a:prstGeom prst="rect">
            <a:avLst/>
          </a:prstGeom>
        </p:spPr>
      </p:pic>
      <p:pic>
        <p:nvPicPr>
          <p:cNvPr id="22" name="SDG grid" descr="SDG 10">    </p:cNvPr>
          <p:cNvPicPr>
            <a:picLocks noChangeAspect="1"/>
          </p:cNvPicPr>
          <p:nvPr/>
        </p:nvPicPr>
        <p:blipFill>
          <a:blip r:embed="rId8"/>
          <a:stretch>
            <a:fillRect/>
          </a:stretch>
        </p:blipFill>
        <p:spPr>
          <a:xfrm>
            <a:off x="10309860" y="2468880"/>
            <a:ext cx="411480" cy="411480"/>
          </a:xfrm>
          <a:prstGeom prst="rect">
            <a:avLst/>
          </a:prstGeom>
        </p:spPr>
      </p:pic>
      <p:pic>
        <p:nvPicPr>
          <p:cNvPr id="23" name="SDG grid" descr="SDG 11">    </p:cNvPr>
          <p:cNvPicPr>
            <a:picLocks noChangeAspect="1"/>
          </p:cNvPicPr>
          <p:nvPr/>
        </p:nvPicPr>
        <p:blipFill>
          <a:blip r:embed="rId9"/>
          <a:stretch>
            <a:fillRect/>
          </a:stretch>
        </p:blipFill>
        <p:spPr>
          <a:xfrm>
            <a:off x="10721340" y="2468880"/>
            <a:ext cx="411480" cy="411480"/>
          </a:xfrm>
          <a:prstGeom prst="rect">
            <a:avLst/>
          </a:prstGeom>
        </p:spPr>
      </p:pic>
      <p:pic>
        <p:nvPicPr>
          <p:cNvPr id="24" name="SDG grid" descr="SDG 13">    </p:cNvPr>
          <p:cNvPicPr>
            <a:picLocks noChangeAspect="1"/>
          </p:cNvPicPr>
          <p:nvPr/>
        </p:nvPicPr>
        <p:blipFill>
          <a:blip r:embed="rId10"/>
          <a:stretch>
            <a:fillRect/>
          </a:stretch>
        </p:blipFill>
        <p:spPr>
          <a:xfrm>
            <a:off x="9898380" y="2880360"/>
            <a:ext cx="411480" cy="411480"/>
          </a:xfrm>
          <a:prstGeom prst="rect">
            <a:avLst/>
          </a:prstGeom>
        </p:spPr>
      </p:pic>
      <p:pic>
        <p:nvPicPr>
          <p:cNvPr id="25" name="SDG grid" descr="SDG 04">    </p:cNvPr>
          <p:cNvPicPr>
            <a:picLocks noChangeAspect="1"/>
          </p:cNvPicPr>
          <p:nvPr/>
        </p:nvPicPr>
        <p:blipFill>
          <a:blip r:embed="rId11"/>
          <a:stretch>
            <a:fillRect/>
          </a:stretch>
        </p:blipFill>
        <p:spPr>
          <a:xfrm>
            <a:off x="10309860" y="2880360"/>
            <a:ext cx="411480" cy="411480"/>
          </a:xfrm>
          <a:prstGeom prst="rect">
            <a:avLst/>
          </a:prstGeom>
        </p:spPr>
      </p:pic>
      <p:pic>
        <p:nvPicPr>
          <p:cNvPr id="26" name="SDG grid" descr="SDG 08">    </p:cNvPr>
          <p:cNvPicPr>
            <a:picLocks noChangeAspect="1"/>
          </p:cNvPicPr>
          <p:nvPr/>
        </p:nvPicPr>
        <p:blipFill>
          <a:blip r:embed="rId12"/>
          <a:stretch>
            <a:fillRect/>
          </a:stretch>
        </p:blipFill>
        <p:spPr>
          <a:xfrm>
            <a:off x="10721340" y="2880360"/>
            <a:ext cx="411480" cy="411480"/>
          </a:xfrm>
          <a:prstGeom prst="rect">
            <a:avLst/>
          </a:prstGeom>
        </p:spPr>
      </p:pic>
      <p:sp>
        <p:nvSpPr>
          <p:cNvPr id="27" name="Goal title"/>
          <p:cNvSpPr txBox="1"/>
          <p:nvPr/>
        </p:nvSpPr>
        <p:spPr>
          <a:xfrm>
            <a:off x="946404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Any goal, by choice</a:t>
            </a:r>
            <a:endParaRPr lang="en-US" sz="1400" dirty="0"/>
          </a:p>
        </p:txBody>
      </p:sp>
      <p:sp>
        <p:nvSpPr>
          <p:cNvPr id="28" name="Target"/>
          <p:cNvSpPr txBox="1"/>
          <p:nvPr/>
        </p:nvSpPr>
        <p:spPr>
          <a:xfrm>
            <a:off x="946404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Put a UN goal first</a:t>
            </a:r>
            <a:endParaRPr lang="en-US" sz="1050" dirty="0"/>
          </a:p>
        </p:txBody>
      </p:sp>
      <p:sp>
        <p:nvSpPr>
          <p:cNvPr id="29" name="Goal text"/>
          <p:cNvSpPr txBox="1"/>
          <p:nvPr/>
        </p:nvSpPr>
        <p:spPr>
          <a:xfrm>
            <a:off x="946404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Put the goal you care about first, and the job list re-ranks around it, showing the cost in match points.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08</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08</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Impact and feasibility</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A market of 620,000 workers who need this now.</a:t>
            </a:r>
            <a:endParaRPr lang="en-US" sz="3200" dirty="0"/>
          </a:p>
        </p:txBody>
      </p:sp>
      <p:sp>
        <p:nvSpPr>
          <p:cNvPr id="6" name="Subtitle"/>
          <p:cNvSpPr txBox="1"/>
          <p:nvPr/>
        </p:nvSpPr>
        <p:spPr>
          <a:xfrm>
            <a:off x="2743200" y="1645920"/>
            <a:ext cx="8778240" cy="320040"/>
          </a:xfrm>
          <a:prstGeom prst="rect">
            <a:avLst/>
          </a:prstGeom>
          <a:noFill/>
          <a:ln/>
        </p:spPr>
        <p:txBody>
          <a:bodyPr wrap="square" lIns="0" tIns="0" rIns="0" bIns="0" rtlCol="0" anchor="t"/>
          <a:lstStyle/>
          <a:p>
            <a:pPr indent="0" marL="0">
              <a:buNone/>
            </a:pPr>
            <a:r>
              <a:rPr lang="en-US" sz="1400" dirty="0">
                <a:solidFill>
                  <a:schemeClr val="tx2"/>
                </a:solidFill>
              </a:rPr>
              <a:t>Sized from the number of Malaysian workers in jobs that AI will change, at RM 300 per worker a year.</a:t>
            </a:r>
            <a:endParaRPr lang="en-US" sz="1400" dirty="0"/>
          </a:p>
        </p:txBody>
      </p:sp>
      <p:sp>
        <p:nvSpPr>
          <p:cNvPr id="7" name="TAM band"/>
          <p:cNvSpPr/>
          <p:nvPr/>
        </p:nvSpPr>
        <p:spPr>
          <a:xfrm flipV="1">
            <a:off x="2743200" y="2377440"/>
            <a:ext cx="4480560" cy="868680"/>
          </a:xfrm>
          <a:prstGeom prst="trapezoid">
            <a:avLst/>
          </a:prstGeom>
          <a:solidFill>
            <a:srgbClr val="5AA0F0"/>
          </a:solidFill>
          <a:ln/>
        </p:spPr>
        <p:txBody>
          <a:bodyPr/>
          <a:p/>
        </p:txBody>
      </p:sp>
      <p:sp>
        <p:nvSpPr>
          <p:cNvPr id="8" name="TAM label"/>
          <p:cNvSpPr txBox="1"/>
          <p:nvPr/>
        </p:nvSpPr>
        <p:spPr>
          <a:xfrm>
            <a:off x="3154680" y="2468880"/>
            <a:ext cx="731520" cy="201168"/>
          </a:xfrm>
          <a:prstGeom prst="rect">
            <a:avLst/>
          </a:prstGeom>
          <a:noFill/>
          <a:ln/>
        </p:spPr>
        <p:txBody>
          <a:bodyPr wrap="square" lIns="0" tIns="0" rIns="0" bIns="0" rtlCol="0" anchor="t"/>
          <a:lstStyle/>
          <a:p>
            <a:pPr indent="0" marL="0">
              <a:buNone/>
            </a:pPr>
            <a:r>
              <a:rPr lang="en-US" sz="1000" b="1" spc="200" kern="0" dirty="0">
                <a:solidFill>
                  <a:srgbClr val="FFFFFF"/>
                </a:solidFill>
              </a:rPr>
              <a:t>TAM</a:t>
            </a:r>
            <a:endParaRPr lang="en-US" sz="1000" dirty="0"/>
          </a:p>
        </p:txBody>
      </p:sp>
      <p:sp>
        <p:nvSpPr>
          <p:cNvPr id="9" name="TAM value"/>
          <p:cNvSpPr txBox="1"/>
          <p:nvPr/>
        </p:nvSpPr>
        <p:spPr>
          <a:xfrm>
            <a:off x="2743200" y="2578608"/>
            <a:ext cx="4480560" cy="548640"/>
          </a:xfrm>
          <a:prstGeom prst="rect">
            <a:avLst/>
          </a:prstGeom>
          <a:noFill/>
          <a:ln/>
        </p:spPr>
        <p:txBody>
          <a:bodyPr wrap="square" lIns="0" tIns="0" rIns="0" bIns="0" rtlCol="0" anchor="ctr"/>
          <a:lstStyle/>
          <a:p>
            <a:pPr algn="ctr" indent="0" marL="0">
              <a:buNone/>
            </a:pPr>
            <a:r>
              <a:rPr lang="en-US" sz="2800" b="1" dirty="0">
                <a:solidFill>
                  <a:srgbClr val="FFFFFF"/>
                </a:solidFill>
              </a:rPr>
              <a:t>RM 726M</a:t>
            </a:r>
            <a:endParaRPr lang="en-US" sz="2800" dirty="0"/>
          </a:p>
        </p:txBody>
      </p:sp>
      <p:sp>
        <p:nvSpPr>
          <p:cNvPr id="10" name="Rule"/>
          <p:cNvSpPr/>
          <p:nvPr/>
        </p:nvSpPr>
        <p:spPr>
          <a:xfrm>
            <a:off x="7315200" y="2811780"/>
            <a:ext cx="274320" cy="0"/>
          </a:xfrm>
          <a:prstGeom prst="line">
            <a:avLst/>
          </a:prstGeom>
          <a:noFill/>
          <a:ln w="9525">
            <a:solidFill>
              <a:srgbClr val="5AA0F0"/>
            </a:solidFill>
            <a:prstDash val="sysDot"/>
          </a:ln>
        </p:spPr>
        <p:txBody>
          <a:bodyPr/>
          <a:p/>
        </p:txBody>
      </p:sp>
      <p:sp>
        <p:nvSpPr>
          <p:cNvPr id="11" name="TAM text"/>
          <p:cNvSpPr txBox="1"/>
          <p:nvPr/>
        </p:nvSpPr>
        <p:spPr>
          <a:xfrm>
            <a:off x="7726680" y="2450592"/>
            <a:ext cx="3913632" cy="777240"/>
          </a:xfrm>
          <a:prstGeom prst="rect">
            <a:avLst/>
          </a:prstGeom>
          <a:noFill/>
          <a:ln/>
        </p:spPr>
        <p:txBody>
          <a:bodyPr wrap="square" lIns="0" tIns="0" rIns="0" bIns="0" rtlCol="0" anchor="t"/>
          <a:lstStyle/>
          <a:p>
            <a:pPr indent="0" marL="0">
              <a:buNone/>
            </a:pPr>
            <a:r>
              <a:rPr lang="en-US" sz="1400" b="1" dirty="0">
                <a:solidFill>
                  <a:schemeClr val="tx1"/>
                </a:solidFill>
              </a:rPr>
              <a:t>Everyone who could use it</a:t>
            </a:r>
            <a:endParaRPr lang="en-US" sz="1400" dirty="0"/>
          </a:p>
          <a:p>
            <a:pPr indent="0" marL="0">
              <a:buNone/>
            </a:pPr>
            <a:r>
              <a:rPr lang="en-US" sz="1200" dirty="0">
                <a:solidFill>
                  <a:schemeClr val="tx2"/>
                </a:solidFill>
              </a:rPr>
              <a:t>2.42 million Malaysian workers in jobs with high or medium AI impact</a:t>
            </a:r>
            <a:endParaRPr lang="en-US" sz="1400" dirty="0"/>
          </a:p>
        </p:txBody>
      </p:sp>
      <p:sp>
        <p:nvSpPr>
          <p:cNvPr id="12" name="SAM band"/>
          <p:cNvSpPr/>
          <p:nvPr/>
        </p:nvSpPr>
        <p:spPr>
          <a:xfrm flipV="1">
            <a:off x="3154680" y="3383280"/>
            <a:ext cx="3657600" cy="868680"/>
          </a:xfrm>
          <a:prstGeom prst="trapezoid">
            <a:avLst/>
          </a:prstGeom>
          <a:solidFill>
            <a:srgbClr val="A98BFF"/>
          </a:solidFill>
          <a:ln/>
        </p:spPr>
        <p:txBody>
          <a:bodyPr/>
          <a:p/>
        </p:txBody>
      </p:sp>
      <p:sp>
        <p:nvSpPr>
          <p:cNvPr id="13" name="SAM label"/>
          <p:cNvSpPr txBox="1"/>
          <p:nvPr/>
        </p:nvSpPr>
        <p:spPr>
          <a:xfrm>
            <a:off x="3566160" y="3474720"/>
            <a:ext cx="731520" cy="201168"/>
          </a:xfrm>
          <a:prstGeom prst="rect">
            <a:avLst/>
          </a:prstGeom>
          <a:noFill/>
          <a:ln/>
        </p:spPr>
        <p:txBody>
          <a:bodyPr wrap="square" lIns="0" tIns="0" rIns="0" bIns="0" rtlCol="0" anchor="t"/>
          <a:lstStyle/>
          <a:p>
            <a:pPr indent="0" marL="0">
              <a:buNone/>
            </a:pPr>
            <a:r>
              <a:rPr lang="en-US" sz="1000" b="1" spc="200" kern="0" dirty="0">
                <a:solidFill>
                  <a:srgbClr val="FFFFFF"/>
                </a:solidFill>
              </a:rPr>
              <a:t>SAM</a:t>
            </a:r>
            <a:endParaRPr lang="en-US" sz="1000" dirty="0"/>
          </a:p>
        </p:txBody>
      </p:sp>
      <p:sp>
        <p:nvSpPr>
          <p:cNvPr id="14" name="SAM value"/>
          <p:cNvSpPr txBox="1"/>
          <p:nvPr/>
        </p:nvSpPr>
        <p:spPr>
          <a:xfrm>
            <a:off x="3154680" y="3584448"/>
            <a:ext cx="3657600" cy="548640"/>
          </a:xfrm>
          <a:prstGeom prst="rect">
            <a:avLst/>
          </a:prstGeom>
          <a:noFill/>
          <a:ln/>
        </p:spPr>
        <p:txBody>
          <a:bodyPr wrap="square" lIns="0" tIns="0" rIns="0" bIns="0" rtlCol="0" anchor="ctr"/>
          <a:lstStyle/>
          <a:p>
            <a:pPr algn="ctr" indent="0" marL="0">
              <a:buNone/>
            </a:pPr>
            <a:r>
              <a:rPr lang="en-US" sz="2800" b="1" dirty="0">
                <a:solidFill>
                  <a:srgbClr val="FFFFFF"/>
                </a:solidFill>
              </a:rPr>
              <a:t>RM 186M</a:t>
            </a:r>
            <a:endParaRPr lang="en-US" sz="2800" dirty="0"/>
          </a:p>
        </p:txBody>
      </p:sp>
      <p:sp>
        <p:nvSpPr>
          <p:cNvPr id="15" name="Rule"/>
          <p:cNvSpPr/>
          <p:nvPr/>
        </p:nvSpPr>
        <p:spPr>
          <a:xfrm>
            <a:off x="6903720" y="3817620"/>
            <a:ext cx="685800" cy="0"/>
          </a:xfrm>
          <a:prstGeom prst="line">
            <a:avLst/>
          </a:prstGeom>
          <a:noFill/>
          <a:ln w="9525">
            <a:solidFill>
              <a:srgbClr val="A98BFF"/>
            </a:solidFill>
            <a:prstDash val="sysDot"/>
          </a:ln>
        </p:spPr>
        <p:txBody>
          <a:bodyPr/>
          <a:p/>
        </p:txBody>
      </p:sp>
      <p:sp>
        <p:nvSpPr>
          <p:cNvPr id="16" name="SAM text"/>
          <p:cNvSpPr txBox="1"/>
          <p:nvPr/>
        </p:nvSpPr>
        <p:spPr>
          <a:xfrm>
            <a:off x="7726680" y="3456432"/>
            <a:ext cx="3913632" cy="777240"/>
          </a:xfrm>
          <a:prstGeom prst="rect">
            <a:avLst/>
          </a:prstGeom>
          <a:noFill/>
          <a:ln/>
        </p:spPr>
        <p:txBody>
          <a:bodyPr wrap="square" lIns="0" tIns="0" rIns="0" bIns="0" rtlCol="0" anchor="t"/>
          <a:lstStyle/>
          <a:p>
            <a:pPr indent="0" marL="0">
              <a:buNone/>
            </a:pPr>
            <a:r>
              <a:rPr lang="en-US" sz="1400" b="1" dirty="0">
                <a:solidFill>
                  <a:schemeClr val="tx1"/>
                </a:solidFill>
              </a:rPr>
              <a:t>Who needs it most</a:t>
            </a:r>
            <a:endParaRPr lang="en-US" sz="1400" dirty="0"/>
          </a:p>
          <a:p>
            <a:pPr indent="0" marL="0">
              <a:buNone/>
            </a:pPr>
            <a:r>
              <a:rPr lang="en-US" sz="1200" dirty="0">
                <a:solidFill>
                  <a:schemeClr val="tx2"/>
                </a:solidFill>
              </a:rPr>
              <a:t>620,000 workers in highly impacted jobs</a:t>
            </a:r>
            <a:endParaRPr lang="en-US" sz="1400" dirty="0"/>
          </a:p>
        </p:txBody>
      </p:sp>
      <p:sp>
        <p:nvSpPr>
          <p:cNvPr id="17" name="SOM band"/>
          <p:cNvSpPr/>
          <p:nvPr/>
        </p:nvSpPr>
        <p:spPr>
          <a:xfrm flipV="1">
            <a:off x="3566160" y="4389120"/>
            <a:ext cx="2834640" cy="868680"/>
          </a:xfrm>
          <a:prstGeom prst="trapezoid">
            <a:avLst/>
          </a:prstGeom>
          <a:solidFill>
            <a:srgbClr val="FF7A3D"/>
          </a:solidFill>
          <a:ln/>
        </p:spPr>
        <p:txBody>
          <a:bodyPr/>
          <a:p/>
        </p:txBody>
      </p:sp>
      <p:sp>
        <p:nvSpPr>
          <p:cNvPr id="18" name="SOM label"/>
          <p:cNvSpPr txBox="1"/>
          <p:nvPr/>
        </p:nvSpPr>
        <p:spPr>
          <a:xfrm>
            <a:off x="3977640" y="4480560"/>
            <a:ext cx="731520" cy="201168"/>
          </a:xfrm>
          <a:prstGeom prst="rect">
            <a:avLst/>
          </a:prstGeom>
          <a:noFill/>
          <a:ln/>
        </p:spPr>
        <p:txBody>
          <a:bodyPr wrap="square" lIns="0" tIns="0" rIns="0" bIns="0" rtlCol="0" anchor="t"/>
          <a:lstStyle/>
          <a:p>
            <a:pPr indent="0" marL="0">
              <a:buNone/>
            </a:pPr>
            <a:r>
              <a:rPr lang="en-US" sz="1000" b="1" spc="200" kern="0" dirty="0">
                <a:solidFill>
                  <a:srgbClr val="FFFFFF"/>
                </a:solidFill>
              </a:rPr>
              <a:t>SOM</a:t>
            </a:r>
            <a:endParaRPr lang="en-US" sz="1000" dirty="0"/>
          </a:p>
        </p:txBody>
      </p:sp>
      <p:sp>
        <p:nvSpPr>
          <p:cNvPr id="19" name="SOM value"/>
          <p:cNvSpPr txBox="1"/>
          <p:nvPr/>
        </p:nvSpPr>
        <p:spPr>
          <a:xfrm>
            <a:off x="3566160" y="4590288"/>
            <a:ext cx="2834640" cy="548640"/>
          </a:xfrm>
          <a:prstGeom prst="rect">
            <a:avLst/>
          </a:prstGeom>
          <a:noFill/>
          <a:ln/>
        </p:spPr>
        <p:txBody>
          <a:bodyPr wrap="square" lIns="0" tIns="0" rIns="0" bIns="0" rtlCol="0" anchor="ctr"/>
          <a:lstStyle/>
          <a:p>
            <a:pPr algn="ctr" indent="0" marL="0">
              <a:buNone/>
            </a:pPr>
            <a:r>
              <a:rPr lang="en-US" sz="2800" b="1" dirty="0">
                <a:solidFill>
                  <a:srgbClr val="FFFFFF"/>
                </a:solidFill>
              </a:rPr>
              <a:t>RM 3M</a:t>
            </a:r>
            <a:endParaRPr lang="en-US" sz="2800" dirty="0"/>
          </a:p>
        </p:txBody>
      </p:sp>
      <p:sp>
        <p:nvSpPr>
          <p:cNvPr id="20" name="Rule"/>
          <p:cNvSpPr/>
          <p:nvPr/>
        </p:nvSpPr>
        <p:spPr>
          <a:xfrm>
            <a:off x="6492240" y="4823460"/>
            <a:ext cx="1097280" cy="0"/>
          </a:xfrm>
          <a:prstGeom prst="line">
            <a:avLst/>
          </a:prstGeom>
          <a:noFill/>
          <a:ln w="9525">
            <a:solidFill>
              <a:srgbClr val="FF7A3D"/>
            </a:solidFill>
            <a:prstDash val="sysDot"/>
          </a:ln>
        </p:spPr>
        <p:txBody>
          <a:bodyPr/>
          <a:p/>
        </p:txBody>
      </p:sp>
      <p:sp>
        <p:nvSpPr>
          <p:cNvPr id="21" name="SOM text"/>
          <p:cNvSpPr txBox="1"/>
          <p:nvPr/>
        </p:nvSpPr>
        <p:spPr>
          <a:xfrm>
            <a:off x="7726680" y="4462272"/>
            <a:ext cx="3913632" cy="777240"/>
          </a:xfrm>
          <a:prstGeom prst="rect">
            <a:avLst/>
          </a:prstGeom>
          <a:noFill/>
          <a:ln/>
        </p:spPr>
        <p:txBody>
          <a:bodyPr wrap="square" lIns="0" tIns="0" rIns="0" bIns="0" rtlCol="0" anchor="t"/>
          <a:lstStyle/>
          <a:p>
            <a:pPr indent="0" marL="0">
              <a:buNone/>
            </a:pPr>
            <a:r>
              <a:rPr lang="en-US" sz="1400" b="1" dirty="0">
                <a:solidFill>
                  <a:schemeClr val="tx1"/>
                </a:solidFill>
              </a:rPr>
              <a:t>Our target by year three</a:t>
            </a:r>
            <a:endParaRPr lang="en-US" sz="1400" dirty="0"/>
          </a:p>
          <a:p>
            <a:pPr indent="0" marL="0">
              <a:buNone/>
            </a:pPr>
            <a:r>
              <a:rPr lang="en-US" sz="1200" dirty="0">
                <a:solidFill>
                  <a:schemeClr val="tx2"/>
                </a:solidFill>
              </a:rPr>
              <a:t>10,000 seats at RM 300 a year. Break-even at about 1,000 seats</a:t>
            </a:r>
            <a:endParaRPr lang="en-US" sz="1400" dirty="0"/>
          </a:p>
        </p:txBody>
      </p:sp>
      <p:sp>
        <p:nvSpPr>
          <p:cNvPr id="22" name="Sources"/>
          <p:cNvSpPr txBox="1"/>
          <p:nvPr/>
        </p:nvSpPr>
        <p:spPr>
          <a:xfrm>
            <a:off x="2743200" y="6172200"/>
            <a:ext cx="8869680" cy="274320"/>
          </a:xfrm>
          <a:prstGeom prst="rect">
            <a:avLst/>
          </a:prstGeom>
          <a:noFill/>
          <a:ln/>
        </p:spPr>
        <p:txBody>
          <a:bodyPr wrap="square" lIns="0" tIns="0" rIns="0" bIns="0" rtlCol="0" anchor="t"/>
          <a:lstStyle/>
          <a:p>
            <a:pPr indent="0" marL="0">
              <a:buNone/>
            </a:pPr>
            <a:r>
              <a:rPr lang="en-US" sz="1000" dirty="0">
                <a:solidFill>
                  <a:schemeClr val="bg2"/>
                </a:solidFill>
              </a:rPr>
              <a:t>Sources: TalentCorp (2024), GBS Malaysia Mid-Term Report (2025), Department of Statistics Malaysia (DOSM). Prices are pilot assumptions.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09</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09</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Business model</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Free for workers. Employers pay, because layoffs cost more.</a:t>
            </a:r>
            <a:endParaRPr lang="en-US" sz="3200" dirty="0"/>
          </a:p>
        </p:txBody>
      </p:sp>
      <p:sp>
        <p:nvSpPr>
          <p:cNvPr id="6" name="Plan: Personal"/>
          <p:cNvSpPr/>
          <p:nvPr/>
        </p:nvSpPr>
        <p:spPr>
          <a:xfrm>
            <a:off x="2743200" y="2011680"/>
            <a:ext cx="2011680" cy="3886200"/>
          </a:xfrm>
          <a:prstGeom prst="roundRect">
            <a:avLst>
              <a:gd name="adj" fmla="val 5455"/>
            </a:avLst>
          </a:prstGeom>
          <a:solidFill>
            <a:srgbClr val="0C1220">
              <a:alpha val="80000"/>
            </a:srgbClr>
          </a:solidFill>
          <a:ln w="9525">
            <a:solidFill>
              <a:srgbClr val="2A3346"/>
            </a:solidFill>
            <a:prstDash val="solid"/>
          </a:ln>
        </p:spPr>
        <p:txBody>
          <a:bodyPr/>
          <a:p/>
        </p:txBody>
      </p:sp>
      <p:sp>
        <p:nvSpPr>
          <p:cNvPr id="7" name="Audience"/>
          <p:cNvSpPr txBox="1"/>
          <p:nvPr/>
        </p:nvSpPr>
        <p:spPr>
          <a:xfrm>
            <a:off x="2926080" y="2240280"/>
            <a:ext cx="1645920" cy="201168"/>
          </a:xfrm>
          <a:prstGeom prst="rect">
            <a:avLst/>
          </a:prstGeom>
          <a:noFill/>
          <a:ln/>
        </p:spPr>
        <p:txBody>
          <a:bodyPr wrap="square" lIns="0" tIns="0" rIns="0" bIns="0" rtlCol="0" anchor="t"/>
          <a:lstStyle/>
          <a:p>
            <a:pPr indent="0" marL="0">
              <a:buNone/>
            </a:pPr>
            <a:r>
              <a:rPr lang="en-US" sz="950" b="1" spc="100" kern="0" dirty="0">
                <a:solidFill>
                  <a:schemeClr val="bg2"/>
                </a:solidFill>
              </a:rPr>
              <a:t>FOR WORKERS</a:t>
            </a:r>
            <a:endParaRPr lang="en-US" sz="950" dirty="0"/>
          </a:p>
        </p:txBody>
      </p:sp>
      <p:sp>
        <p:nvSpPr>
          <p:cNvPr id="8" name="Plan name"/>
          <p:cNvSpPr txBox="1"/>
          <p:nvPr/>
        </p:nvSpPr>
        <p:spPr>
          <a:xfrm>
            <a:off x="2926080" y="246888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Personal</a:t>
            </a:r>
            <a:endParaRPr lang="en-US" sz="1500" dirty="0"/>
          </a:p>
        </p:txBody>
      </p:sp>
      <p:sp>
        <p:nvSpPr>
          <p:cNvPr id="9" name="Price"/>
          <p:cNvSpPr txBox="1"/>
          <p:nvPr/>
        </p:nvSpPr>
        <p:spPr>
          <a:xfrm>
            <a:off x="2926080" y="2816352"/>
            <a:ext cx="1645920" cy="566928"/>
          </a:xfrm>
          <a:prstGeom prst="rect">
            <a:avLst/>
          </a:prstGeom>
          <a:noFill/>
          <a:ln/>
        </p:spPr>
        <p:txBody>
          <a:bodyPr wrap="square" lIns="0" tIns="0" rIns="0" bIns="0" rtlCol="0" anchor="t"/>
          <a:lstStyle/>
          <a:p>
            <a:pPr indent="0" marL="0">
              <a:buNone/>
            </a:pPr>
            <a:r>
              <a:rPr lang="en-US" sz="3000" b="1" dirty="0">
                <a:solidFill>
                  <a:schemeClr val="tx1"/>
                </a:solidFill>
              </a:rPr>
              <a:t>Free</a:t>
            </a:r>
            <a:endParaRPr lang="en-US" sz="3000" dirty="0"/>
          </a:p>
        </p:txBody>
      </p:sp>
      <p:sp>
        <p:nvSpPr>
          <p:cNvPr id="10" name="Price unit"/>
          <p:cNvSpPr txBox="1"/>
          <p:nvPr/>
        </p:nvSpPr>
        <p:spPr>
          <a:xfrm>
            <a:off x="2926080" y="3383280"/>
            <a:ext cx="1645920" cy="365760"/>
          </a:xfrm>
          <a:prstGeom prst="rect">
            <a:avLst/>
          </a:prstGeom>
          <a:noFill/>
          <a:ln/>
        </p:spPr>
        <p:txBody>
          <a:bodyPr wrap="square" lIns="0" tIns="0" rIns="0" bIns="0" rtlCol="0" anchor="t"/>
          <a:lstStyle/>
          <a:p>
            <a:pPr indent="0" marL="0">
              <a:buNone/>
            </a:pPr>
            <a:endParaRPr lang="en-US" sz="1050" dirty="0"/>
          </a:p>
        </p:txBody>
      </p:sp>
      <p:sp>
        <p:nvSpPr>
          <p:cNvPr id="11" name="Rule"/>
          <p:cNvSpPr/>
          <p:nvPr/>
        </p:nvSpPr>
        <p:spPr>
          <a:xfrm>
            <a:off x="2926080" y="3794760"/>
            <a:ext cx="1645920" cy="0"/>
          </a:xfrm>
          <a:prstGeom prst="line">
            <a:avLst/>
          </a:prstGeom>
          <a:noFill/>
          <a:ln w="9525">
            <a:solidFill>
              <a:srgbClr val="2A3346"/>
            </a:solidFill>
            <a:prstDash val="solid"/>
          </a:ln>
        </p:spPr>
        <p:txBody>
          <a:bodyPr/>
          <a:p/>
        </p:txBody>
      </p:sp>
      <p:sp>
        <p:nvSpPr>
          <p:cNvPr id="12" name="Includes"/>
          <p:cNvSpPr txBox="1"/>
          <p:nvPr/>
        </p:nvSpPr>
        <p:spPr>
          <a:xfrm>
            <a:off x="2926080" y="3913632"/>
            <a:ext cx="1645920" cy="1234440"/>
          </a:xfrm>
          <a:prstGeom prst="rect">
            <a:avLst/>
          </a:prstGeom>
          <a:noFill/>
          <a:ln/>
        </p:spPr>
        <p:txBody>
          <a:bodyPr wrap="square" lIns="0" tIns="0" rIns="0" bIns="0" rtlCol="0" anchor="t"/>
          <a:lstStyle/>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Career map and routes</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1,000-futures test</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Private to the worker</a:t>
            </a:r>
            <a:endParaRPr lang="en-US" sz="1200" dirty="0"/>
          </a:p>
        </p:txBody>
      </p:sp>
      <p:sp>
        <p:nvSpPr>
          <p:cNvPr id="13" name="Role"/>
          <p:cNvSpPr txBox="1"/>
          <p:nvPr/>
        </p:nvSpPr>
        <p:spPr>
          <a:xfrm>
            <a:off x="2926080" y="5440680"/>
            <a:ext cx="1645920" cy="320040"/>
          </a:xfrm>
          <a:prstGeom prst="rect">
            <a:avLst/>
          </a:prstGeom>
          <a:noFill/>
          <a:ln/>
        </p:spPr>
        <p:txBody>
          <a:bodyPr wrap="square" lIns="0" tIns="0" rIns="0" bIns="0" rtlCol="0" anchor="t"/>
          <a:lstStyle/>
          <a:p>
            <a:pPr indent="0" marL="0">
              <a:buNone/>
            </a:pPr>
            <a:r>
              <a:rPr lang="en-US" sz="1100" b="1" dirty="0">
                <a:solidFill>
                  <a:schemeClr val="bg2"/>
                </a:solidFill>
              </a:rPr>
              <a:t>Builds trust and reach</a:t>
            </a:r>
            <a:endParaRPr lang="en-US" sz="1100" dirty="0"/>
          </a:p>
        </p:txBody>
      </p:sp>
      <p:sp>
        <p:nvSpPr>
          <p:cNvPr id="14" name="Plan: Personal Plus"/>
          <p:cNvSpPr/>
          <p:nvPr/>
        </p:nvSpPr>
        <p:spPr>
          <a:xfrm>
            <a:off x="4928616" y="2011680"/>
            <a:ext cx="2011680" cy="3886200"/>
          </a:xfrm>
          <a:prstGeom prst="roundRect">
            <a:avLst>
              <a:gd name="adj" fmla="val 5455"/>
            </a:avLst>
          </a:prstGeom>
          <a:solidFill>
            <a:srgbClr val="0C1220">
              <a:alpha val="80000"/>
            </a:srgbClr>
          </a:solidFill>
          <a:ln w="9525">
            <a:solidFill>
              <a:srgbClr val="2A3346"/>
            </a:solidFill>
            <a:prstDash val="solid"/>
          </a:ln>
        </p:spPr>
        <p:txBody>
          <a:bodyPr/>
          <a:p/>
        </p:txBody>
      </p:sp>
      <p:sp>
        <p:nvSpPr>
          <p:cNvPr id="15" name="Audience"/>
          <p:cNvSpPr txBox="1"/>
          <p:nvPr/>
        </p:nvSpPr>
        <p:spPr>
          <a:xfrm>
            <a:off x="5111496" y="2240280"/>
            <a:ext cx="1645920" cy="201168"/>
          </a:xfrm>
          <a:prstGeom prst="rect">
            <a:avLst/>
          </a:prstGeom>
          <a:noFill/>
          <a:ln/>
        </p:spPr>
        <p:txBody>
          <a:bodyPr wrap="square" lIns="0" tIns="0" rIns="0" bIns="0" rtlCol="0" anchor="t"/>
          <a:lstStyle/>
          <a:p>
            <a:pPr indent="0" marL="0">
              <a:buNone/>
            </a:pPr>
            <a:r>
              <a:rPr lang="en-US" sz="950" b="1" spc="100" kern="0" dirty="0">
                <a:solidFill>
                  <a:schemeClr val="bg2"/>
                </a:solidFill>
              </a:rPr>
              <a:t>FOR WORKERS</a:t>
            </a:r>
            <a:endParaRPr lang="en-US" sz="950" dirty="0"/>
          </a:p>
        </p:txBody>
      </p:sp>
      <p:sp>
        <p:nvSpPr>
          <p:cNvPr id="16" name="Plan name"/>
          <p:cNvSpPr txBox="1"/>
          <p:nvPr/>
        </p:nvSpPr>
        <p:spPr>
          <a:xfrm>
            <a:off x="5111496" y="246888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Personal Plus</a:t>
            </a:r>
            <a:endParaRPr lang="en-US" sz="1500" dirty="0"/>
          </a:p>
        </p:txBody>
      </p:sp>
      <p:sp>
        <p:nvSpPr>
          <p:cNvPr id="17" name="Price"/>
          <p:cNvSpPr txBox="1"/>
          <p:nvPr/>
        </p:nvSpPr>
        <p:spPr>
          <a:xfrm>
            <a:off x="5111496" y="2816352"/>
            <a:ext cx="1645920" cy="566928"/>
          </a:xfrm>
          <a:prstGeom prst="rect">
            <a:avLst/>
          </a:prstGeom>
          <a:noFill/>
          <a:ln/>
        </p:spPr>
        <p:txBody>
          <a:bodyPr wrap="square" lIns="0" tIns="0" rIns="0" bIns="0" rtlCol="0" anchor="t"/>
          <a:lstStyle/>
          <a:p>
            <a:pPr indent="0" marL="0">
              <a:buNone/>
            </a:pPr>
            <a:r>
              <a:rPr lang="en-US" sz="3000" b="1" dirty="0">
                <a:solidFill>
                  <a:schemeClr val="tx1"/>
                </a:solidFill>
              </a:rPr>
              <a:t>RM 9.90</a:t>
            </a:r>
            <a:endParaRPr lang="en-US" sz="3000" dirty="0"/>
          </a:p>
        </p:txBody>
      </p:sp>
      <p:sp>
        <p:nvSpPr>
          <p:cNvPr id="18" name="Price unit"/>
          <p:cNvSpPr txBox="1"/>
          <p:nvPr/>
        </p:nvSpPr>
        <p:spPr>
          <a:xfrm>
            <a:off x="5111496" y="3383280"/>
            <a:ext cx="1645920" cy="365760"/>
          </a:xfrm>
          <a:prstGeom prst="rect">
            <a:avLst/>
          </a:prstGeom>
          <a:noFill/>
          <a:ln/>
        </p:spPr>
        <p:txBody>
          <a:bodyPr wrap="square" lIns="0" tIns="0" rIns="0" bIns="0" rtlCol="0" anchor="t"/>
          <a:lstStyle/>
          <a:p>
            <a:pPr indent="0" marL="0">
              <a:buNone/>
            </a:pPr>
            <a:r>
              <a:rPr lang="en-US" sz="1050" dirty="0">
                <a:solidFill>
                  <a:schemeClr val="bg2"/>
                </a:solidFill>
              </a:rPr>
              <a:t>a month</a:t>
            </a:r>
            <a:endParaRPr lang="en-US" sz="1050" dirty="0"/>
          </a:p>
        </p:txBody>
      </p:sp>
      <p:sp>
        <p:nvSpPr>
          <p:cNvPr id="19" name="Rule"/>
          <p:cNvSpPr/>
          <p:nvPr/>
        </p:nvSpPr>
        <p:spPr>
          <a:xfrm>
            <a:off x="5111496" y="3794760"/>
            <a:ext cx="1645920" cy="0"/>
          </a:xfrm>
          <a:prstGeom prst="line">
            <a:avLst/>
          </a:prstGeom>
          <a:noFill/>
          <a:ln w="9525">
            <a:solidFill>
              <a:srgbClr val="2A3346"/>
            </a:solidFill>
            <a:prstDash val="solid"/>
          </a:ln>
        </p:spPr>
        <p:txBody>
          <a:bodyPr/>
          <a:p/>
        </p:txBody>
      </p:sp>
      <p:sp>
        <p:nvSpPr>
          <p:cNvPr id="20" name="Includes"/>
          <p:cNvSpPr txBox="1"/>
          <p:nvPr/>
        </p:nvSpPr>
        <p:spPr>
          <a:xfrm>
            <a:off x="5111496" y="3913632"/>
            <a:ext cx="1645920" cy="1234440"/>
          </a:xfrm>
          <a:prstGeom prst="rect">
            <a:avLst/>
          </a:prstGeom>
          <a:noFill/>
          <a:ln/>
        </p:spPr>
        <p:txBody>
          <a:bodyPr wrap="square" lIns="0" tIns="0" rIns="0" bIns="0" rtlCol="0" anchor="t"/>
          <a:lstStyle/>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Everything in Personal</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Certificates</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Advisor sessions</a:t>
            </a:r>
            <a:endParaRPr lang="en-US" sz="1200" dirty="0"/>
          </a:p>
        </p:txBody>
      </p:sp>
      <p:sp>
        <p:nvSpPr>
          <p:cNvPr id="21" name="Role"/>
          <p:cNvSpPr txBox="1"/>
          <p:nvPr/>
        </p:nvSpPr>
        <p:spPr>
          <a:xfrm>
            <a:off x="5111496" y="5440680"/>
            <a:ext cx="1645920" cy="320040"/>
          </a:xfrm>
          <a:prstGeom prst="rect">
            <a:avLst/>
          </a:prstGeom>
          <a:noFill/>
          <a:ln/>
        </p:spPr>
        <p:txBody>
          <a:bodyPr wrap="square" lIns="0" tIns="0" rIns="0" bIns="0" rtlCol="0" anchor="t"/>
          <a:lstStyle/>
          <a:p>
            <a:pPr indent="0" marL="0">
              <a:buNone/>
            </a:pPr>
            <a:r>
              <a:rPr lang="en-US" sz="1100" b="1" dirty="0">
                <a:solidFill>
                  <a:schemeClr val="bg2"/>
                </a:solidFill>
              </a:rPr>
              <a:t>Small extra income</a:t>
            </a:r>
            <a:endParaRPr lang="en-US" sz="1100" dirty="0"/>
          </a:p>
        </p:txBody>
      </p:sp>
      <p:sp>
        <p:nvSpPr>
          <p:cNvPr id="22" name="Plan: Enterprise"/>
          <p:cNvSpPr/>
          <p:nvPr/>
        </p:nvSpPr>
        <p:spPr>
          <a:xfrm>
            <a:off x="7114032" y="1874520"/>
            <a:ext cx="2331720" cy="4160520"/>
          </a:xfrm>
          <a:prstGeom prst="roundRect">
            <a:avLst>
              <a:gd name="adj" fmla="val 4706"/>
            </a:avLst>
          </a:prstGeom>
          <a:solidFill>
            <a:srgbClr val="2A1508">
              <a:alpha val="90000"/>
            </a:srgbClr>
          </a:solidFill>
          <a:ln w="15875">
            <a:solidFill>
              <a:srgbClr val="FF7A3D"/>
            </a:solidFill>
            <a:prstDash val="solid"/>
          </a:ln>
        </p:spPr>
        <p:txBody>
          <a:bodyPr/>
          <a:p/>
        </p:txBody>
      </p:sp>
      <p:sp>
        <p:nvSpPr>
          <p:cNvPr id="23" name="Badge"/>
          <p:cNvSpPr/>
          <p:nvPr/>
        </p:nvSpPr>
        <p:spPr>
          <a:xfrm>
            <a:off x="7342632" y="1737360"/>
            <a:ext cx="1234440" cy="256032"/>
          </a:xfrm>
          <a:prstGeom prst="roundRect">
            <a:avLst>
              <a:gd name="adj" fmla="val 46429"/>
            </a:avLst>
          </a:prstGeom>
          <a:solidFill>
            <a:srgbClr val="FF7A3D"/>
          </a:solidFill>
          <a:ln/>
        </p:spPr>
        <p:txBody>
          <a:bodyPr wrap="square" lIns="0" tIns="0" rIns="0" bIns="0" rtlCol="0" anchor="ctr"/>
          <a:lstStyle/>
          <a:p>
            <a:pPr algn="ctr" indent="0" marL="0">
              <a:buNone/>
            </a:pPr>
            <a:r>
              <a:rPr lang="en-US" sz="950" b="1" spc="100" kern="0" dirty="0">
                <a:solidFill>
                  <a:srgbClr val="1A0D05"/>
                </a:solidFill>
              </a:rPr>
              <a:t>MAIN REVENUE</a:t>
            </a:r>
            <a:endParaRPr lang="en-US" sz="950" dirty="0"/>
          </a:p>
        </p:txBody>
      </p:sp>
      <p:sp>
        <p:nvSpPr>
          <p:cNvPr id="24" name="Audience"/>
          <p:cNvSpPr txBox="1"/>
          <p:nvPr/>
        </p:nvSpPr>
        <p:spPr>
          <a:xfrm>
            <a:off x="7296912" y="2103120"/>
            <a:ext cx="1965960" cy="201168"/>
          </a:xfrm>
          <a:prstGeom prst="rect">
            <a:avLst/>
          </a:prstGeom>
          <a:noFill/>
          <a:ln/>
        </p:spPr>
        <p:txBody>
          <a:bodyPr wrap="square" lIns="0" tIns="0" rIns="0" bIns="0" rtlCol="0" anchor="t"/>
          <a:lstStyle/>
          <a:p>
            <a:pPr indent="0" marL="0">
              <a:buNone/>
            </a:pPr>
            <a:r>
              <a:rPr lang="en-US" sz="950" b="1" spc="100" kern="0" dirty="0">
                <a:solidFill>
                  <a:schemeClr val="accent1"/>
                </a:solidFill>
              </a:rPr>
              <a:t>FOR EMPLOYERS</a:t>
            </a:r>
            <a:endParaRPr lang="en-US" sz="950" dirty="0"/>
          </a:p>
        </p:txBody>
      </p:sp>
      <p:sp>
        <p:nvSpPr>
          <p:cNvPr id="25" name="Plan name"/>
          <p:cNvSpPr txBox="1"/>
          <p:nvPr/>
        </p:nvSpPr>
        <p:spPr>
          <a:xfrm>
            <a:off x="7296912" y="2331720"/>
            <a:ext cx="1965960" cy="292608"/>
          </a:xfrm>
          <a:prstGeom prst="rect">
            <a:avLst/>
          </a:prstGeom>
          <a:noFill/>
          <a:ln/>
        </p:spPr>
        <p:txBody>
          <a:bodyPr wrap="square" lIns="0" tIns="0" rIns="0" bIns="0" rtlCol="0" anchor="t"/>
          <a:lstStyle/>
          <a:p>
            <a:pPr indent="0" marL="0">
              <a:buNone/>
            </a:pPr>
            <a:r>
              <a:rPr lang="en-US" sz="1500" b="1" dirty="0">
                <a:solidFill>
                  <a:schemeClr val="tx1"/>
                </a:solidFill>
              </a:rPr>
              <a:t>Enterprise</a:t>
            </a:r>
            <a:endParaRPr lang="en-US" sz="1500" dirty="0"/>
          </a:p>
        </p:txBody>
      </p:sp>
      <p:sp>
        <p:nvSpPr>
          <p:cNvPr id="26" name="Price"/>
          <p:cNvSpPr txBox="1"/>
          <p:nvPr/>
        </p:nvSpPr>
        <p:spPr>
          <a:xfrm>
            <a:off x="7296912" y="2679192"/>
            <a:ext cx="1965960" cy="566928"/>
          </a:xfrm>
          <a:prstGeom prst="rect">
            <a:avLst/>
          </a:prstGeom>
          <a:noFill/>
          <a:ln/>
        </p:spPr>
        <p:txBody>
          <a:bodyPr wrap="square" lIns="0" tIns="0" rIns="0" bIns="0" rtlCol="0" anchor="t"/>
          <a:lstStyle/>
          <a:p>
            <a:pPr indent="0" marL="0">
              <a:buNone/>
            </a:pPr>
            <a:r>
              <a:rPr lang="en-US" sz="3800" b="1" dirty="0">
                <a:solidFill>
                  <a:schemeClr val="accent1"/>
                </a:solidFill>
              </a:rPr>
              <a:t>RM 25</a:t>
            </a:r>
            <a:endParaRPr lang="en-US" sz="3800" dirty="0"/>
          </a:p>
        </p:txBody>
      </p:sp>
      <p:sp>
        <p:nvSpPr>
          <p:cNvPr id="27" name="Price unit"/>
          <p:cNvSpPr txBox="1"/>
          <p:nvPr/>
        </p:nvSpPr>
        <p:spPr>
          <a:xfrm>
            <a:off x="7296912" y="3246120"/>
            <a:ext cx="1965960" cy="365760"/>
          </a:xfrm>
          <a:prstGeom prst="rect">
            <a:avLst/>
          </a:prstGeom>
          <a:noFill/>
          <a:ln/>
        </p:spPr>
        <p:txBody>
          <a:bodyPr wrap="square" lIns="0" tIns="0" rIns="0" bIns="0" rtlCol="0" anchor="t"/>
          <a:lstStyle/>
          <a:p>
            <a:pPr indent="0" marL="0">
              <a:buNone/>
            </a:pPr>
            <a:r>
              <a:rPr lang="en-US" sz="1050" dirty="0">
                <a:solidFill>
                  <a:schemeClr val="bg2"/>
                </a:solidFill>
              </a:rPr>
              <a:t>per worker a month</a:t>
            </a:r>
            <a:endParaRPr lang="en-US" sz="1050" dirty="0"/>
          </a:p>
        </p:txBody>
      </p:sp>
      <p:sp>
        <p:nvSpPr>
          <p:cNvPr id="28" name="Rule"/>
          <p:cNvSpPr/>
          <p:nvPr/>
        </p:nvSpPr>
        <p:spPr>
          <a:xfrm>
            <a:off x="7296912" y="3657600"/>
            <a:ext cx="1965960" cy="0"/>
          </a:xfrm>
          <a:prstGeom prst="line">
            <a:avLst/>
          </a:prstGeom>
          <a:noFill/>
          <a:ln w="9525">
            <a:solidFill>
              <a:srgbClr val="2A3346"/>
            </a:solidFill>
            <a:prstDash val="solid"/>
          </a:ln>
        </p:spPr>
        <p:txBody>
          <a:bodyPr/>
          <a:p/>
        </p:txBody>
      </p:sp>
      <p:sp>
        <p:nvSpPr>
          <p:cNvPr id="29" name="Includes"/>
          <p:cNvSpPr txBox="1"/>
          <p:nvPr/>
        </p:nvSpPr>
        <p:spPr>
          <a:xfrm>
            <a:off x="7296912" y="3776472"/>
            <a:ext cx="1965960" cy="1234440"/>
          </a:xfrm>
          <a:prstGeom prst="rect">
            <a:avLst/>
          </a:prstGeom>
          <a:noFill/>
          <a:ln/>
        </p:spPr>
        <p:txBody>
          <a:bodyPr wrap="square" lIns="0" tIns="0" rIns="0" bIns="0" rtlCol="0" anchor="t"/>
          <a:lstStyle/>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HR view of skills at risk</a:t>
            </a:r>
            <a:endParaRPr lang="en-US" sz="1200" dirty="0"/>
          </a:p>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Internal moves before layoffs</a:t>
            </a:r>
            <a:endParaRPr lang="en-US" sz="1200" dirty="0"/>
          </a:p>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Help for leavers</a:t>
            </a:r>
            <a:endParaRPr lang="en-US" sz="1200" dirty="0"/>
          </a:p>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Staff opt in, data stays theirs</a:t>
            </a:r>
            <a:endParaRPr lang="en-US" sz="1200" dirty="0"/>
          </a:p>
        </p:txBody>
      </p:sp>
      <p:sp>
        <p:nvSpPr>
          <p:cNvPr id="30" name="Role"/>
          <p:cNvSpPr txBox="1"/>
          <p:nvPr/>
        </p:nvSpPr>
        <p:spPr>
          <a:xfrm>
            <a:off x="7296912" y="5257800"/>
            <a:ext cx="1965960" cy="640080"/>
          </a:xfrm>
          <a:prstGeom prst="rect">
            <a:avLst/>
          </a:prstGeom>
          <a:noFill/>
          <a:ln/>
        </p:spPr>
        <p:txBody>
          <a:bodyPr wrap="square" lIns="0" tIns="0" rIns="0" bIns="0" rtlCol="0" anchor="t"/>
          <a:lstStyle/>
          <a:p>
            <a:pPr indent="0" marL="0">
              <a:buNone/>
            </a:pPr>
            <a:r>
              <a:rPr lang="en-US" sz="1150" b="1" dirty="0">
                <a:solidFill>
                  <a:srgbClr val="FFD2B0"/>
                </a:solidFill>
              </a:rPr>
              <a:t>One layoff avoided (RM 22,800) pays for 76 workers for a year</a:t>
            </a:r>
            <a:endParaRPr lang="en-US" sz="1150" dirty="0"/>
          </a:p>
        </p:txBody>
      </p:sp>
      <p:sp>
        <p:nvSpPr>
          <p:cNvPr id="31" name="Plan: Public partners"/>
          <p:cNvSpPr/>
          <p:nvPr/>
        </p:nvSpPr>
        <p:spPr>
          <a:xfrm>
            <a:off x="9619488" y="2011680"/>
            <a:ext cx="2011680" cy="3886200"/>
          </a:xfrm>
          <a:prstGeom prst="roundRect">
            <a:avLst>
              <a:gd name="adj" fmla="val 5455"/>
            </a:avLst>
          </a:prstGeom>
          <a:solidFill>
            <a:srgbClr val="0C1220">
              <a:alpha val="80000"/>
            </a:srgbClr>
          </a:solidFill>
          <a:ln w="9525">
            <a:solidFill>
              <a:srgbClr val="2A3346"/>
            </a:solidFill>
            <a:prstDash val="solid"/>
          </a:ln>
        </p:spPr>
        <p:txBody>
          <a:bodyPr/>
          <a:p/>
        </p:txBody>
      </p:sp>
      <p:sp>
        <p:nvSpPr>
          <p:cNvPr id="32" name="Audience"/>
          <p:cNvSpPr txBox="1"/>
          <p:nvPr/>
        </p:nvSpPr>
        <p:spPr>
          <a:xfrm>
            <a:off x="9802368" y="2240280"/>
            <a:ext cx="1645920" cy="201168"/>
          </a:xfrm>
          <a:prstGeom prst="rect">
            <a:avLst/>
          </a:prstGeom>
          <a:noFill/>
          <a:ln/>
        </p:spPr>
        <p:txBody>
          <a:bodyPr wrap="square" lIns="0" tIns="0" rIns="0" bIns="0" rtlCol="0" anchor="t"/>
          <a:lstStyle/>
          <a:p>
            <a:pPr indent="0" marL="0">
              <a:buNone/>
            </a:pPr>
            <a:r>
              <a:rPr lang="en-US" sz="950" b="1" spc="100" kern="0" dirty="0">
                <a:solidFill>
                  <a:schemeClr val="bg2"/>
                </a:solidFill>
              </a:rPr>
              <a:t>FOR GOVERNMENT</a:t>
            </a:r>
            <a:endParaRPr lang="en-US" sz="950" dirty="0"/>
          </a:p>
        </p:txBody>
      </p:sp>
      <p:sp>
        <p:nvSpPr>
          <p:cNvPr id="33" name="Plan name"/>
          <p:cNvSpPr txBox="1"/>
          <p:nvPr/>
        </p:nvSpPr>
        <p:spPr>
          <a:xfrm>
            <a:off x="9802368" y="246888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Public partners</a:t>
            </a:r>
            <a:endParaRPr lang="en-US" sz="1500" dirty="0"/>
          </a:p>
        </p:txBody>
      </p:sp>
      <p:sp>
        <p:nvSpPr>
          <p:cNvPr id="34" name="Price"/>
          <p:cNvSpPr txBox="1"/>
          <p:nvPr/>
        </p:nvSpPr>
        <p:spPr>
          <a:xfrm>
            <a:off x="9802368" y="2816352"/>
            <a:ext cx="1645920" cy="566928"/>
          </a:xfrm>
          <a:prstGeom prst="rect">
            <a:avLst/>
          </a:prstGeom>
          <a:noFill/>
          <a:ln/>
        </p:spPr>
        <p:txBody>
          <a:bodyPr wrap="square" lIns="0" tIns="0" rIns="0" bIns="0" rtlCol="0" anchor="t"/>
          <a:lstStyle/>
          <a:p>
            <a:pPr indent="0" marL="0">
              <a:buNone/>
            </a:pPr>
            <a:r>
              <a:rPr lang="en-US" sz="3000" b="1" dirty="0">
                <a:solidFill>
                  <a:schemeClr val="tx1"/>
                </a:solidFill>
              </a:rPr>
              <a:t>Licence</a:t>
            </a:r>
            <a:endParaRPr lang="en-US" sz="3000" dirty="0"/>
          </a:p>
        </p:txBody>
      </p:sp>
      <p:sp>
        <p:nvSpPr>
          <p:cNvPr id="35" name="Price unit"/>
          <p:cNvSpPr txBox="1"/>
          <p:nvPr/>
        </p:nvSpPr>
        <p:spPr>
          <a:xfrm>
            <a:off x="9802368" y="3383280"/>
            <a:ext cx="1645920" cy="365760"/>
          </a:xfrm>
          <a:prstGeom prst="rect">
            <a:avLst/>
          </a:prstGeom>
          <a:noFill/>
          <a:ln/>
        </p:spPr>
        <p:txBody>
          <a:bodyPr wrap="square" lIns="0" tIns="0" rIns="0" bIns="0" rtlCol="0" anchor="t"/>
          <a:lstStyle/>
          <a:p>
            <a:pPr indent="0" marL="0">
              <a:buNone/>
            </a:pPr>
            <a:r>
              <a:rPr lang="en-US" sz="1050" dirty="0">
                <a:solidFill>
                  <a:schemeClr val="bg2"/>
                </a:solidFill>
              </a:rPr>
              <a:t>a year, per agency or campus</a:t>
            </a:r>
            <a:endParaRPr lang="en-US" sz="1050" dirty="0"/>
          </a:p>
        </p:txBody>
      </p:sp>
      <p:sp>
        <p:nvSpPr>
          <p:cNvPr id="36" name="Rule"/>
          <p:cNvSpPr/>
          <p:nvPr/>
        </p:nvSpPr>
        <p:spPr>
          <a:xfrm>
            <a:off x="9802368" y="3794760"/>
            <a:ext cx="1645920" cy="0"/>
          </a:xfrm>
          <a:prstGeom prst="line">
            <a:avLst/>
          </a:prstGeom>
          <a:noFill/>
          <a:ln w="9525">
            <a:solidFill>
              <a:srgbClr val="2A3346"/>
            </a:solidFill>
            <a:prstDash val="solid"/>
          </a:ln>
        </p:spPr>
        <p:txBody>
          <a:bodyPr/>
          <a:p/>
        </p:txBody>
      </p:sp>
      <p:sp>
        <p:nvSpPr>
          <p:cNvPr id="37" name="Includes"/>
          <p:cNvSpPr txBox="1"/>
          <p:nvPr/>
        </p:nvSpPr>
        <p:spPr>
          <a:xfrm>
            <a:off x="9802368" y="3913632"/>
            <a:ext cx="1645920" cy="1234440"/>
          </a:xfrm>
          <a:prstGeom prst="rect">
            <a:avLst/>
          </a:prstGeom>
          <a:noFill/>
          <a:ln/>
        </p:spPr>
        <p:txBody>
          <a:bodyPr wrap="square" lIns="0" tIns="0" rIns="0" bIns="0" rtlCol="0" anchor="t"/>
          <a:lstStyle/>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PERKESO</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TalentCorp</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Universities</a:t>
            </a:r>
            <a:endParaRPr lang="en-US" sz="1200" dirty="0"/>
          </a:p>
        </p:txBody>
      </p:sp>
      <p:sp>
        <p:nvSpPr>
          <p:cNvPr id="38" name="Role"/>
          <p:cNvSpPr txBox="1"/>
          <p:nvPr/>
        </p:nvSpPr>
        <p:spPr>
          <a:xfrm>
            <a:off x="9802368" y="5440680"/>
            <a:ext cx="1645920" cy="320040"/>
          </a:xfrm>
          <a:prstGeom prst="rect">
            <a:avLst/>
          </a:prstGeom>
          <a:noFill/>
          <a:ln/>
        </p:spPr>
        <p:txBody>
          <a:bodyPr wrap="square" lIns="0" tIns="0" rIns="0" bIns="0" rtlCol="0" anchor="t"/>
          <a:lstStyle/>
          <a:p>
            <a:pPr indent="0" marL="0">
              <a:buNone/>
            </a:pPr>
            <a:r>
              <a:rPr lang="en-US" sz="1100" b="1" dirty="0">
                <a:solidFill>
                  <a:schemeClr val="bg2"/>
                </a:solidFill>
              </a:rPr>
              <a:t>Reach at national scale</a:t>
            </a:r>
            <a:endParaRPr lang="en-US" sz="1100" dirty="0"/>
          </a:p>
        </p:txBody>
      </p:sp>
      <p:sp>
        <p:nvSpPr>
          <p:cNvPr id="39" name="Footnote"/>
          <p:cNvSpPr txBox="1"/>
          <p:nvPr/>
        </p:nvSpPr>
        <p:spPr>
          <a:xfrm>
            <a:off x="2743200" y="6108192"/>
            <a:ext cx="8869680" cy="411480"/>
          </a:xfrm>
          <a:prstGeom prst="rect">
            <a:avLst/>
          </a:prstGeom>
          <a:noFill/>
          <a:ln/>
        </p:spPr>
        <p:txBody>
          <a:bodyPr wrap="square" lIns="0" tIns="0" rIns="0" bIns="0" rtlCol="0" anchor="t"/>
          <a:lstStyle/>
          <a:p>
            <a:pPr indent="0" marL="0">
              <a:buNone/>
            </a:pPr>
            <a:r>
              <a:rPr lang="en-US" sz="1000" dirty="0">
                <a:solidFill>
                  <a:schemeClr val="bg2"/>
                </a:solidFill>
              </a:rPr>
              <a:t>Severance: 20 days’ wages per year of service at the DOSM 2025 clerical median, RM 2,693. Reading a CV costs us RM 0.03 and a news check RM 1.05, measured. Personal data handled under PDPA. Prices are pilot assumptions.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10</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10</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Roadmap</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KL first. Break-even in 2027. RM 1.9M a year by 2029.</a:t>
            </a:r>
            <a:endParaRPr lang="en-US" sz="3200" dirty="0"/>
          </a:p>
        </p:txBody>
      </p:sp>
      <p:sp>
        <p:nvSpPr>
          <p:cNvPr id="6" name="Rule"/>
          <p:cNvSpPr/>
          <p:nvPr/>
        </p:nvSpPr>
        <p:spPr>
          <a:xfrm>
            <a:off x="2743200" y="2194560"/>
            <a:ext cx="8897112" cy="0"/>
          </a:xfrm>
          <a:prstGeom prst="line">
            <a:avLst/>
          </a:prstGeom>
          <a:noFill/>
          <a:ln w="19050">
            <a:solidFill>
              <a:srgbClr val="4A5468"/>
            </a:solidFill>
            <a:prstDash val="solid"/>
          </a:ln>
        </p:spPr>
        <p:txBody>
          <a:bodyPr/>
          <a:p/>
        </p:txBody>
      </p:sp>
      <p:sp>
        <p:nvSpPr>
          <p:cNvPr id="7" name="Dot"/>
          <p:cNvSpPr/>
          <p:nvPr/>
        </p:nvSpPr>
        <p:spPr>
          <a:xfrm>
            <a:off x="2743200" y="2112264"/>
            <a:ext cx="164592" cy="164592"/>
          </a:xfrm>
          <a:prstGeom prst="ellipse">
            <a:avLst/>
          </a:prstGeom>
          <a:solidFill>
            <a:srgbClr val="2FD4A0"/>
          </a:solidFill>
          <a:ln w="19050">
            <a:solidFill>
              <a:srgbClr val="2FD4A0"/>
            </a:solidFill>
            <a:prstDash val="solid"/>
          </a:ln>
        </p:spPr>
        <p:txBody>
          <a:bodyPr/>
          <a:p/>
        </p:txBody>
      </p:sp>
      <p:sp>
        <p:nvSpPr>
          <p:cNvPr id="8" name="When"/>
          <p:cNvSpPr txBox="1"/>
          <p:nvPr/>
        </p:nvSpPr>
        <p:spPr>
          <a:xfrm>
            <a:off x="2743200" y="2450592"/>
            <a:ext cx="1664208" cy="228600"/>
          </a:xfrm>
          <a:prstGeom prst="rect">
            <a:avLst/>
          </a:prstGeom>
          <a:noFill/>
          <a:ln/>
        </p:spPr>
        <p:txBody>
          <a:bodyPr wrap="square" lIns="0" tIns="0" rIns="0" bIns="0" rtlCol="0" anchor="t"/>
          <a:lstStyle/>
          <a:p>
            <a:pPr indent="0" marL="0">
              <a:buNone/>
            </a:pPr>
            <a:r>
              <a:rPr lang="en-US" sz="1100" b="1" dirty="0">
                <a:solidFill>
                  <a:srgbClr val="2FD4A0"/>
                </a:solidFill>
              </a:rPr>
              <a:t>Now, Oct 2026</a:t>
            </a:r>
            <a:endParaRPr lang="en-US" sz="1100" dirty="0"/>
          </a:p>
        </p:txBody>
      </p:sp>
      <p:sp>
        <p:nvSpPr>
          <p:cNvPr id="9" name="Milestone"/>
          <p:cNvSpPr txBox="1"/>
          <p:nvPr/>
        </p:nvSpPr>
        <p:spPr>
          <a:xfrm>
            <a:off x="2743200"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Live and tested</a:t>
            </a:r>
            <a:endParaRPr lang="en-US" sz="1500" dirty="0"/>
          </a:p>
        </p:txBody>
      </p:sp>
      <p:sp>
        <p:nvSpPr>
          <p:cNvPr id="10" name="Milestone text"/>
          <p:cNvSpPr txBox="1"/>
          <p:nvPr/>
        </p:nvSpPr>
        <p:spPr>
          <a:xfrm>
            <a:off x="2743200"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Any of 3,039 jobs, 1,000-futures test, three-agent vote, 543 tests.</a:t>
            </a:r>
            <a:endParaRPr lang="en-US" sz="1150" dirty="0"/>
          </a:p>
        </p:txBody>
      </p:sp>
      <p:sp>
        <p:nvSpPr>
          <p:cNvPr id="11" name="Goal"/>
          <p:cNvSpPr txBox="1"/>
          <p:nvPr/>
        </p:nvSpPr>
        <p:spPr>
          <a:xfrm>
            <a:off x="2743200" y="4617720"/>
            <a:ext cx="1664208" cy="457200"/>
          </a:xfrm>
          <a:prstGeom prst="rect">
            <a:avLst/>
          </a:prstGeom>
          <a:noFill/>
          <a:ln/>
        </p:spPr>
        <p:txBody>
          <a:bodyPr wrap="square" lIns="0" tIns="0" rIns="0" bIns="0" rtlCol="0" anchor="t"/>
          <a:lstStyle/>
          <a:p>
            <a:pPr indent="0" marL="0">
              <a:buNone/>
            </a:pPr>
            <a:r>
              <a:rPr lang="en-US" sz="1100" b="1" dirty="0">
                <a:solidFill>
                  <a:srgbClr val="2FD4A0"/>
                </a:solidFill>
              </a:rPr>
              <a:t>Done</a:t>
            </a:r>
            <a:endParaRPr lang="en-US" sz="1100" dirty="0"/>
          </a:p>
        </p:txBody>
      </p:sp>
      <p:sp>
        <p:nvSpPr>
          <p:cNvPr id="12" name="Dot"/>
          <p:cNvSpPr/>
          <p:nvPr/>
        </p:nvSpPr>
        <p:spPr>
          <a:xfrm>
            <a:off x="4544568" y="2112264"/>
            <a:ext cx="164592" cy="164592"/>
          </a:xfrm>
          <a:prstGeom prst="ellipse">
            <a:avLst/>
          </a:prstGeom>
          <a:solidFill>
            <a:srgbClr val="05070D"/>
          </a:solidFill>
          <a:ln w="19050">
            <a:solidFill>
              <a:srgbClr val="5AA0F0"/>
            </a:solidFill>
            <a:prstDash val="solid"/>
          </a:ln>
        </p:spPr>
        <p:txBody>
          <a:bodyPr/>
          <a:p/>
        </p:txBody>
      </p:sp>
      <p:sp>
        <p:nvSpPr>
          <p:cNvPr id="13" name="When"/>
          <p:cNvSpPr txBox="1"/>
          <p:nvPr/>
        </p:nvSpPr>
        <p:spPr>
          <a:xfrm>
            <a:off x="4544568" y="2450592"/>
            <a:ext cx="1664208" cy="228600"/>
          </a:xfrm>
          <a:prstGeom prst="rect">
            <a:avLst/>
          </a:prstGeom>
          <a:noFill/>
          <a:ln/>
        </p:spPr>
        <p:txBody>
          <a:bodyPr wrap="square" lIns="0" tIns="0" rIns="0" bIns="0" rtlCol="0" anchor="t"/>
          <a:lstStyle/>
          <a:p>
            <a:pPr indent="0" marL="0">
              <a:buNone/>
            </a:pPr>
            <a:r>
              <a:rPr lang="en-US" sz="1100" b="1" dirty="0">
                <a:solidFill>
                  <a:srgbClr val="5AA0F0"/>
                </a:solidFill>
              </a:rPr>
              <a:t>Next 3 months</a:t>
            </a:r>
            <a:endParaRPr lang="en-US" sz="1100" dirty="0"/>
          </a:p>
        </p:txBody>
      </p:sp>
      <p:sp>
        <p:nvSpPr>
          <p:cNvPr id="14" name="Milestone"/>
          <p:cNvSpPr txBox="1"/>
          <p:nvPr/>
        </p:nvSpPr>
        <p:spPr>
          <a:xfrm>
            <a:off x="4544568"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Ready for employers</a:t>
            </a:r>
            <a:endParaRPr lang="en-US" sz="1500" dirty="0"/>
          </a:p>
        </p:txBody>
      </p:sp>
      <p:sp>
        <p:nvSpPr>
          <p:cNvPr id="15" name="Milestone text"/>
          <p:cNvSpPr txBox="1"/>
          <p:nvPr/>
        </p:nvSpPr>
        <p:spPr>
          <a:xfrm>
            <a:off x="4544568"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Track all 13,939 skills daily. Import HR data. HRD Corp-claimable courses.</a:t>
            </a:r>
            <a:endParaRPr lang="en-US" sz="1150" dirty="0"/>
          </a:p>
        </p:txBody>
      </p:sp>
      <p:sp>
        <p:nvSpPr>
          <p:cNvPr id="16" name="Goal"/>
          <p:cNvSpPr txBox="1"/>
          <p:nvPr/>
        </p:nvSpPr>
        <p:spPr>
          <a:xfrm>
            <a:off x="4544568" y="4617720"/>
            <a:ext cx="1664208" cy="457200"/>
          </a:xfrm>
          <a:prstGeom prst="rect">
            <a:avLst/>
          </a:prstGeom>
          <a:noFill/>
          <a:ln/>
        </p:spPr>
        <p:txBody>
          <a:bodyPr wrap="square" lIns="0" tIns="0" rIns="0" bIns="0" rtlCol="0" anchor="t"/>
          <a:lstStyle/>
          <a:p>
            <a:pPr indent="0" marL="0">
              <a:buNone/>
            </a:pPr>
            <a:r>
              <a:rPr lang="en-US" sz="1100" b="1" dirty="0">
                <a:solidFill>
                  <a:srgbClr val="5AA0F0"/>
                </a:solidFill>
              </a:rPr>
              <a:t>Goal: letter of intent from 1 employer</a:t>
            </a:r>
            <a:endParaRPr lang="en-US" sz="1100" dirty="0"/>
          </a:p>
        </p:txBody>
      </p:sp>
      <p:sp>
        <p:nvSpPr>
          <p:cNvPr id="17" name="Dot"/>
          <p:cNvSpPr/>
          <p:nvPr/>
        </p:nvSpPr>
        <p:spPr>
          <a:xfrm>
            <a:off x="6345936" y="2112264"/>
            <a:ext cx="164592" cy="164592"/>
          </a:xfrm>
          <a:prstGeom prst="ellipse">
            <a:avLst/>
          </a:prstGeom>
          <a:solidFill>
            <a:srgbClr val="05070D"/>
          </a:solidFill>
          <a:ln w="19050">
            <a:solidFill>
              <a:srgbClr val="A98BFF"/>
            </a:solidFill>
            <a:prstDash val="solid"/>
          </a:ln>
        </p:spPr>
        <p:txBody>
          <a:bodyPr/>
          <a:p/>
        </p:txBody>
      </p:sp>
      <p:sp>
        <p:nvSpPr>
          <p:cNvPr id="18" name="When"/>
          <p:cNvSpPr txBox="1"/>
          <p:nvPr/>
        </p:nvSpPr>
        <p:spPr>
          <a:xfrm>
            <a:off x="6345936" y="2450592"/>
            <a:ext cx="1664208" cy="228600"/>
          </a:xfrm>
          <a:prstGeom prst="rect">
            <a:avLst/>
          </a:prstGeom>
          <a:noFill/>
          <a:ln/>
        </p:spPr>
        <p:txBody>
          <a:bodyPr wrap="square" lIns="0" tIns="0" rIns="0" bIns="0" rtlCol="0" anchor="t"/>
          <a:lstStyle/>
          <a:p>
            <a:pPr indent="0" marL="0">
              <a:buNone/>
            </a:pPr>
            <a:r>
              <a:rPr lang="en-US" sz="1100" b="1" dirty="0">
                <a:solidFill>
                  <a:srgbClr val="A98BFF"/>
                </a:solidFill>
              </a:rPr>
              <a:t>H1 2027</a:t>
            </a:r>
            <a:endParaRPr lang="en-US" sz="1100" dirty="0"/>
          </a:p>
        </p:txBody>
      </p:sp>
      <p:sp>
        <p:nvSpPr>
          <p:cNvPr id="19" name="Milestone"/>
          <p:cNvSpPr txBox="1"/>
          <p:nvPr/>
        </p:nvSpPr>
        <p:spPr>
          <a:xfrm>
            <a:off x="6345936"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Pilot in Greater KL</a:t>
            </a:r>
            <a:endParaRPr lang="en-US" sz="1500" dirty="0"/>
          </a:p>
        </p:txBody>
      </p:sp>
      <p:sp>
        <p:nvSpPr>
          <p:cNvPr id="20" name="Milestone text"/>
          <p:cNvSpPr txBox="1"/>
          <p:nvPr/>
        </p:nvSpPr>
        <p:spPr>
          <a:xfrm>
            <a:off x="6345936"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Shared-service centres around KL Sentral, Bangsar South and Cyberjaya. First talks with MDEC and GBS Malaysia.</a:t>
            </a:r>
            <a:endParaRPr lang="en-US" sz="1150" dirty="0"/>
          </a:p>
        </p:txBody>
      </p:sp>
      <p:sp>
        <p:nvSpPr>
          <p:cNvPr id="21" name="Goal"/>
          <p:cNvSpPr txBox="1"/>
          <p:nvPr/>
        </p:nvSpPr>
        <p:spPr>
          <a:xfrm>
            <a:off x="6345936" y="4617720"/>
            <a:ext cx="1664208" cy="457200"/>
          </a:xfrm>
          <a:prstGeom prst="rect">
            <a:avLst/>
          </a:prstGeom>
          <a:noFill/>
          <a:ln/>
        </p:spPr>
        <p:txBody>
          <a:bodyPr wrap="square" lIns="0" tIns="0" rIns="0" bIns="0" rtlCol="0" anchor="t"/>
          <a:lstStyle/>
          <a:p>
            <a:pPr indent="0" marL="0">
              <a:buNone/>
            </a:pPr>
            <a:r>
              <a:rPr lang="en-US" sz="1100" b="1" dirty="0">
                <a:solidFill>
                  <a:srgbClr val="A98BFF"/>
                </a:solidFill>
              </a:rPr>
              <a:t>Goal: 2–3 centres, about 1,500 staff</a:t>
            </a:r>
            <a:endParaRPr lang="en-US" sz="1100" dirty="0"/>
          </a:p>
        </p:txBody>
      </p:sp>
      <p:sp>
        <p:nvSpPr>
          <p:cNvPr id="22" name="Dot"/>
          <p:cNvSpPr/>
          <p:nvPr/>
        </p:nvSpPr>
        <p:spPr>
          <a:xfrm>
            <a:off x="8147304" y="2075688"/>
            <a:ext cx="237744" cy="237744"/>
          </a:xfrm>
          <a:prstGeom prst="ellipse">
            <a:avLst/>
          </a:prstGeom>
          <a:solidFill>
            <a:srgbClr val="F2B33D"/>
          </a:solidFill>
          <a:ln w="19050">
            <a:solidFill>
              <a:srgbClr val="F2B33D"/>
            </a:solidFill>
            <a:prstDash val="solid"/>
          </a:ln>
        </p:spPr>
        <p:txBody>
          <a:bodyPr/>
          <a:p/>
        </p:txBody>
      </p:sp>
      <p:sp>
        <p:nvSpPr>
          <p:cNvPr id="23" name="When"/>
          <p:cNvSpPr txBox="1"/>
          <p:nvPr/>
        </p:nvSpPr>
        <p:spPr>
          <a:xfrm>
            <a:off x="8147304" y="2450592"/>
            <a:ext cx="1664208" cy="228600"/>
          </a:xfrm>
          <a:prstGeom prst="rect">
            <a:avLst/>
          </a:prstGeom>
          <a:noFill/>
          <a:ln/>
        </p:spPr>
        <p:txBody>
          <a:bodyPr wrap="square" lIns="0" tIns="0" rIns="0" bIns="0" rtlCol="0" anchor="t"/>
          <a:lstStyle/>
          <a:p>
            <a:pPr indent="0" marL="0">
              <a:buNone/>
            </a:pPr>
            <a:r>
              <a:rPr lang="en-US" sz="1100" b="1" dirty="0">
                <a:solidFill>
                  <a:srgbClr val="F2B33D"/>
                </a:solidFill>
              </a:rPr>
              <a:t>Oct 2027</a:t>
            </a:r>
            <a:endParaRPr lang="en-US" sz="1100" dirty="0"/>
          </a:p>
        </p:txBody>
      </p:sp>
      <p:sp>
        <p:nvSpPr>
          <p:cNvPr id="24" name="Milestone"/>
          <p:cNvSpPr txBox="1"/>
          <p:nvPr/>
        </p:nvSpPr>
        <p:spPr>
          <a:xfrm>
            <a:off x="8147304"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Break-even</a:t>
            </a:r>
            <a:endParaRPr lang="en-US" sz="1500" dirty="0"/>
          </a:p>
        </p:txBody>
      </p:sp>
      <p:sp>
        <p:nvSpPr>
          <p:cNvPr id="25" name="Milestone text"/>
          <p:cNvSpPr txBox="1"/>
          <p:nvPr/>
        </p:nvSpPr>
        <p:spPr>
          <a:xfrm>
            <a:off x="8147304"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Monthly profit turns positive in the median of 10,000 simulated futures.</a:t>
            </a:r>
            <a:endParaRPr lang="en-US" sz="1150" dirty="0"/>
          </a:p>
        </p:txBody>
      </p:sp>
      <p:sp>
        <p:nvSpPr>
          <p:cNvPr id="26" name="Goal"/>
          <p:cNvSpPr txBox="1"/>
          <p:nvPr/>
        </p:nvSpPr>
        <p:spPr>
          <a:xfrm>
            <a:off x="8147304" y="4617720"/>
            <a:ext cx="1664208" cy="457200"/>
          </a:xfrm>
          <a:prstGeom prst="rect">
            <a:avLst/>
          </a:prstGeom>
          <a:noFill/>
          <a:ln/>
        </p:spPr>
        <p:txBody>
          <a:bodyPr wrap="square" lIns="0" tIns="0" rIns="0" bIns="0" rtlCol="0" anchor="t"/>
          <a:lstStyle/>
          <a:p>
            <a:pPr indent="0" marL="0">
              <a:buNone/>
            </a:pPr>
            <a:r>
              <a:rPr lang="en-US" sz="1100" b="1" dirty="0">
                <a:solidFill>
                  <a:srgbClr val="F2B33D"/>
                </a:solidFill>
              </a:rPr>
              <a:t>Funding needed: about RM 150k</a:t>
            </a:r>
            <a:endParaRPr lang="en-US" sz="1100" dirty="0"/>
          </a:p>
        </p:txBody>
      </p:sp>
      <p:sp>
        <p:nvSpPr>
          <p:cNvPr id="27" name="Dot"/>
          <p:cNvSpPr/>
          <p:nvPr/>
        </p:nvSpPr>
        <p:spPr>
          <a:xfrm>
            <a:off x="9948672" y="2112264"/>
            <a:ext cx="164592" cy="164592"/>
          </a:xfrm>
          <a:prstGeom prst="ellipse">
            <a:avLst/>
          </a:prstGeom>
          <a:solidFill>
            <a:srgbClr val="05070D"/>
          </a:solidFill>
          <a:ln w="19050">
            <a:solidFill>
              <a:srgbClr val="FF7A3D"/>
            </a:solidFill>
            <a:prstDash val="solid"/>
          </a:ln>
        </p:spPr>
        <p:txBody>
          <a:bodyPr/>
          <a:p/>
        </p:txBody>
      </p:sp>
      <p:sp>
        <p:nvSpPr>
          <p:cNvPr id="28" name="When"/>
          <p:cNvSpPr txBox="1"/>
          <p:nvPr/>
        </p:nvSpPr>
        <p:spPr>
          <a:xfrm>
            <a:off x="9948672" y="2450592"/>
            <a:ext cx="1664208" cy="228600"/>
          </a:xfrm>
          <a:prstGeom prst="rect">
            <a:avLst/>
          </a:prstGeom>
          <a:noFill/>
          <a:ln/>
        </p:spPr>
        <p:txBody>
          <a:bodyPr wrap="square" lIns="0" tIns="0" rIns="0" bIns="0" rtlCol="0" anchor="t"/>
          <a:lstStyle/>
          <a:p>
            <a:pPr indent="0" marL="0">
              <a:buNone/>
            </a:pPr>
            <a:r>
              <a:rPr lang="en-US" sz="1100" b="1" dirty="0">
                <a:solidFill>
                  <a:srgbClr val="FF7A3D"/>
                </a:solidFill>
              </a:rPr>
              <a:t>2028–29</a:t>
            </a:r>
            <a:endParaRPr lang="en-US" sz="1100" dirty="0"/>
          </a:p>
        </p:txBody>
      </p:sp>
      <p:sp>
        <p:nvSpPr>
          <p:cNvPr id="29" name="Milestone"/>
          <p:cNvSpPr txBox="1"/>
          <p:nvPr/>
        </p:nvSpPr>
        <p:spPr>
          <a:xfrm>
            <a:off x="9948672"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Scale</a:t>
            </a:r>
            <a:endParaRPr lang="en-US" sz="1500" dirty="0"/>
          </a:p>
        </p:txBody>
      </p:sp>
      <p:sp>
        <p:nvSpPr>
          <p:cNvPr id="30" name="Milestone text"/>
          <p:cNvSpPr txBox="1"/>
          <p:nvPr/>
        </p:nvSpPr>
        <p:spPr>
          <a:xfrm>
            <a:off x="9948672"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More employers and universities in the Klang Valley, then Penang and Johor. Licensed Malaysian job-ad data. More sectors.</a:t>
            </a:r>
            <a:endParaRPr lang="en-US" sz="1150" dirty="0"/>
          </a:p>
        </p:txBody>
      </p:sp>
      <p:sp>
        <p:nvSpPr>
          <p:cNvPr id="31" name="Goal"/>
          <p:cNvSpPr txBox="1"/>
          <p:nvPr/>
        </p:nvSpPr>
        <p:spPr>
          <a:xfrm>
            <a:off x="9948672" y="4617720"/>
            <a:ext cx="1664208" cy="457200"/>
          </a:xfrm>
          <a:prstGeom prst="rect">
            <a:avLst/>
          </a:prstGeom>
          <a:noFill/>
          <a:ln/>
        </p:spPr>
        <p:txBody>
          <a:bodyPr wrap="square" lIns="0" tIns="0" rIns="0" bIns="0" rtlCol="0" anchor="t"/>
          <a:lstStyle/>
          <a:p>
            <a:pPr indent="0" marL="0">
              <a:buNone/>
            </a:pPr>
            <a:r>
              <a:rPr lang="en-US" sz="1100" b="1" dirty="0">
                <a:solidFill>
                  <a:srgbClr val="FF7A3D"/>
                </a:solidFill>
              </a:rPr>
              <a:t>Median: 7,400 seats, RM 1.9M a year</a:t>
            </a:r>
            <a:endParaRPr lang="en-US" sz="1100" dirty="0"/>
          </a:p>
        </p:txBody>
      </p:sp>
      <p:sp>
        <p:nvSpPr>
          <p:cNvPr id="32" name="Our ask"/>
          <p:cNvSpPr/>
          <p:nvPr/>
        </p:nvSpPr>
        <p:spPr>
          <a:xfrm>
            <a:off x="2743200" y="5760720"/>
            <a:ext cx="8897112" cy="502920"/>
          </a:xfrm>
          <a:prstGeom prst="roundRect">
            <a:avLst>
              <a:gd name="adj" fmla="val 18182"/>
            </a:avLst>
          </a:prstGeom>
          <a:solidFill>
            <a:srgbClr val="2A1508">
              <a:alpha val="75000"/>
            </a:srgbClr>
          </a:solidFill>
          <a:ln w="9525">
            <a:solidFill>
              <a:srgbClr val="8A4524"/>
            </a:solidFill>
          </a:ln>
        </p:spPr>
        <p:txBody>
          <a:bodyPr wrap="square" lIns="152400" tIns="152400" rIns="152400" bIns="152400" rtlCol="0" anchor="ctr"/>
          <a:lstStyle/>
          <a:p>
            <a:pPr indent="0" marL="0">
              <a:buNone/>
            </a:pPr>
            <a:r>
              <a:rPr lang="en-US" sz="1100" b="1" spc="100" kern="0" dirty="0">
                <a:solidFill>
                  <a:srgbClr val="FF9A5C"/>
                </a:solidFill>
              </a:rPr>
              <a:t>OUR ASK    </a:t>
            </a:r>
            <a:pPr indent="0" marL="0">
              <a:buNone/>
            </a:pPr>
            <a:r>
              <a:rPr lang="en-US" sz="1400" dirty="0">
                <a:solidFill>
                  <a:schemeClr val="tx1"/>
                </a:solidFill>
              </a:rPr>
              <a:t>Introductions to one pilot employer, and to HRD Corp so our courses can be claimed.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11</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11</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Architecture</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One app on Replit, with KrackedDevs and RunPod plugged in.</a:t>
            </a:r>
            <a:endParaRPr lang="en-US" sz="3200" dirty="0"/>
          </a:p>
        </p:txBody>
      </p:sp>
      <p:pic>
        <p:nvPicPr>
          <p:cNvPr id="6" name="Architecture diagram" descr="Architecture: workers, HR advisors and reviewers use one web app hosted on Replit (web app, REST API, engine, AI agents, PostgreSQL 16, triage gate). KrackedDevs is the LLM gateway (GPT-5.5 main, DeepSeek-V4-Pro reviewer, three voters). RunPod runs the bge-m3 embedding endpoint and trained the AI-exposure model on an RTX 4090. Every GitHub push runs 533 tests and deploys to Replit.">    </p:cNvPr>
          <p:cNvPicPr>
            <a:picLocks noChangeAspect="1"/>
          </p:cNvPicPr>
          <p:nvPr/>
        </p:nvPicPr>
        <p:blipFill>
          <a:blip r:embed="rId1"/>
          <a:stretch>
            <a:fillRect/>
          </a:stretch>
        </p:blipFill>
        <p:spPr>
          <a:xfrm>
            <a:off x="2743200" y="2194560"/>
            <a:ext cx="8897112" cy="34930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914400" y="822960"/>
            <a:ext cx="10360152" cy="274320"/>
          </a:xfrm>
          <a:prstGeom prst="rect">
            <a:avLst/>
          </a:prstGeom>
          <a:noFill/>
          <a:ln/>
        </p:spPr>
        <p:txBody>
          <a:bodyPr wrap="square" lIns="0" tIns="0" rIns="0" bIns="0" rtlCol="0" anchor="t"/>
          <a:lstStyle/>
          <a:p>
            <a:pPr algn="ctr" indent="0" marL="0">
              <a:buNone/>
            </a:pPr>
            <a:r>
              <a:rPr lang="en-US" sz="1300" b="1" dirty="0">
                <a:solidFill>
                  <a:schemeClr val="accent5"/>
                </a:solidFill>
              </a:rPr>
              <a:t>HalaTuju, Team Dsaise, Universiti Malaya</a:t>
            </a:r>
            <a:endParaRPr lang="en-US" sz="1300" dirty="0"/>
          </a:p>
        </p:txBody>
      </p:sp>
      <p:sp>
        <p:nvSpPr>
          <p:cNvPr id="3" name="Closing line 1"/>
          <p:cNvSpPr txBox="1"/>
          <p:nvPr/>
        </p:nvSpPr>
        <p:spPr>
          <a:xfrm>
            <a:off x="457200" y="1234440"/>
            <a:ext cx="11274552" cy="731520"/>
          </a:xfrm>
          <a:prstGeom prst="rect">
            <a:avLst/>
          </a:prstGeom>
          <a:noFill/>
          <a:ln/>
        </p:spPr>
        <p:txBody>
          <a:bodyPr wrap="square" lIns="0" tIns="0" rIns="0" bIns="0" rtlCol="0" anchor="t"/>
          <a:lstStyle/>
          <a:p>
            <a:pPr algn="ctr" indent="0" marL="0">
              <a:buNone/>
            </a:pPr>
            <a:r>
              <a:rPr lang="en-US" sz="4000" b="1" dirty="0">
                <a:solidFill>
                  <a:srgbClr val="FFFFFF"/>
                </a:solidFill>
              </a:rPr>
              <a:t>Knowing what is coming is one thing.</a:t>
            </a:r>
            <a:endParaRPr lang="en-US" sz="4000" dirty="0"/>
          </a:p>
        </p:txBody>
      </p:sp>
      <p:sp>
        <p:nvSpPr>
          <p:cNvPr id="4" name="Closing line 2"/>
          <p:cNvSpPr txBox="1"/>
          <p:nvPr/>
        </p:nvSpPr>
        <p:spPr>
          <a:xfrm>
            <a:off x="457200" y="1965960"/>
            <a:ext cx="11274552" cy="822960"/>
          </a:xfrm>
          <a:prstGeom prst="rect">
            <a:avLst/>
          </a:prstGeom>
          <a:noFill/>
          <a:ln/>
        </p:spPr>
        <p:txBody>
          <a:bodyPr wrap="square" lIns="0" tIns="0" rIns="0" bIns="0" rtlCol="0" anchor="t"/>
          <a:lstStyle/>
          <a:p>
            <a:pPr algn="ctr" indent="0" marL="0">
              <a:buNone/>
            </a:pPr>
            <a:r>
              <a:rPr lang="en-US" sz="4600" b="1" dirty="0">
                <a:solidFill>
                  <a:schemeClr val="accent1"/>
                </a:solidFill>
              </a:rPr>
              <a:t>Knowing what to do next is another.</a:t>
            </a:r>
            <a:endParaRPr lang="en-US" sz="4600" dirty="0"/>
          </a:p>
        </p:txBody>
      </p:sp>
      <p:sp>
        <p:nvSpPr>
          <p:cNvPr id="5" name="Thank you"/>
          <p:cNvSpPr txBox="1"/>
          <p:nvPr/>
        </p:nvSpPr>
        <p:spPr>
          <a:xfrm>
            <a:off x="914400" y="2880360"/>
            <a:ext cx="10360152" cy="1143000"/>
          </a:xfrm>
          <a:prstGeom prst="rect">
            <a:avLst/>
          </a:prstGeom>
          <a:noFill/>
          <a:ln/>
        </p:spPr>
        <p:txBody>
          <a:bodyPr wrap="square" lIns="0" tIns="0" rIns="0" bIns="0" rtlCol="0" anchor="t"/>
          <a:lstStyle/>
          <a:p>
            <a:pPr algn="ctr" indent="0" marL="0">
              <a:buNone/>
            </a:pPr>
            <a:r>
              <a:rPr lang="en-US" sz="8000" b="1" dirty="0">
                <a:ln w="15875">
                  <a:solidFill>
                    <a:srgbClr val="DDE3EE"/>
                  </a:solidFill>
                </a:ln>
                <a:solidFill>
                  <a:srgbClr val="FFFFFF">
                    <a:alpha val="30000"/>
                  </a:srgbClr>
                </a:solidFill>
              </a:rPr>
              <a:t>Thank you.</a:t>
            </a:r>
            <a:endParaRPr lang="en-US" sz="8000" dirty="0"/>
          </a:p>
        </p:txBody>
      </p:sp>
      <p:sp>
        <p:nvSpPr>
          <p:cNvPr id="6" name="Button: Open the app  →">
            <a:hlinkClick r:id="rId1" tooltip=""/>
          </p:cNvPr>
          <p:cNvSpPr/>
          <p:nvPr/>
        </p:nvSpPr>
        <p:spPr>
          <a:xfrm>
            <a:off x="3246120" y="4434840"/>
            <a:ext cx="1783080" cy="457200"/>
          </a:xfrm>
          <a:prstGeom prst="roundRect">
            <a:avLst>
              <a:gd name="adj" fmla="val 50000"/>
            </a:avLst>
          </a:prstGeom>
          <a:solidFill>
            <a:srgbClr val="FF7A3D"/>
          </a:solidFill>
          <a:ln w="9525">
            <a:solidFill>
              <a:srgbClr val="FF7A3D"/>
            </a:solidFill>
          </a:ln>
        </p:spPr>
        <p:txBody>
          <a:bodyPr wrap="square" lIns="0" tIns="0" rIns="0" bIns="0" rtlCol="0" anchor="ctr"/>
          <a:lstStyle/>
          <a:p>
            <a:pPr algn="ctr" indent="0" marL="0">
              <a:buNone/>
            </a:pPr>
            <a:r>
              <a:rPr lang="en-US" sz="1300" b="1" dirty="0">
                <a:solidFill>
                  <a:srgbClr val="FFFFFF"/>
                </a:solidFill>
              </a:rPr>
              <a:t>Open the app  →</a:t>
            </a:r>
            <a:endParaRPr lang="en-US" sz="1300" dirty="0"/>
          </a:p>
        </p:txBody>
      </p:sp>
      <p:sp>
        <p:nvSpPr>
          <p:cNvPr id="7" name="Button: Source code">
            <a:hlinkClick r:id="rId2" tooltip=""/>
          </p:cNvPr>
          <p:cNvSpPr/>
          <p:nvPr/>
        </p:nvSpPr>
        <p:spPr>
          <a:xfrm>
            <a:off x="5212080" y="4434840"/>
            <a:ext cx="1600200" cy="457200"/>
          </a:xfrm>
          <a:prstGeom prst="roundRect">
            <a:avLst>
              <a:gd name="adj" fmla="val 50000"/>
            </a:avLst>
          </a:prstGeom>
          <a:solidFill>
            <a:srgbClr val="0C1220">
              <a:alpha val="70000"/>
            </a:srgbClr>
          </a:solidFill>
          <a:ln w="9525">
            <a:solidFill>
              <a:srgbClr val="2A3346"/>
            </a:solidFill>
          </a:ln>
        </p:spPr>
        <p:txBody>
          <a:bodyPr wrap="square" lIns="0" tIns="0" rIns="0" bIns="0" rtlCol="0" anchor="ctr"/>
          <a:lstStyle/>
          <a:p>
            <a:pPr algn="ctr" indent="0" marL="0">
              <a:buNone/>
            </a:pPr>
            <a:r>
              <a:rPr lang="en-US" sz="1300" b="1" dirty="0">
                <a:solidFill>
                  <a:schemeClr val="tx1"/>
                </a:solidFill>
              </a:rPr>
              <a:t>Source code</a:t>
            </a:r>
            <a:endParaRPr lang="en-US" sz="1300" dirty="0"/>
          </a:p>
        </p:txBody>
      </p:sp>
      <p:sp>
        <p:nvSpPr>
          <p:cNvPr id="8" name="QR card"/>
          <p:cNvSpPr/>
          <p:nvPr/>
        </p:nvSpPr>
        <p:spPr>
          <a:xfrm>
            <a:off x="6995160" y="4279392"/>
            <a:ext cx="2240280" cy="768096"/>
          </a:xfrm>
          <a:prstGeom prst="roundRect">
            <a:avLst>
              <a:gd name="adj" fmla="val 11905"/>
            </a:avLst>
          </a:prstGeom>
          <a:solidFill>
            <a:srgbClr val="0C1220">
              <a:alpha val="80000"/>
            </a:srgbClr>
          </a:solidFill>
          <a:ln w="9525">
            <a:solidFill>
              <a:srgbClr val="2A3346"/>
            </a:solidFill>
            <a:prstDash val="solid"/>
          </a:ln>
        </p:spPr>
        <p:txBody>
          <a:bodyPr/>
          <a:p/>
        </p:txBody>
      </p:sp>
      <p:pic>
        <p:nvPicPr>
          <p:cNvPr id="9" name="QR code" descr="QR code for halatuju.replit.app">    </p:cNvPr>
          <p:cNvPicPr>
            <a:picLocks noChangeAspect="1"/>
          </p:cNvPicPr>
          <p:nvPr/>
        </p:nvPicPr>
        <p:blipFill>
          <a:blip r:embed="rId3"/>
          <a:stretch>
            <a:fillRect/>
          </a:stretch>
        </p:blipFill>
        <p:spPr>
          <a:xfrm>
            <a:off x="7068312" y="4352544"/>
            <a:ext cx="621792" cy="621792"/>
          </a:xfrm>
          <a:prstGeom prst="rect">
            <a:avLst/>
          </a:prstGeom>
        </p:spPr>
      </p:pic>
      <p:sp>
        <p:nvSpPr>
          <p:cNvPr id="10" name="QR label"/>
          <p:cNvSpPr txBox="1"/>
          <p:nvPr/>
        </p:nvSpPr>
        <p:spPr>
          <a:xfrm>
            <a:off x="7772400" y="4462272"/>
            <a:ext cx="1417320" cy="457200"/>
          </a:xfrm>
          <a:prstGeom prst="rect">
            <a:avLst/>
          </a:prstGeom>
          <a:noFill/>
          <a:ln/>
        </p:spPr>
        <p:txBody>
          <a:bodyPr wrap="square" lIns="0" tIns="0" rIns="0" bIns="0" rtlCol="0" anchor="t"/>
          <a:lstStyle/>
          <a:p>
            <a:pPr indent="0" marL="0">
              <a:buNone/>
            </a:pPr>
            <a:r>
              <a:rPr lang="en-US" sz="1000" dirty="0">
                <a:solidFill>
                  <a:schemeClr val="tx2"/>
                </a:solidFill>
              </a:rPr>
              <a:t>Scan to try it</a:t>
            </a:r>
            <a:endParaRPr lang="en-US" sz="1000" dirty="0"/>
          </a:p>
          <a:p>
            <a:pPr indent="0" marL="0">
              <a:buNone/>
            </a:pPr>
            <a:r>
              <a:rPr lang="en-US" sz="1100" b="1" dirty="0">
                <a:solidFill>
                  <a:schemeClr val="tx1"/>
                </a:solidFill>
              </a:rPr>
              <a:t>halatuju.replit.app</a:t>
            </a:r>
            <a:endParaRPr lang="en-US" sz="1000" dirty="0"/>
          </a:p>
        </p:txBody>
      </p:sp>
      <p:sp>
        <p:nvSpPr>
          <p:cNvPr id="11" name="Team names"/>
          <p:cNvSpPr txBox="1"/>
          <p:nvPr/>
        </p:nvSpPr>
        <p:spPr>
          <a:xfrm>
            <a:off x="914400" y="5349240"/>
            <a:ext cx="10360152" cy="274320"/>
          </a:xfrm>
          <a:prstGeom prst="rect">
            <a:avLst/>
          </a:prstGeom>
          <a:noFill/>
          <a:ln/>
        </p:spPr>
        <p:txBody>
          <a:bodyPr wrap="square" lIns="0" tIns="0" rIns="0" bIns="0" rtlCol="0" anchor="t"/>
          <a:lstStyle/>
          <a:p>
            <a:pPr algn="ctr" indent="0" marL="0">
              <a:buNone/>
            </a:pPr>
            <a:r>
              <a:rPr lang="en-US" sz="1200" dirty="0">
                <a:solidFill>
                  <a:schemeClr val="tx2"/>
                </a:solidFill>
              </a:rPr>
              <a:t>Leow Shen En, Choong Zhuo Lin, Tan Wei Feng, Lim Jie Shin, Esther Kong Yuan 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A1</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A1</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business stress test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We ran the business 10,000 times.</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The same stress test we give workers, applied to our own company. Every input is a range, not a single guess.</a:t>
            </a:r>
            <a:endParaRPr lang="en-US" sz="1400" dirty="0"/>
          </a:p>
        </p:txBody>
      </p:sp>
      <p:graphicFrame>
        <p:nvGraphicFramePr>
          <p:cNvPr id="7" name="Chart: monthly profit across 10,000 futures" descr=""/>
          <p:cNvGraphicFramePr/>
          <p:nvPr/>
        </p:nvGraphicFramePr>
        <p:xfrm>
          <a:off x="2651760" y="2011680"/>
          <a:ext cx="5394960" cy="2697480"/>
        </p:xfrm>
        <a:graphic xmlns:a="http://schemas.openxmlformats.org/drawingml/2006/main">
          <a:graphicData uri="http://schemas.openxmlformats.org/drawingml/2006/chart">
            <c:chart xmlns:c="http://schemas.openxmlformats.org/drawingml/2006/chart" r:id="rId1"/>
          </a:graphicData>
        </a:graphic>
      </p:graphicFrame>
      <p:sp>
        <p:nvSpPr>
          <p:cNvPr id="8" name="Chart label"/>
          <p:cNvSpPr txBox="1"/>
          <p:nvPr/>
        </p:nvSpPr>
        <p:spPr>
          <a:xfrm>
            <a:off x="2743200" y="1737360"/>
            <a:ext cx="4572000" cy="228600"/>
          </a:xfrm>
          <a:prstGeom prst="rect">
            <a:avLst/>
          </a:prstGeom>
          <a:noFill/>
          <a:ln/>
        </p:spPr>
        <p:txBody>
          <a:bodyPr wrap="square" lIns="0" tIns="0" rIns="0" bIns="0" rtlCol="0" anchor="t"/>
          <a:lstStyle/>
          <a:p>
            <a:pPr indent="0" marL="0">
              <a:buNone/>
            </a:pPr>
            <a:r>
              <a:rPr lang="en-US" sz="1000" b="1" spc="100" kern="0" dirty="0">
                <a:solidFill>
                  <a:schemeClr val="bg2"/>
                </a:solidFill>
              </a:rPr>
              <a:t>MONTHLY PROFIT, 2027 TO 2029 (RM)</a:t>
            </a:r>
            <a:endParaRPr lang="en-US" sz="1000" dirty="0"/>
          </a:p>
        </p:txBody>
      </p:sp>
      <p:sp>
        <p:nvSpPr>
          <p:cNvPr id="9" name="Chart legend"/>
          <p:cNvSpPr txBox="1"/>
          <p:nvPr/>
        </p:nvSpPr>
        <p:spPr>
          <a:xfrm>
            <a:off x="2743200" y="4727448"/>
            <a:ext cx="5486400" cy="228600"/>
          </a:xfrm>
          <a:prstGeom prst="rect">
            <a:avLst/>
          </a:prstGeom>
          <a:noFill/>
          <a:ln/>
        </p:spPr>
        <p:txBody>
          <a:bodyPr wrap="square" lIns="0" tIns="0" rIns="0" bIns="0" rtlCol="0" anchor="t"/>
          <a:lstStyle/>
          <a:p>
            <a:pPr indent="0" marL="0">
              <a:buNone/>
            </a:pPr>
            <a:r>
              <a:rPr lang="en-US" sz="1050" b="1" dirty="0">
                <a:solidFill>
                  <a:srgbClr val="FF7A3D"/>
                </a:solidFill>
              </a:rPr>
              <a:t>━ </a:t>
            </a:r>
            <a:pPr indent="0" marL="0">
              <a:buNone/>
            </a:pPr>
            <a:r>
              <a:rPr lang="en-US" sz="1050" dirty="0">
                <a:solidFill>
                  <a:schemeClr val="tx2"/>
                </a:solidFill>
              </a:rPr>
              <a:t>Median    </a:t>
            </a:r>
            <a:pPr indent="0" marL="0">
              <a:buNone/>
            </a:pPr>
            <a:r>
              <a:rPr lang="en-US" sz="1050" b="1" dirty="0">
                <a:solidFill>
                  <a:srgbClr val="2FD4A0"/>
                </a:solidFill>
              </a:rPr>
              <a:t>━ </a:t>
            </a:r>
            <a:pPr indent="0" marL="0">
              <a:buNone/>
            </a:pPr>
            <a:r>
              <a:rPr lang="en-US" sz="1050" dirty="0">
                <a:solidFill>
                  <a:schemeClr val="tx2"/>
                </a:solidFill>
              </a:rPr>
              <a:t>Middle half of futures    </a:t>
            </a:r>
            <a:pPr indent="0" marL="0">
              <a:buNone/>
            </a:pPr>
            <a:r>
              <a:rPr lang="en-US" sz="1050" b="1" dirty="0">
                <a:solidFill>
                  <a:srgbClr val="5AA0F0"/>
                </a:solidFill>
              </a:rPr>
              <a:t>┅ </a:t>
            </a:r>
            <a:pPr indent="0" marL="0">
              <a:buNone/>
            </a:pPr>
            <a:r>
              <a:rPr lang="en-US" sz="1050" dirty="0">
                <a:solidFill>
                  <a:schemeClr val="tx2"/>
                </a:solidFill>
              </a:rPr>
              <a:t>8 in 10 futures    </a:t>
            </a:r>
            <a:pPr indent="0" marL="0">
              <a:buNone/>
            </a:pPr>
            <a:r>
              <a:rPr lang="en-US" sz="1050" b="1" dirty="0">
                <a:solidFill>
                  <a:srgbClr val="F2B33D"/>
                </a:solidFill>
              </a:rPr>
              <a:t>Median break-even: Oct 2027</a:t>
            </a:r>
            <a:endParaRPr lang="en-US" sz="1050" dirty="0"/>
          </a:p>
        </p:txBody>
      </p:sp>
      <p:sp>
        <p:nvSpPr>
          <p:cNvPr id="10" name="Result"/>
          <p:cNvSpPr txBox="1"/>
          <p:nvPr/>
        </p:nvSpPr>
        <p:spPr>
          <a:xfrm>
            <a:off x="8366760" y="1828800"/>
            <a:ext cx="3246120" cy="384048"/>
          </a:xfrm>
          <a:prstGeom prst="rect">
            <a:avLst/>
          </a:prstGeom>
          <a:noFill/>
          <a:ln/>
        </p:spPr>
        <p:txBody>
          <a:bodyPr wrap="square" lIns="0" tIns="0" rIns="0" bIns="0" rtlCol="0" anchor="t"/>
          <a:lstStyle/>
          <a:p>
            <a:pPr indent="0" marL="0">
              <a:buNone/>
            </a:pPr>
            <a:r>
              <a:rPr lang="en-US" sz="2800" b="1" dirty="0">
                <a:solidFill>
                  <a:srgbClr val="7FD38F"/>
                </a:solidFill>
              </a:rPr>
              <a:t>98%</a:t>
            </a:r>
            <a:endParaRPr lang="en-US" sz="2800" dirty="0"/>
          </a:p>
        </p:txBody>
      </p:sp>
      <p:sp>
        <p:nvSpPr>
          <p:cNvPr id="11" name="Result label"/>
          <p:cNvSpPr txBox="1"/>
          <p:nvPr/>
        </p:nvSpPr>
        <p:spPr>
          <a:xfrm>
            <a:off x="8366760" y="2212848"/>
            <a:ext cx="3246120" cy="365760"/>
          </a:xfrm>
          <a:prstGeom prst="rect">
            <a:avLst/>
          </a:prstGeom>
          <a:noFill/>
          <a:ln/>
        </p:spPr>
        <p:txBody>
          <a:bodyPr wrap="square" lIns="0" tIns="0" rIns="0" bIns="0" rtlCol="0" anchor="t"/>
          <a:lstStyle/>
          <a:p>
            <a:pPr indent="0" marL="0">
              <a:buNone/>
            </a:pPr>
            <a:r>
              <a:rPr lang="en-US" sz="1050" dirty="0">
                <a:solidFill>
                  <a:schemeClr val="tx2"/>
                </a:solidFill>
              </a:rPr>
              <a:t>of futures break even within 18 months</a:t>
            </a:r>
            <a:endParaRPr lang="en-US" sz="1050" dirty="0"/>
          </a:p>
        </p:txBody>
      </p:sp>
      <p:sp>
        <p:nvSpPr>
          <p:cNvPr id="12" name="Rule"/>
          <p:cNvSpPr/>
          <p:nvPr/>
        </p:nvSpPr>
        <p:spPr>
          <a:xfrm>
            <a:off x="8366760" y="2551176"/>
            <a:ext cx="3246120" cy="0"/>
          </a:xfrm>
          <a:prstGeom prst="line">
            <a:avLst/>
          </a:prstGeom>
          <a:noFill/>
          <a:ln w="9525">
            <a:solidFill>
              <a:srgbClr val="1C2333"/>
            </a:solidFill>
            <a:prstDash val="solid"/>
          </a:ln>
        </p:spPr>
        <p:txBody>
          <a:bodyPr/>
          <a:p/>
        </p:txBody>
      </p:sp>
      <p:sp>
        <p:nvSpPr>
          <p:cNvPr id="13" name="Result"/>
          <p:cNvSpPr txBox="1"/>
          <p:nvPr/>
        </p:nvSpPr>
        <p:spPr>
          <a:xfrm>
            <a:off x="8366760" y="2615184"/>
            <a:ext cx="3246120" cy="384048"/>
          </a:xfrm>
          <a:prstGeom prst="rect">
            <a:avLst/>
          </a:prstGeom>
          <a:noFill/>
          <a:ln/>
        </p:spPr>
        <p:txBody>
          <a:bodyPr wrap="square" lIns="0" tIns="0" rIns="0" bIns="0" rtlCol="0" anchor="t"/>
          <a:lstStyle/>
          <a:p>
            <a:pPr indent="0" marL="0">
              <a:buNone/>
            </a:pPr>
            <a:r>
              <a:rPr lang="en-US" sz="2200" b="1" dirty="0">
                <a:solidFill>
                  <a:srgbClr val="EEF2F8"/>
                </a:solidFill>
              </a:rPr>
              <a:t>RM 152k</a:t>
            </a:r>
            <a:endParaRPr lang="en-US" sz="2200" dirty="0"/>
          </a:p>
        </p:txBody>
      </p:sp>
      <p:sp>
        <p:nvSpPr>
          <p:cNvPr id="14" name="Result label"/>
          <p:cNvSpPr txBox="1"/>
          <p:nvPr/>
        </p:nvSpPr>
        <p:spPr>
          <a:xfrm>
            <a:off x="8366760" y="2999232"/>
            <a:ext cx="3246120" cy="365760"/>
          </a:xfrm>
          <a:prstGeom prst="rect">
            <a:avLst/>
          </a:prstGeom>
          <a:noFill/>
          <a:ln/>
        </p:spPr>
        <p:txBody>
          <a:bodyPr wrap="square" lIns="0" tIns="0" rIns="0" bIns="0" rtlCol="0" anchor="t"/>
          <a:lstStyle/>
          <a:p>
            <a:pPr indent="0" marL="0">
              <a:buNone/>
            </a:pPr>
            <a:r>
              <a:rPr lang="en-US" sz="1050" dirty="0">
                <a:solidFill>
                  <a:schemeClr val="tx2"/>
                </a:solidFill>
              </a:rPr>
              <a:t>funding needed to get there (1 in 10 futures: RM 244k)</a:t>
            </a:r>
            <a:endParaRPr lang="en-US" sz="1050" dirty="0"/>
          </a:p>
        </p:txBody>
      </p:sp>
      <p:sp>
        <p:nvSpPr>
          <p:cNvPr id="15" name="Rule"/>
          <p:cNvSpPr/>
          <p:nvPr/>
        </p:nvSpPr>
        <p:spPr>
          <a:xfrm>
            <a:off x="8366760" y="3337560"/>
            <a:ext cx="3246120" cy="0"/>
          </a:xfrm>
          <a:prstGeom prst="line">
            <a:avLst/>
          </a:prstGeom>
          <a:noFill/>
          <a:ln w="9525">
            <a:solidFill>
              <a:srgbClr val="1C2333"/>
            </a:solidFill>
            <a:prstDash val="solid"/>
          </a:ln>
        </p:spPr>
        <p:txBody>
          <a:bodyPr/>
          <a:p/>
        </p:txBody>
      </p:sp>
      <p:sp>
        <p:nvSpPr>
          <p:cNvPr id="16" name="Result"/>
          <p:cNvSpPr txBox="1"/>
          <p:nvPr/>
        </p:nvSpPr>
        <p:spPr>
          <a:xfrm>
            <a:off x="8366760" y="3401568"/>
            <a:ext cx="3246120" cy="384048"/>
          </a:xfrm>
          <a:prstGeom prst="rect">
            <a:avLst/>
          </a:prstGeom>
          <a:noFill/>
          <a:ln/>
        </p:spPr>
        <p:txBody>
          <a:bodyPr wrap="square" lIns="0" tIns="0" rIns="0" bIns="0" rtlCol="0" anchor="t"/>
          <a:lstStyle/>
          <a:p>
            <a:pPr indent="0" marL="0">
              <a:buNone/>
            </a:pPr>
            <a:r>
              <a:rPr lang="en-US" sz="2200" b="1" dirty="0">
                <a:solidFill>
                  <a:srgbClr val="EEF2F8"/>
                </a:solidFill>
              </a:rPr>
              <a:t>RM 1.9M</a:t>
            </a:r>
            <a:endParaRPr lang="en-US" sz="2200" dirty="0"/>
          </a:p>
        </p:txBody>
      </p:sp>
      <p:sp>
        <p:nvSpPr>
          <p:cNvPr id="17" name="Result label"/>
          <p:cNvSpPr txBox="1"/>
          <p:nvPr/>
        </p:nvSpPr>
        <p:spPr>
          <a:xfrm>
            <a:off x="8366760" y="3785616"/>
            <a:ext cx="3246120" cy="365760"/>
          </a:xfrm>
          <a:prstGeom prst="rect">
            <a:avLst/>
          </a:prstGeom>
          <a:noFill/>
          <a:ln/>
        </p:spPr>
        <p:txBody>
          <a:bodyPr wrap="square" lIns="0" tIns="0" rIns="0" bIns="0" rtlCol="0" anchor="t"/>
          <a:lstStyle/>
          <a:p>
            <a:pPr indent="0" marL="0">
              <a:buNone/>
            </a:pPr>
            <a:r>
              <a:rPr lang="en-US" sz="1050" dirty="0">
                <a:solidFill>
                  <a:schemeClr val="tx2"/>
                </a:solidFill>
              </a:rPr>
              <a:t>yearly revenue by end of 2029 (80% range RM 1.0M–3.2M)</a:t>
            </a:r>
            <a:endParaRPr lang="en-US" sz="1050" dirty="0"/>
          </a:p>
        </p:txBody>
      </p:sp>
      <p:sp>
        <p:nvSpPr>
          <p:cNvPr id="18" name="Rule"/>
          <p:cNvSpPr/>
          <p:nvPr/>
        </p:nvSpPr>
        <p:spPr>
          <a:xfrm>
            <a:off x="8366760" y="4123944"/>
            <a:ext cx="3246120" cy="0"/>
          </a:xfrm>
          <a:prstGeom prst="line">
            <a:avLst/>
          </a:prstGeom>
          <a:noFill/>
          <a:ln w="9525">
            <a:solidFill>
              <a:srgbClr val="1C2333"/>
            </a:solidFill>
            <a:prstDash val="solid"/>
          </a:ln>
        </p:spPr>
        <p:txBody>
          <a:bodyPr/>
          <a:p/>
        </p:txBody>
      </p:sp>
      <p:sp>
        <p:nvSpPr>
          <p:cNvPr id="19" name="Result"/>
          <p:cNvSpPr txBox="1"/>
          <p:nvPr/>
        </p:nvSpPr>
        <p:spPr>
          <a:xfrm>
            <a:off x="8366760" y="4187952"/>
            <a:ext cx="3246120" cy="384048"/>
          </a:xfrm>
          <a:prstGeom prst="rect">
            <a:avLst/>
          </a:prstGeom>
          <a:noFill/>
          <a:ln/>
        </p:spPr>
        <p:txBody>
          <a:bodyPr wrap="square" lIns="0" tIns="0" rIns="0" bIns="0" rtlCol="0" anchor="t"/>
          <a:lstStyle/>
          <a:p>
            <a:pPr indent="0" marL="0">
              <a:buNone/>
            </a:pPr>
            <a:r>
              <a:rPr lang="en-US" sz="2200" b="1" dirty="0">
                <a:solidFill>
                  <a:srgbClr val="EEF2F8"/>
                </a:solidFill>
              </a:rPr>
              <a:t>7,358</a:t>
            </a:r>
            <a:endParaRPr lang="en-US" sz="2200" dirty="0"/>
          </a:p>
        </p:txBody>
      </p:sp>
      <p:sp>
        <p:nvSpPr>
          <p:cNvPr id="20" name="Result label"/>
          <p:cNvSpPr txBox="1"/>
          <p:nvPr/>
        </p:nvSpPr>
        <p:spPr>
          <a:xfrm>
            <a:off x="8366760" y="4572000"/>
            <a:ext cx="3246120" cy="365760"/>
          </a:xfrm>
          <a:prstGeom prst="rect">
            <a:avLst/>
          </a:prstGeom>
          <a:noFill/>
          <a:ln/>
        </p:spPr>
        <p:txBody>
          <a:bodyPr wrap="square" lIns="0" tIns="0" rIns="0" bIns="0" rtlCol="0" anchor="t"/>
          <a:lstStyle/>
          <a:p>
            <a:pPr indent="0" marL="0">
              <a:buNone/>
            </a:pPr>
            <a:r>
              <a:rPr lang="en-US" sz="1050" dirty="0">
                <a:solidFill>
                  <a:schemeClr val="tx2"/>
                </a:solidFill>
              </a:rPr>
              <a:t>seats by end of 2029; our 10,000 target is a stretch, reached in 1 of 4 futures</a:t>
            </a:r>
            <a:endParaRPr lang="en-US" sz="1050" dirty="0"/>
          </a:p>
        </p:txBody>
      </p:sp>
      <p:sp>
        <p:nvSpPr>
          <p:cNvPr id="21" name="Tornado label"/>
          <p:cNvSpPr txBox="1"/>
          <p:nvPr/>
        </p:nvSpPr>
        <p:spPr>
          <a:xfrm>
            <a:off x="2743200" y="5166360"/>
            <a:ext cx="5486400" cy="228600"/>
          </a:xfrm>
          <a:prstGeom prst="rect">
            <a:avLst/>
          </a:prstGeom>
          <a:noFill/>
          <a:ln/>
        </p:spPr>
        <p:txBody>
          <a:bodyPr wrap="square" lIns="0" tIns="0" rIns="0" bIns="0" rtlCol="0" anchor="t"/>
          <a:lstStyle/>
          <a:p>
            <a:pPr indent="0" marL="0">
              <a:buNone/>
            </a:pPr>
            <a:r>
              <a:rPr lang="en-US" sz="1000" b="1" spc="100" kern="0" dirty="0">
                <a:solidFill>
                  <a:schemeClr val="bg2"/>
                </a:solidFill>
              </a:rPr>
              <a:t>WHAT MOVES YEAR-THREE PROFIT MOST</a:t>
            </a:r>
            <a:endParaRPr lang="en-US" sz="1000" dirty="0"/>
          </a:p>
        </p:txBody>
      </p:sp>
      <p:sp>
        <p:nvSpPr>
          <p:cNvPr id="22" name="Driver"/>
          <p:cNvSpPr txBox="1"/>
          <p:nvPr/>
        </p:nvSpPr>
        <p:spPr>
          <a:xfrm>
            <a:off x="274320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Staff per employer</a:t>
            </a:r>
            <a:endParaRPr lang="en-US" sz="1100" dirty="0"/>
          </a:p>
        </p:txBody>
      </p:sp>
      <p:sp>
        <p:nvSpPr>
          <p:cNvPr id="23" name="Track"/>
          <p:cNvSpPr/>
          <p:nvPr/>
        </p:nvSpPr>
        <p:spPr>
          <a:xfrm>
            <a:off x="2743200" y="5733288"/>
            <a:ext cx="2057400" cy="73152"/>
          </a:xfrm>
          <a:prstGeom prst="roundRect">
            <a:avLst>
              <a:gd name="adj" fmla="val 50000"/>
            </a:avLst>
          </a:prstGeom>
          <a:solidFill>
            <a:srgbClr val="1F2738"/>
          </a:solidFill>
          <a:ln/>
        </p:spPr>
        <p:txBody>
          <a:bodyPr/>
          <a:p/>
        </p:txBody>
      </p:sp>
      <p:sp>
        <p:nvSpPr>
          <p:cNvPr id="24" name="Swing bar"/>
          <p:cNvSpPr/>
          <p:nvPr/>
        </p:nvSpPr>
        <p:spPr>
          <a:xfrm>
            <a:off x="2743200" y="5733288"/>
            <a:ext cx="2057400" cy="73152"/>
          </a:xfrm>
          <a:prstGeom prst="roundRect">
            <a:avLst>
              <a:gd name="adj" fmla="val 50000"/>
            </a:avLst>
          </a:prstGeom>
          <a:solidFill>
            <a:srgbClr val="FF7A3D"/>
          </a:solidFill>
          <a:ln/>
        </p:spPr>
        <p:txBody>
          <a:bodyPr/>
          <a:p/>
        </p:txBody>
      </p:sp>
      <p:sp>
        <p:nvSpPr>
          <p:cNvPr id="25" name="Swing"/>
          <p:cNvSpPr txBox="1"/>
          <p:nvPr/>
        </p:nvSpPr>
        <p:spPr>
          <a:xfrm>
            <a:off x="274320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2.1M swing</a:t>
            </a:r>
            <a:endParaRPr lang="en-US" sz="1100" dirty="0"/>
          </a:p>
        </p:txBody>
      </p:sp>
      <p:sp>
        <p:nvSpPr>
          <p:cNvPr id="26" name="Driver"/>
          <p:cNvSpPr txBox="1"/>
          <p:nvPr/>
        </p:nvSpPr>
        <p:spPr>
          <a:xfrm>
            <a:off x="498348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Employers signed a month</a:t>
            </a:r>
            <a:endParaRPr lang="en-US" sz="1100" dirty="0"/>
          </a:p>
        </p:txBody>
      </p:sp>
      <p:sp>
        <p:nvSpPr>
          <p:cNvPr id="27" name="Track"/>
          <p:cNvSpPr/>
          <p:nvPr/>
        </p:nvSpPr>
        <p:spPr>
          <a:xfrm>
            <a:off x="4983480" y="5733288"/>
            <a:ext cx="2057400" cy="73152"/>
          </a:xfrm>
          <a:prstGeom prst="roundRect">
            <a:avLst>
              <a:gd name="adj" fmla="val 50000"/>
            </a:avLst>
          </a:prstGeom>
          <a:solidFill>
            <a:srgbClr val="1F2738"/>
          </a:solidFill>
          <a:ln/>
        </p:spPr>
        <p:txBody>
          <a:bodyPr/>
          <a:p/>
        </p:txBody>
      </p:sp>
      <p:sp>
        <p:nvSpPr>
          <p:cNvPr id="28" name="Swing bar"/>
          <p:cNvSpPr/>
          <p:nvPr/>
        </p:nvSpPr>
        <p:spPr>
          <a:xfrm>
            <a:off x="4983480" y="5733288"/>
            <a:ext cx="1540083" cy="73152"/>
          </a:xfrm>
          <a:prstGeom prst="roundRect">
            <a:avLst>
              <a:gd name="adj" fmla="val 50000"/>
            </a:avLst>
          </a:prstGeom>
          <a:solidFill>
            <a:srgbClr val="FF7A3D"/>
          </a:solidFill>
          <a:ln/>
        </p:spPr>
        <p:txBody>
          <a:bodyPr/>
          <a:p/>
        </p:txBody>
      </p:sp>
      <p:sp>
        <p:nvSpPr>
          <p:cNvPr id="29" name="Swing"/>
          <p:cNvSpPr txBox="1"/>
          <p:nvPr/>
        </p:nvSpPr>
        <p:spPr>
          <a:xfrm>
            <a:off x="498348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1.6M swing</a:t>
            </a:r>
            <a:endParaRPr lang="en-US" sz="1100" dirty="0"/>
          </a:p>
        </p:txBody>
      </p:sp>
      <p:sp>
        <p:nvSpPr>
          <p:cNvPr id="30" name="Driver"/>
          <p:cNvSpPr txBox="1"/>
          <p:nvPr/>
        </p:nvSpPr>
        <p:spPr>
          <a:xfrm>
            <a:off x="722376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Price we actually charge</a:t>
            </a:r>
            <a:endParaRPr lang="en-US" sz="1100" dirty="0"/>
          </a:p>
        </p:txBody>
      </p:sp>
      <p:sp>
        <p:nvSpPr>
          <p:cNvPr id="31" name="Track"/>
          <p:cNvSpPr/>
          <p:nvPr/>
        </p:nvSpPr>
        <p:spPr>
          <a:xfrm>
            <a:off x="7223760" y="5733288"/>
            <a:ext cx="2057400" cy="73152"/>
          </a:xfrm>
          <a:prstGeom prst="roundRect">
            <a:avLst>
              <a:gd name="adj" fmla="val 50000"/>
            </a:avLst>
          </a:prstGeom>
          <a:solidFill>
            <a:srgbClr val="1F2738"/>
          </a:solidFill>
          <a:ln/>
        </p:spPr>
        <p:txBody>
          <a:bodyPr/>
          <a:p/>
        </p:txBody>
      </p:sp>
      <p:sp>
        <p:nvSpPr>
          <p:cNvPr id="32" name="Swing bar"/>
          <p:cNvSpPr/>
          <p:nvPr/>
        </p:nvSpPr>
        <p:spPr>
          <a:xfrm>
            <a:off x="7223760" y="5733288"/>
            <a:ext cx="546002" cy="73152"/>
          </a:xfrm>
          <a:prstGeom prst="roundRect">
            <a:avLst>
              <a:gd name="adj" fmla="val 50000"/>
            </a:avLst>
          </a:prstGeom>
          <a:solidFill>
            <a:srgbClr val="FF7A3D"/>
          </a:solidFill>
          <a:ln/>
        </p:spPr>
        <p:txBody>
          <a:bodyPr/>
          <a:p/>
        </p:txBody>
      </p:sp>
      <p:sp>
        <p:nvSpPr>
          <p:cNvPr id="33" name="Swing"/>
          <p:cNvSpPr txBox="1"/>
          <p:nvPr/>
        </p:nvSpPr>
        <p:spPr>
          <a:xfrm>
            <a:off x="722376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552k swing</a:t>
            </a:r>
            <a:endParaRPr lang="en-US" sz="1100" dirty="0"/>
          </a:p>
        </p:txBody>
      </p:sp>
      <p:sp>
        <p:nvSpPr>
          <p:cNvPr id="34" name="Driver"/>
          <p:cNvSpPr txBox="1"/>
          <p:nvPr/>
        </p:nvSpPr>
        <p:spPr>
          <a:xfrm>
            <a:off x="946404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Employers who leave</a:t>
            </a:r>
            <a:endParaRPr lang="en-US" sz="1100" dirty="0"/>
          </a:p>
        </p:txBody>
      </p:sp>
      <p:sp>
        <p:nvSpPr>
          <p:cNvPr id="35" name="Track"/>
          <p:cNvSpPr/>
          <p:nvPr/>
        </p:nvSpPr>
        <p:spPr>
          <a:xfrm>
            <a:off x="9464040" y="5733288"/>
            <a:ext cx="2057400" cy="73152"/>
          </a:xfrm>
          <a:prstGeom prst="roundRect">
            <a:avLst>
              <a:gd name="adj" fmla="val 50000"/>
            </a:avLst>
          </a:prstGeom>
          <a:solidFill>
            <a:srgbClr val="1F2738"/>
          </a:solidFill>
          <a:ln/>
        </p:spPr>
        <p:txBody>
          <a:bodyPr/>
          <a:p/>
        </p:txBody>
      </p:sp>
      <p:sp>
        <p:nvSpPr>
          <p:cNvPr id="36" name="Swing bar"/>
          <p:cNvSpPr/>
          <p:nvPr/>
        </p:nvSpPr>
        <p:spPr>
          <a:xfrm>
            <a:off x="9464040" y="5733288"/>
            <a:ext cx="455002" cy="73152"/>
          </a:xfrm>
          <a:prstGeom prst="roundRect">
            <a:avLst>
              <a:gd name="adj" fmla="val 50000"/>
            </a:avLst>
          </a:prstGeom>
          <a:solidFill>
            <a:srgbClr val="FF7A3D"/>
          </a:solidFill>
          <a:ln/>
        </p:spPr>
        <p:txBody>
          <a:bodyPr/>
          <a:p/>
        </p:txBody>
      </p:sp>
      <p:sp>
        <p:nvSpPr>
          <p:cNvPr id="37" name="Swing"/>
          <p:cNvSpPr txBox="1"/>
          <p:nvPr/>
        </p:nvSpPr>
        <p:spPr>
          <a:xfrm>
            <a:off x="946404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460k swing</a:t>
            </a:r>
            <a:endParaRPr lang="en-US" sz="1100" dirty="0"/>
          </a:p>
        </p:txBody>
      </p:sp>
      <p:sp>
        <p:nvSpPr>
          <p:cNvPr id="38" name="Inputs"/>
          <p:cNvSpPr txBox="1"/>
          <p:nvPr/>
        </p:nvSpPr>
        <p:spPr>
          <a:xfrm>
            <a:off x="2743200" y="6144768"/>
            <a:ext cx="8897112" cy="411480"/>
          </a:xfrm>
          <a:prstGeom prst="rect">
            <a:avLst/>
          </a:prstGeom>
          <a:noFill/>
          <a:ln/>
        </p:spPr>
        <p:txBody>
          <a:bodyPr wrap="square" lIns="0" tIns="0" rIns="0" bIns="0" rtlCol="0" anchor="t"/>
          <a:lstStyle/>
          <a:p>
            <a:pPr indent="0" marL="0">
              <a:buNone/>
            </a:pPr>
            <a:r>
              <a:rPr lang="en-US" sz="950" dirty="0">
                <a:solidFill>
                  <a:schemeClr val="bg2"/>
                </a:solidFill>
              </a:rPr>
              <a:t>Inputs: RM 25 a seat a month, RM 0.50 to serve, RM 24,452 fixed a month; 1 to 4 pilot employers at 30–80% of price; 0.25–0.9 new employers a month of 200–900 staff; 0.5–3% monthly churn; team grows to 5 past 5,000 seats. Seeded, 10,000 runs.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A2</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A2</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how well it works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Three tests that could have embarrassed us.</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We ran them anyway, and we show the results as they came out.</a:t>
            </a:r>
            <a:endParaRPr lang="en-US" sz="1400" dirty="0"/>
          </a:p>
        </p:txBody>
      </p:sp>
      <p:sp>
        <p:nvSpPr>
          <p:cNvPr id="7" name="Card: Fairness test"/>
          <p:cNvSpPr/>
          <p:nvPr/>
        </p:nvSpPr>
        <p:spPr>
          <a:xfrm>
            <a:off x="2743200" y="1920240"/>
            <a:ext cx="2816352" cy="3108960"/>
          </a:xfrm>
          <a:prstGeom prst="roundRect">
            <a:avLst>
              <a:gd name="adj" fmla="val 3896"/>
            </a:avLst>
          </a:prstGeom>
          <a:solidFill>
            <a:srgbClr val="0C1220">
              <a:alpha val="80000"/>
            </a:srgbClr>
          </a:solidFill>
          <a:ln w="9525">
            <a:solidFill>
              <a:srgbClr val="2A3346"/>
            </a:solidFill>
            <a:prstDash val="solid"/>
          </a:ln>
        </p:spPr>
        <p:txBody>
          <a:bodyPr/>
          <a:p/>
        </p:txBody>
      </p:sp>
      <p:sp>
        <p:nvSpPr>
          <p:cNvPr id="8" name="Card number"/>
          <p:cNvSpPr txBox="1"/>
          <p:nvPr/>
        </p:nvSpPr>
        <p:spPr>
          <a:xfrm>
            <a:off x="2971800" y="2148840"/>
            <a:ext cx="914400" cy="274320"/>
          </a:xfrm>
          <a:prstGeom prst="rect">
            <a:avLst/>
          </a:prstGeom>
          <a:noFill/>
          <a:ln/>
        </p:spPr>
        <p:txBody>
          <a:bodyPr wrap="square" lIns="0" tIns="0" rIns="0" bIns="0" rtlCol="0" anchor="t"/>
          <a:lstStyle/>
          <a:p>
            <a:pPr indent="0" marL="0">
              <a:buNone/>
            </a:pPr>
            <a:r>
              <a:rPr lang="en-US" sz="1300" b="1" dirty="0">
                <a:solidFill>
                  <a:srgbClr val="2FD4A0"/>
                </a:solidFill>
              </a:rPr>
              <a:t>01</a:t>
            </a:r>
            <a:endParaRPr lang="en-US" sz="1300" dirty="0"/>
          </a:p>
        </p:txBody>
      </p:sp>
      <p:sp>
        <p:nvSpPr>
          <p:cNvPr id="9" name="Card title"/>
          <p:cNvSpPr txBox="1"/>
          <p:nvPr/>
        </p:nvSpPr>
        <p:spPr>
          <a:xfrm>
            <a:off x="297180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Fairness test</a:t>
            </a:r>
            <a:endParaRPr lang="en-US" sz="1500" dirty="0"/>
          </a:p>
        </p:txBody>
      </p:sp>
      <p:sp>
        <p:nvSpPr>
          <p:cNvPr id="10" name="Card text"/>
          <p:cNvSpPr txBox="1"/>
          <p:nvPr/>
        </p:nvSpPr>
        <p:spPr>
          <a:xfrm>
            <a:off x="297180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We gave the same CV six different names, genders, ages, races, religions and marital statuses. The AI received exactly the same text every time, so the skills, matches and routes came out the same.</a:t>
            </a:r>
            <a:endParaRPr lang="en-US" sz="1200" dirty="0"/>
          </a:p>
        </p:txBody>
      </p:sp>
      <p:sp>
        <p:nvSpPr>
          <p:cNvPr id="11" name="Card footer"/>
          <p:cNvSpPr txBox="1"/>
          <p:nvPr/>
        </p:nvSpPr>
        <p:spPr>
          <a:xfrm>
            <a:off x="2971800" y="4526280"/>
            <a:ext cx="2359152" cy="365760"/>
          </a:xfrm>
          <a:prstGeom prst="rect">
            <a:avLst/>
          </a:prstGeom>
          <a:noFill/>
          <a:ln/>
        </p:spPr>
        <p:txBody>
          <a:bodyPr wrap="square" lIns="0" tIns="0" rIns="0" bIns="0" rtlCol="0" anchor="t"/>
          <a:lstStyle/>
          <a:p>
            <a:pPr indent="0" marL="0">
              <a:buNone/>
            </a:pPr>
            <a:r>
              <a:rPr lang="en-US" sz="1050" dirty="0">
                <a:solidFill>
                  <a:srgbClr val="2FD4A0"/>
                </a:solidFill>
              </a:rPr>
              <a:t>tests/fairness.test.ts</a:t>
            </a:r>
            <a:endParaRPr lang="en-US" sz="1050" dirty="0"/>
          </a:p>
        </p:txBody>
      </p:sp>
      <p:sp>
        <p:nvSpPr>
          <p:cNvPr id="12" name="Card: Tamper test"/>
          <p:cNvSpPr/>
          <p:nvPr/>
        </p:nvSpPr>
        <p:spPr>
          <a:xfrm>
            <a:off x="5783580" y="1920240"/>
            <a:ext cx="2816352" cy="3108960"/>
          </a:xfrm>
          <a:prstGeom prst="roundRect">
            <a:avLst>
              <a:gd name="adj" fmla="val 3896"/>
            </a:avLst>
          </a:prstGeom>
          <a:solidFill>
            <a:srgbClr val="0C1220">
              <a:alpha val="80000"/>
            </a:srgbClr>
          </a:solidFill>
          <a:ln w="9525">
            <a:solidFill>
              <a:srgbClr val="2A3346"/>
            </a:solidFill>
            <a:prstDash val="solid"/>
          </a:ln>
        </p:spPr>
        <p:txBody>
          <a:bodyPr/>
          <a:p/>
        </p:txBody>
      </p:sp>
      <p:sp>
        <p:nvSpPr>
          <p:cNvPr id="13" name="Card number"/>
          <p:cNvSpPr txBox="1"/>
          <p:nvPr/>
        </p:nvSpPr>
        <p:spPr>
          <a:xfrm>
            <a:off x="6012180" y="2148840"/>
            <a:ext cx="914400" cy="274320"/>
          </a:xfrm>
          <a:prstGeom prst="rect">
            <a:avLst/>
          </a:prstGeom>
          <a:noFill/>
          <a:ln/>
        </p:spPr>
        <p:txBody>
          <a:bodyPr wrap="square" lIns="0" tIns="0" rIns="0" bIns="0" rtlCol="0" anchor="t"/>
          <a:lstStyle/>
          <a:p>
            <a:pPr indent="0" marL="0">
              <a:buNone/>
            </a:pPr>
            <a:r>
              <a:rPr lang="en-US" sz="1300" b="1" dirty="0">
                <a:solidFill>
                  <a:srgbClr val="5AA0F0"/>
                </a:solidFill>
              </a:rPr>
              <a:t>02</a:t>
            </a:r>
            <a:endParaRPr lang="en-US" sz="1300" dirty="0"/>
          </a:p>
        </p:txBody>
      </p:sp>
      <p:sp>
        <p:nvSpPr>
          <p:cNvPr id="14" name="Card title"/>
          <p:cNvSpPr txBox="1"/>
          <p:nvPr/>
        </p:nvSpPr>
        <p:spPr>
          <a:xfrm>
            <a:off x="601218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Tamper test</a:t>
            </a:r>
            <a:endParaRPr lang="en-US" sz="1500" dirty="0"/>
          </a:p>
        </p:txBody>
      </p:sp>
      <p:sp>
        <p:nvSpPr>
          <p:cNvPr id="15" name="Card text"/>
          <p:cNvSpPr txBox="1"/>
          <p:nvPr/>
        </p:nvSpPr>
        <p:spPr>
          <a:xfrm>
            <a:off x="601218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Text hidden in a web page cannot change what the AI reads from a CV, invent data, or skip our checks. Page text is treated as data, never as instructions.</a:t>
            </a:r>
            <a:endParaRPr lang="en-US" sz="1200" dirty="0"/>
          </a:p>
        </p:txBody>
      </p:sp>
      <p:sp>
        <p:nvSpPr>
          <p:cNvPr id="16" name="Card footer"/>
          <p:cNvSpPr txBox="1"/>
          <p:nvPr/>
        </p:nvSpPr>
        <p:spPr>
          <a:xfrm>
            <a:off x="6012180" y="4526280"/>
            <a:ext cx="2359152" cy="365760"/>
          </a:xfrm>
          <a:prstGeom prst="rect">
            <a:avLst/>
          </a:prstGeom>
          <a:noFill/>
          <a:ln/>
        </p:spPr>
        <p:txBody>
          <a:bodyPr wrap="square" lIns="0" tIns="0" rIns="0" bIns="0" rtlCol="0" anchor="t"/>
          <a:lstStyle/>
          <a:p>
            <a:pPr indent="0" marL="0">
              <a:buNone/>
            </a:pPr>
            <a:r>
              <a:rPr lang="en-US" sz="1050" dirty="0">
                <a:solidFill>
                  <a:srgbClr val="5AA0F0"/>
                </a:solidFill>
              </a:rPr>
              <a:t>tests/injection.test.ts</a:t>
            </a:r>
            <a:endParaRPr lang="en-US" sz="1050" dirty="0"/>
          </a:p>
        </p:txBody>
      </p:sp>
      <p:sp>
        <p:nvSpPr>
          <p:cNvPr id="17" name="Card: Live run, 23 Oct 2026"/>
          <p:cNvSpPr/>
          <p:nvPr/>
        </p:nvSpPr>
        <p:spPr>
          <a:xfrm>
            <a:off x="8823960" y="1920240"/>
            <a:ext cx="2816352" cy="3108960"/>
          </a:xfrm>
          <a:prstGeom prst="roundRect">
            <a:avLst>
              <a:gd name="adj" fmla="val 3896"/>
            </a:avLst>
          </a:prstGeom>
          <a:solidFill>
            <a:srgbClr val="0C1220">
              <a:alpha val="80000"/>
            </a:srgbClr>
          </a:solidFill>
          <a:ln w="9525">
            <a:solidFill>
              <a:srgbClr val="2A3346"/>
            </a:solidFill>
            <a:prstDash val="solid"/>
          </a:ln>
        </p:spPr>
        <p:txBody>
          <a:bodyPr/>
          <a:p/>
        </p:txBody>
      </p:sp>
      <p:sp>
        <p:nvSpPr>
          <p:cNvPr id="18" name="Card number"/>
          <p:cNvSpPr txBox="1"/>
          <p:nvPr/>
        </p:nvSpPr>
        <p:spPr>
          <a:xfrm>
            <a:off x="9052560" y="2148840"/>
            <a:ext cx="914400" cy="274320"/>
          </a:xfrm>
          <a:prstGeom prst="rect">
            <a:avLst/>
          </a:prstGeom>
          <a:noFill/>
          <a:ln/>
        </p:spPr>
        <p:txBody>
          <a:bodyPr wrap="square" lIns="0" tIns="0" rIns="0" bIns="0" rtlCol="0" anchor="t"/>
          <a:lstStyle/>
          <a:p>
            <a:pPr indent="0" marL="0">
              <a:buNone/>
            </a:pPr>
            <a:r>
              <a:rPr lang="en-US" sz="1300" b="1" dirty="0">
                <a:solidFill>
                  <a:srgbClr val="FF7A3D"/>
                </a:solidFill>
              </a:rPr>
              <a:t>03</a:t>
            </a:r>
            <a:endParaRPr lang="en-US" sz="1300" dirty="0"/>
          </a:p>
        </p:txBody>
      </p:sp>
      <p:sp>
        <p:nvSpPr>
          <p:cNvPr id="19" name="Card title"/>
          <p:cNvSpPr txBox="1"/>
          <p:nvPr/>
        </p:nvSpPr>
        <p:spPr>
          <a:xfrm>
            <a:off x="905256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Live run, 23 Oct 2026</a:t>
            </a:r>
            <a:endParaRPr lang="en-US" sz="1500" dirty="0"/>
          </a:p>
        </p:txBody>
      </p:sp>
      <p:sp>
        <p:nvSpPr>
          <p:cNvPr id="20" name="Card text"/>
          <p:cNvSpPr txBox="1"/>
          <p:nvPr/>
        </p:nvSpPr>
        <p:spPr>
          <a:xfrm>
            <a:off x="905256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Our agents read 769 articles in 5.5 minutes and sent 7 findings to a person. Every change is saved as a version and can be undone.</a:t>
            </a:r>
            <a:endParaRPr lang="en-US" sz="1200" dirty="0"/>
          </a:p>
        </p:txBody>
      </p:sp>
      <p:sp>
        <p:nvSpPr>
          <p:cNvPr id="21" name="Card footer"/>
          <p:cNvSpPr txBox="1"/>
          <p:nvPr/>
        </p:nvSpPr>
        <p:spPr>
          <a:xfrm>
            <a:off x="9052560" y="4526280"/>
            <a:ext cx="2359152" cy="365760"/>
          </a:xfrm>
          <a:prstGeom prst="rect">
            <a:avLst/>
          </a:prstGeom>
          <a:noFill/>
          <a:ln/>
        </p:spPr>
        <p:txBody>
          <a:bodyPr wrap="square" lIns="0" tIns="0" rIns="0" bIns="0" rtlCol="0" anchor="t"/>
          <a:lstStyle/>
          <a:p>
            <a:pPr indent="0" marL="0">
              <a:buNone/>
            </a:pPr>
            <a:r>
              <a:rPr lang="en-US" sz="1050" dirty="0">
                <a:solidFill>
                  <a:srgbClr val="FF7A3D"/>
                </a:solidFill>
              </a:rPr>
              <a:t>Measured on the live server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A3</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A3</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judges, try to break it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Change the data. Check a course. Ask why.</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Three things you can test in the app right now, and what you will see.</a:t>
            </a:r>
            <a:endParaRPr lang="en-US" sz="1400" dirty="0"/>
          </a:p>
        </p:txBody>
      </p:sp>
      <p:sp>
        <p:nvSpPr>
          <p:cNvPr id="7" name="Card: Change the trend data now"/>
          <p:cNvSpPr/>
          <p:nvPr/>
        </p:nvSpPr>
        <p:spPr>
          <a:xfrm>
            <a:off x="2743200" y="1920240"/>
            <a:ext cx="2816352" cy="3657600"/>
          </a:xfrm>
          <a:prstGeom prst="roundRect">
            <a:avLst>
              <a:gd name="adj" fmla="val 3896"/>
            </a:avLst>
          </a:prstGeom>
          <a:solidFill>
            <a:srgbClr val="0C1220">
              <a:alpha val="80000"/>
            </a:srgbClr>
          </a:solidFill>
          <a:ln w="9525">
            <a:solidFill>
              <a:srgbClr val="2A3346"/>
            </a:solidFill>
            <a:prstDash val="solid"/>
          </a:ln>
        </p:spPr>
        <p:txBody>
          <a:bodyPr/>
          <a:p/>
        </p:txBody>
      </p:sp>
      <p:sp>
        <p:nvSpPr>
          <p:cNvPr id="8" name="Card number"/>
          <p:cNvSpPr txBox="1"/>
          <p:nvPr/>
        </p:nvSpPr>
        <p:spPr>
          <a:xfrm>
            <a:off x="2971800" y="2148840"/>
            <a:ext cx="914400" cy="274320"/>
          </a:xfrm>
          <a:prstGeom prst="rect">
            <a:avLst/>
          </a:prstGeom>
          <a:noFill/>
          <a:ln/>
        </p:spPr>
        <p:txBody>
          <a:bodyPr wrap="square" lIns="0" tIns="0" rIns="0" bIns="0" rtlCol="0" anchor="t"/>
          <a:lstStyle/>
          <a:p>
            <a:pPr indent="0" marL="0">
              <a:buNone/>
            </a:pPr>
            <a:r>
              <a:rPr lang="en-US" sz="1300" b="1" dirty="0">
                <a:solidFill>
                  <a:srgbClr val="5AA0F0"/>
                </a:solidFill>
              </a:rPr>
              <a:t>01</a:t>
            </a:r>
            <a:endParaRPr lang="en-US" sz="1300" dirty="0"/>
          </a:p>
        </p:txBody>
      </p:sp>
      <p:sp>
        <p:nvSpPr>
          <p:cNvPr id="9" name="Card title"/>
          <p:cNvSpPr txBox="1"/>
          <p:nvPr/>
        </p:nvSpPr>
        <p:spPr>
          <a:xfrm>
            <a:off x="297180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Change the trend data now</a:t>
            </a:r>
            <a:endParaRPr lang="en-US" sz="1500" dirty="0"/>
          </a:p>
        </p:txBody>
      </p:sp>
      <p:sp>
        <p:nvSpPr>
          <p:cNvPr id="10" name="Card text"/>
          <p:cNvSpPr txBox="1"/>
          <p:nvPr/>
        </p:nvSpPr>
        <p:spPr>
          <a:xfrm>
            <a:off x="297180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Open the agents panel and watch three agents vote on a news finding. The knowledge base moves from version 1 to version 2, every plan is re-scored, and the route visibly changes on the map, with the source attached. Undo puts it back.</a:t>
            </a:r>
            <a:endParaRPr lang="en-US" sz="1200" dirty="0"/>
          </a:p>
        </p:txBody>
      </p:sp>
      <p:sp>
        <p:nvSpPr>
          <p:cNvPr id="11" name="Card footer"/>
          <p:cNvSpPr txBox="1"/>
          <p:nvPr/>
        </p:nvSpPr>
        <p:spPr>
          <a:xfrm>
            <a:off x="2971800" y="5074920"/>
            <a:ext cx="2359152" cy="365760"/>
          </a:xfrm>
          <a:prstGeom prst="rect">
            <a:avLst/>
          </a:prstGeom>
          <a:noFill/>
          <a:ln/>
        </p:spPr>
        <p:txBody>
          <a:bodyPr wrap="square" lIns="0" tIns="0" rIns="0" bIns="0" rtlCol="0" anchor="t"/>
          <a:lstStyle/>
          <a:p>
            <a:pPr indent="0" marL="0">
              <a:buNone/>
            </a:pPr>
            <a:r>
              <a:rPr lang="en-US" sz="1050" dirty="0">
                <a:solidFill>
                  <a:srgbClr val="5AA0F0"/>
                </a:solidFill>
              </a:rPr>
              <a:t>In rehearsal, the route changed in 0.1 seconds</a:t>
            </a:r>
            <a:endParaRPr lang="en-US" sz="1050" dirty="0"/>
          </a:p>
        </p:txBody>
      </p:sp>
      <p:sp>
        <p:nvSpPr>
          <p:cNvPr id="12" name="Card: Is this course real?"/>
          <p:cNvSpPr/>
          <p:nvPr/>
        </p:nvSpPr>
        <p:spPr>
          <a:xfrm>
            <a:off x="5783580" y="1920240"/>
            <a:ext cx="2816352" cy="3657600"/>
          </a:xfrm>
          <a:prstGeom prst="roundRect">
            <a:avLst>
              <a:gd name="adj" fmla="val 3896"/>
            </a:avLst>
          </a:prstGeom>
          <a:solidFill>
            <a:srgbClr val="0C1220">
              <a:alpha val="80000"/>
            </a:srgbClr>
          </a:solidFill>
          <a:ln w="9525">
            <a:solidFill>
              <a:srgbClr val="2A3346"/>
            </a:solidFill>
            <a:prstDash val="solid"/>
          </a:ln>
        </p:spPr>
        <p:txBody>
          <a:bodyPr/>
          <a:p/>
        </p:txBody>
      </p:sp>
      <p:sp>
        <p:nvSpPr>
          <p:cNvPr id="13" name="Card number"/>
          <p:cNvSpPr txBox="1"/>
          <p:nvPr/>
        </p:nvSpPr>
        <p:spPr>
          <a:xfrm>
            <a:off x="6012180" y="2148840"/>
            <a:ext cx="914400" cy="274320"/>
          </a:xfrm>
          <a:prstGeom prst="rect">
            <a:avLst/>
          </a:prstGeom>
          <a:noFill/>
          <a:ln/>
        </p:spPr>
        <p:txBody>
          <a:bodyPr wrap="square" lIns="0" tIns="0" rIns="0" bIns="0" rtlCol="0" anchor="t"/>
          <a:lstStyle/>
          <a:p>
            <a:pPr indent="0" marL="0">
              <a:buNone/>
            </a:pPr>
            <a:r>
              <a:rPr lang="en-US" sz="1300" b="1" dirty="0">
                <a:solidFill>
                  <a:srgbClr val="2FD4A0"/>
                </a:solidFill>
              </a:rPr>
              <a:t>02</a:t>
            </a:r>
            <a:endParaRPr lang="en-US" sz="1300" dirty="0"/>
          </a:p>
        </p:txBody>
      </p:sp>
      <p:sp>
        <p:nvSpPr>
          <p:cNvPr id="14" name="Card title"/>
          <p:cNvSpPr txBox="1"/>
          <p:nvPr/>
        </p:nvSpPr>
        <p:spPr>
          <a:xfrm>
            <a:off x="601218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Is this course real?</a:t>
            </a:r>
            <a:endParaRPr lang="en-US" sz="1500" dirty="0"/>
          </a:p>
        </p:txBody>
      </p:sp>
      <p:sp>
        <p:nvSpPr>
          <p:cNvPr id="15" name="Card text"/>
          <p:cNvSpPr txBox="1"/>
          <p:nvPr/>
        </p:nvSpPr>
        <p:spPr>
          <a:xfrm>
            <a:off x="601218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30 real course listings with price and hours. Jobs come from the EU’s official list; wages are Malaysian government figures from DOSM. When no course exists, the app says “no course listed yet” instead of making one up.</a:t>
            </a:r>
            <a:endParaRPr lang="en-US" sz="1200" dirty="0"/>
          </a:p>
        </p:txBody>
      </p:sp>
      <p:sp>
        <p:nvSpPr>
          <p:cNvPr id="16" name="Card footer"/>
          <p:cNvSpPr txBox="1"/>
          <p:nvPr/>
        </p:nvSpPr>
        <p:spPr>
          <a:xfrm>
            <a:off x="6012180" y="5074920"/>
            <a:ext cx="2359152" cy="365760"/>
          </a:xfrm>
          <a:prstGeom prst="rect">
            <a:avLst/>
          </a:prstGeom>
          <a:noFill/>
          <a:ln/>
        </p:spPr>
        <p:txBody>
          <a:bodyPr wrap="square" lIns="0" tIns="0" rIns="0" bIns="0" rtlCol="0" anchor="t"/>
          <a:lstStyle/>
          <a:p>
            <a:pPr indent="0" marL="0">
              <a:buNone/>
            </a:pPr>
            <a:r>
              <a:rPr lang="en-US" sz="1050" dirty="0">
                <a:solidFill>
                  <a:srgbClr val="2FD4A0"/>
                </a:solidFill>
              </a:rPr>
              <a:t>Click any step to open the listing</a:t>
            </a:r>
            <a:endParaRPr lang="en-US" sz="1050" dirty="0"/>
          </a:p>
        </p:txBody>
      </p:sp>
      <p:sp>
        <p:nvSpPr>
          <p:cNvPr id="17" name="Card: Why this score, and what would raise it?"/>
          <p:cNvSpPr/>
          <p:nvPr/>
        </p:nvSpPr>
        <p:spPr>
          <a:xfrm>
            <a:off x="8823960" y="1920240"/>
            <a:ext cx="2816352" cy="3657600"/>
          </a:xfrm>
          <a:prstGeom prst="roundRect">
            <a:avLst>
              <a:gd name="adj" fmla="val 3896"/>
            </a:avLst>
          </a:prstGeom>
          <a:solidFill>
            <a:srgbClr val="0C1220">
              <a:alpha val="80000"/>
            </a:srgbClr>
          </a:solidFill>
          <a:ln w="9525">
            <a:solidFill>
              <a:srgbClr val="2A3346"/>
            </a:solidFill>
            <a:prstDash val="solid"/>
          </a:ln>
        </p:spPr>
        <p:txBody>
          <a:bodyPr/>
          <a:p/>
        </p:txBody>
      </p:sp>
      <p:sp>
        <p:nvSpPr>
          <p:cNvPr id="18" name="Card number"/>
          <p:cNvSpPr txBox="1"/>
          <p:nvPr/>
        </p:nvSpPr>
        <p:spPr>
          <a:xfrm>
            <a:off x="9052560" y="2148840"/>
            <a:ext cx="914400" cy="274320"/>
          </a:xfrm>
          <a:prstGeom prst="rect">
            <a:avLst/>
          </a:prstGeom>
          <a:noFill/>
          <a:ln/>
        </p:spPr>
        <p:txBody>
          <a:bodyPr wrap="square" lIns="0" tIns="0" rIns="0" bIns="0" rtlCol="0" anchor="t"/>
          <a:lstStyle/>
          <a:p>
            <a:pPr indent="0" marL="0">
              <a:buNone/>
            </a:pPr>
            <a:r>
              <a:rPr lang="en-US" sz="1300" b="1" dirty="0">
                <a:solidFill>
                  <a:srgbClr val="FF7A3D"/>
                </a:solidFill>
              </a:rPr>
              <a:t>03</a:t>
            </a:r>
            <a:endParaRPr lang="en-US" sz="1300" dirty="0"/>
          </a:p>
        </p:txBody>
      </p:sp>
      <p:sp>
        <p:nvSpPr>
          <p:cNvPr id="19" name="Card title"/>
          <p:cNvSpPr txBox="1"/>
          <p:nvPr/>
        </p:nvSpPr>
        <p:spPr>
          <a:xfrm>
            <a:off x="905256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Why this score, and what would raise it?</a:t>
            </a:r>
            <a:endParaRPr lang="en-US" sz="1500" dirty="0"/>
          </a:p>
        </p:txBody>
      </p:sp>
      <p:sp>
        <p:nvSpPr>
          <p:cNvPr id="20" name="Card text"/>
          <p:cNvSpPr txBox="1"/>
          <p:nvPr/>
        </p:nvSpPr>
        <p:spPr>
          <a:xfrm>
            <a:off x="905256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The breakdown lists each skill the job needs, how much employers want it, and your level. Confirm a skill or finish a step, and the number updates in front of you.</a:t>
            </a:r>
            <a:endParaRPr lang="en-US" sz="1200" dirty="0"/>
          </a:p>
        </p:txBody>
      </p:sp>
      <p:sp>
        <p:nvSpPr>
          <p:cNvPr id="21" name="Card footer"/>
          <p:cNvSpPr txBox="1"/>
          <p:nvPr/>
        </p:nvSpPr>
        <p:spPr>
          <a:xfrm>
            <a:off x="9052560" y="5074920"/>
            <a:ext cx="2359152" cy="365760"/>
          </a:xfrm>
          <a:prstGeom prst="rect">
            <a:avLst/>
          </a:prstGeom>
          <a:noFill/>
          <a:ln/>
        </p:spPr>
        <p:txBody>
          <a:bodyPr wrap="square" lIns="0" tIns="0" rIns="0" bIns="0" rtlCol="0" anchor="t"/>
          <a:lstStyle/>
          <a:p>
            <a:pPr indent="0" marL="0">
              <a:buNone/>
            </a:pPr>
            <a:r>
              <a:rPr lang="en-US" sz="1050" dirty="0">
                <a:solidFill>
                  <a:srgbClr val="FF7A3D"/>
                </a:solidFill>
              </a:rPr>
              <a:t>A fixed formula. No AI in the loop.</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A4</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A4</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what we say openly</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What this prototype cannot do yet.</a:t>
            </a:r>
            <a:endParaRPr lang="en-US" sz="3200" dirty="0"/>
          </a:p>
        </p:txBody>
      </p:sp>
      <p:sp>
        <p:nvSpPr>
          <p:cNvPr id="6" name="Card: Sample data in places"/>
          <p:cNvSpPr/>
          <p:nvPr/>
        </p:nvSpPr>
        <p:spPr>
          <a:xfrm>
            <a:off x="2743200" y="1691640"/>
            <a:ext cx="2816352" cy="2651760"/>
          </a:xfrm>
          <a:prstGeom prst="roundRect">
            <a:avLst>
              <a:gd name="adj" fmla="val 4138"/>
            </a:avLst>
          </a:prstGeom>
          <a:solidFill>
            <a:srgbClr val="0C1220">
              <a:alpha val="80000"/>
            </a:srgbClr>
          </a:solidFill>
          <a:ln w="9525">
            <a:solidFill>
              <a:srgbClr val="2A3346"/>
            </a:solidFill>
            <a:prstDash val="solid"/>
          </a:ln>
        </p:spPr>
        <p:txBody>
          <a:bodyPr/>
          <a:p/>
        </p:txBody>
      </p:sp>
      <p:sp>
        <p:nvSpPr>
          <p:cNvPr id="7" name="Card title"/>
          <p:cNvSpPr txBox="1"/>
          <p:nvPr/>
        </p:nvSpPr>
        <p:spPr>
          <a:xfrm>
            <a:off x="2971800" y="1965960"/>
            <a:ext cx="2359152" cy="594360"/>
          </a:xfrm>
          <a:prstGeom prst="rect">
            <a:avLst/>
          </a:prstGeom>
          <a:noFill/>
          <a:ln/>
        </p:spPr>
        <p:txBody>
          <a:bodyPr wrap="square" lIns="0" tIns="0" rIns="0" bIns="0" rtlCol="0" anchor="t"/>
          <a:lstStyle/>
          <a:p>
            <a:pPr indent="0" marL="0">
              <a:buNone/>
            </a:pPr>
            <a:r>
              <a:rPr lang="en-US" sz="1500" b="1" dirty="0">
                <a:solidFill>
                  <a:schemeClr val="tx1"/>
                </a:solidFill>
              </a:rPr>
              <a:t>Sample data in places</a:t>
            </a:r>
            <a:endParaRPr lang="en-US" sz="1500" dirty="0"/>
          </a:p>
        </p:txBody>
      </p:sp>
      <p:sp>
        <p:nvSpPr>
          <p:cNvPr id="8" name="Card text"/>
          <p:cNvSpPr txBox="1"/>
          <p:nvPr/>
        </p:nvSpPr>
        <p:spPr>
          <a:xfrm>
            <a:off x="2971800" y="2606040"/>
            <a:ext cx="2359152" cy="2103120"/>
          </a:xfrm>
          <a:prstGeom prst="rect">
            <a:avLst/>
          </a:prstGeom>
          <a:noFill/>
          <a:ln/>
        </p:spPr>
        <p:txBody>
          <a:bodyPr wrap="square" lIns="0" tIns="0" rIns="0" bIns="0" rtlCol="0" anchor="t"/>
          <a:lstStyle/>
          <a:p>
            <a:pPr indent="0" marL="0">
              <a:buNone/>
            </a:pPr>
            <a:r>
              <a:rPr lang="en-US" sz="1200" dirty="0">
                <a:solidFill>
                  <a:schemeClr val="tx2"/>
                </a:solidFill>
              </a:rPr>
              <a:t>The 16-job catalogue in the demo uses labelled sample data. “Check any job” uses the real official list. Most study times are estimates, and our task evidence comes from US data.</a:t>
            </a:r>
            <a:endParaRPr lang="en-US" sz="1200" dirty="0"/>
          </a:p>
        </p:txBody>
      </p:sp>
      <p:sp>
        <p:nvSpPr>
          <p:cNvPr id="9" name="Card: Matching is still rough"/>
          <p:cNvSpPr/>
          <p:nvPr/>
        </p:nvSpPr>
        <p:spPr>
          <a:xfrm>
            <a:off x="5783580" y="1691640"/>
            <a:ext cx="2816352" cy="2651760"/>
          </a:xfrm>
          <a:prstGeom prst="roundRect">
            <a:avLst>
              <a:gd name="adj" fmla="val 4138"/>
            </a:avLst>
          </a:prstGeom>
          <a:solidFill>
            <a:srgbClr val="0C1220">
              <a:alpha val="80000"/>
            </a:srgbClr>
          </a:solidFill>
          <a:ln w="9525">
            <a:solidFill>
              <a:srgbClr val="2A3346"/>
            </a:solidFill>
            <a:prstDash val="solid"/>
          </a:ln>
        </p:spPr>
        <p:txBody>
          <a:bodyPr/>
          <a:p/>
        </p:txBody>
      </p:sp>
      <p:sp>
        <p:nvSpPr>
          <p:cNvPr id="10" name="Card title"/>
          <p:cNvSpPr txBox="1"/>
          <p:nvPr/>
        </p:nvSpPr>
        <p:spPr>
          <a:xfrm>
            <a:off x="6012180" y="1965960"/>
            <a:ext cx="2359152" cy="594360"/>
          </a:xfrm>
          <a:prstGeom prst="rect">
            <a:avLst/>
          </a:prstGeom>
          <a:noFill/>
          <a:ln/>
        </p:spPr>
        <p:txBody>
          <a:bodyPr wrap="square" lIns="0" tIns="0" rIns="0" bIns="0" rtlCol="0" anchor="t"/>
          <a:lstStyle/>
          <a:p>
            <a:pPr indent="0" marL="0">
              <a:buNone/>
            </a:pPr>
            <a:r>
              <a:rPr lang="en-US" sz="1500" b="1" dirty="0">
                <a:solidFill>
                  <a:schemeClr val="tx1"/>
                </a:solidFill>
              </a:rPr>
              <a:t>Matching is still rough</a:t>
            </a:r>
            <a:endParaRPr lang="en-US" sz="1500" dirty="0"/>
          </a:p>
        </p:txBody>
      </p:sp>
      <p:sp>
        <p:nvSpPr>
          <p:cNvPr id="11" name="Card text"/>
          <p:cNvSpPr txBox="1"/>
          <p:nvPr/>
        </p:nvSpPr>
        <p:spPr>
          <a:xfrm>
            <a:off x="6012180" y="2606040"/>
            <a:ext cx="2359152" cy="2103120"/>
          </a:xfrm>
          <a:prstGeom prst="rect">
            <a:avLst/>
          </a:prstGeom>
          <a:noFill/>
          <a:ln/>
        </p:spPr>
        <p:txBody>
          <a:bodyPr wrap="square" lIns="0" tIns="0" rIns="0" bIns="0" rtlCol="0" anchor="t"/>
          <a:lstStyle/>
          <a:p>
            <a:pPr indent="0" marL="0">
              <a:buNone/>
            </a:pPr>
            <a:r>
              <a:rPr lang="en-US" sz="1200" dirty="0">
                <a:solidFill>
                  <a:schemeClr val="tx2"/>
                </a:solidFill>
              </a:rPr>
              <a:t>A nurse matches her own job at only about 30%, because the official list has about 60 skills per job and a CV names about 16. The questions reach about 70% accuracy for trade jobs.</a:t>
            </a:r>
            <a:endParaRPr lang="en-US" sz="1200" dirty="0"/>
          </a:p>
        </p:txBody>
      </p:sp>
      <p:sp>
        <p:nvSpPr>
          <p:cNvPr id="12" name="Card: Tests still to run"/>
          <p:cNvSpPr/>
          <p:nvPr/>
        </p:nvSpPr>
        <p:spPr>
          <a:xfrm>
            <a:off x="8823960" y="1691640"/>
            <a:ext cx="2816352" cy="2651760"/>
          </a:xfrm>
          <a:prstGeom prst="roundRect">
            <a:avLst>
              <a:gd name="adj" fmla="val 4138"/>
            </a:avLst>
          </a:prstGeom>
          <a:solidFill>
            <a:srgbClr val="0C1220">
              <a:alpha val="80000"/>
            </a:srgbClr>
          </a:solidFill>
          <a:ln w="9525">
            <a:solidFill>
              <a:srgbClr val="2A3346"/>
            </a:solidFill>
            <a:prstDash val="solid"/>
          </a:ln>
        </p:spPr>
        <p:txBody>
          <a:bodyPr/>
          <a:p/>
        </p:txBody>
      </p:sp>
      <p:sp>
        <p:nvSpPr>
          <p:cNvPr id="13" name="Card title"/>
          <p:cNvSpPr txBox="1"/>
          <p:nvPr/>
        </p:nvSpPr>
        <p:spPr>
          <a:xfrm>
            <a:off x="9052560" y="1965960"/>
            <a:ext cx="2359152" cy="594360"/>
          </a:xfrm>
          <a:prstGeom prst="rect">
            <a:avLst/>
          </a:prstGeom>
          <a:noFill/>
          <a:ln/>
        </p:spPr>
        <p:txBody>
          <a:bodyPr wrap="square" lIns="0" tIns="0" rIns="0" bIns="0" rtlCol="0" anchor="t"/>
          <a:lstStyle/>
          <a:p>
            <a:pPr indent="0" marL="0">
              <a:buNone/>
            </a:pPr>
            <a:r>
              <a:rPr lang="en-US" sz="1500" b="1" dirty="0">
                <a:solidFill>
                  <a:schemeClr val="tx1"/>
                </a:solidFill>
              </a:rPr>
              <a:t>Tests still to run</a:t>
            </a:r>
            <a:endParaRPr lang="en-US" sz="1500" dirty="0"/>
          </a:p>
        </p:txBody>
      </p:sp>
      <p:sp>
        <p:nvSpPr>
          <p:cNvPr id="14" name="Card text"/>
          <p:cNvSpPr txBox="1"/>
          <p:nvPr/>
        </p:nvSpPr>
        <p:spPr>
          <a:xfrm>
            <a:off x="9052560" y="2606040"/>
            <a:ext cx="2359152" cy="2103120"/>
          </a:xfrm>
          <a:prstGeom prst="rect">
            <a:avLst/>
          </a:prstGeom>
          <a:noFill/>
          <a:ln/>
        </p:spPr>
        <p:txBody>
          <a:bodyPr wrap="square" lIns="0" tIns="0" rIns="0" bIns="0" rtlCol="0" anchor="t"/>
          <a:lstStyle/>
          <a:p>
            <a:pPr indent="0" marL="0">
              <a:buNone/>
            </a:pPr>
            <a:r>
              <a:rPr lang="en-US" sz="1200" dirty="0">
                <a:solidFill>
                  <a:schemeClr val="tx2"/>
                </a:solidFill>
              </a:rPr>
              <a:t>We have not yet tested clues such as school name or graduation year. The 1,000 futures test a plan; they do not predict any one person’s future.</a:t>
            </a:r>
            <a:endParaRPr lang="en-US" sz="1200" dirty="0"/>
          </a:p>
        </p:txBody>
      </p:sp>
    </p:spTree>
  </p:cSld>
  <p:clrMapOvr>
    <a:masterClrMapping/>
  </p:clrMapOvr>
</p:sld>
</file>

<file path=ppt/theme/theme1.xml><?xml version="1.0" encoding="utf-8"?>
<a:theme xmlns:a="http://schemas.openxmlformats.org/drawingml/2006/main" name="HalaTuju Night">
  <a:themeElements>
    <a:clrScheme name="HalaTuju Night">
      <a:dk1>
        <a:srgbClr val="EEF2F8"/>
      </a:dk1>
      <a:lt1>
        <a:srgbClr val="05070D"/>
      </a:lt1>
      <a:dk2>
        <a:srgbClr val="D6DDED"/>
      </a:dk2>
      <a:lt2>
        <a:srgbClr val="AAB5C9"/>
      </a:lt2>
      <a:accent1>
        <a:srgbClr val="FF7A3D"/>
      </a:accent1>
      <a:accent2>
        <a:srgbClr val="5AA0F0"/>
      </a:accent2>
      <a:accent3>
        <a:srgbClr val="A98BFF"/>
      </a:accent3>
      <a:accent4>
        <a:srgbClr val="2FD4A0"/>
      </a:accent4>
      <a:accent5>
        <a:srgbClr val="F2B33D"/>
      </a:accent5>
      <a:accent6>
        <a:srgbClr val="FF8F8F"/>
      </a:accent6>
      <a:hlink>
        <a:srgbClr val="FF9A5C"/>
      </a:hlink>
      <a:folHlink>
        <a:srgbClr val="FF9A5C"/>
      </a:folHlink>
    </a:clrScheme>
    <a:fontScheme name="HalaTuju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Team Dsaise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HalaTuju: A career GPS for the AI era</dc:title>
  <dc:subject>PptxGenJS Presentation</dc:subject>
  <dc:creator>Team Dsaise, Universiti Malaya</dc:creator>
  <cp:lastModifiedBy>Team Dsaise, Universiti Malaya</cp:lastModifiedBy>
  <cp:revision>1</cp:revision>
  <dcterms:created xsi:type="dcterms:W3CDTF">2026-10-31T15:13:54Z</dcterms:created>
  <dcterms:modified xsi:type="dcterms:W3CDTF">2026-10-31T15:13:54Z</dcterms:modified>
</cp:coreProperties>
</file>